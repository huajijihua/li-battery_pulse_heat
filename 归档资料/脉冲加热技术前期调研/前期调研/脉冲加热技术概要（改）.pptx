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55" r:id="rId3"/>
  </p:sldIdLst>
  <p:sldSz cx="12192000" cy="6858000"/>
  <p:notesSz cx="6797675" cy="992632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吴俊樑" initials="吴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A8C"/>
    <a:srgbClr val="00B050"/>
    <a:srgbClr val="FF374A"/>
    <a:srgbClr val="4964E4"/>
    <a:srgbClr val="84EB7A"/>
    <a:srgbClr val="B10011"/>
    <a:srgbClr val="F5B482"/>
    <a:srgbClr val="66FF66"/>
    <a:srgbClr val="A7A9AC"/>
    <a:srgbClr val="0F29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21" autoAdjust="0"/>
    <p:restoredTop sz="82896" autoAdjust="0"/>
  </p:normalViewPr>
  <p:slideViewPr>
    <p:cSldViewPr snapToObjects="1">
      <p:cViewPr varScale="1">
        <p:scale>
          <a:sx n="109" d="100"/>
          <a:sy n="109" d="100"/>
        </p:scale>
        <p:origin x="456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3365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一、脉冲加热</a:t>
            </a:r>
            <a:r>
              <a:rPr lang="zh-CN" altLang="en-US" dirty="0">
                <a:solidFill>
                  <a:schemeClr val="accent1"/>
                </a:solidFill>
                <a:latin typeface="+mj-lt"/>
                <a:sym typeface="+mn-ea"/>
              </a:rPr>
              <a:t>技术概要（</a:t>
            </a:r>
            <a:r>
              <a:rPr lang="zh-CN" altLang="en-US" dirty="0">
                <a:solidFill>
                  <a:schemeClr val="accent1"/>
                </a:solidFill>
                <a:latin typeface="+mj-lt"/>
                <a:sym typeface="+mn-ea"/>
              </a:rPr>
              <a:t>改）</a:t>
            </a:r>
            <a:endParaRPr lang="zh-CN" altLang="en-US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425" y="908685"/>
            <a:ext cx="11242675" cy="95631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可行性分析：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可不增加零部件，仅</a:t>
            </a:r>
            <a:r>
              <a:rPr lang="zh-CN" altLang="en-US" sz="1400" dirty="0">
                <a:solidFill>
                  <a:srgbClr val="C00000"/>
                </a:solidFill>
                <a:latin typeface="+mj-lt"/>
              </a:rPr>
              <a:t>复用车辆电驱系统组件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和</a:t>
            </a:r>
            <a:r>
              <a:rPr lang="zh-CN" altLang="en-US" sz="1400" dirty="0">
                <a:solidFill>
                  <a:srgbClr val="C00000"/>
                </a:solidFill>
                <a:latin typeface="+mj-lt"/>
              </a:rPr>
              <a:t>升级软件控制策略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，已在比亚迪等主流车企的乘用车型上验证应用。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技术目标：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加热速率</a:t>
            </a:r>
            <a:r>
              <a:rPr lang="en-US" altLang="zh-CN" sz="1400" dirty="0" err="1">
                <a:solidFill>
                  <a:srgbClr val="C00000"/>
                </a:solidFill>
                <a:latin typeface="+mj-lt"/>
              </a:rPr>
              <a:t>&gt;1℃/min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，等待时间</a:t>
            </a:r>
            <a:r>
              <a:rPr lang="zh-CN" altLang="en-US" sz="1400" dirty="0">
                <a:solidFill>
                  <a:srgbClr val="C00000"/>
                </a:solidFill>
                <a:latin typeface="+mj-lt"/>
              </a:rPr>
              <a:t>减少</a:t>
            </a:r>
            <a:r>
              <a:rPr lang="en-US" altLang="zh-CN" sz="1400" dirty="0" err="1">
                <a:solidFill>
                  <a:srgbClr val="C00000"/>
                </a:solidFill>
                <a:latin typeface="+mj-lt"/>
              </a:rPr>
              <a:t>30%</a:t>
            </a:r>
            <a:r>
              <a:rPr lang="zh-CN" altLang="en-US" sz="1400" dirty="0" err="1">
                <a:solidFill>
                  <a:schemeClr val="accent1"/>
                </a:solidFill>
                <a:latin typeface="+mj-lt"/>
              </a:rPr>
              <a:t>以上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，省电</a:t>
            </a:r>
            <a:r>
              <a:rPr lang="en-US" altLang="zh-CN" sz="1400" dirty="0" err="1">
                <a:solidFill>
                  <a:srgbClr val="C00000"/>
                </a:solidFill>
                <a:latin typeface="+mj-lt"/>
              </a:rPr>
              <a:t>1.1</a:t>
            </a:r>
            <a:r>
              <a:rPr lang="zh-CN" altLang="en-US" sz="1400" dirty="0">
                <a:solidFill>
                  <a:srgbClr val="C00000"/>
                </a:solidFill>
                <a:latin typeface="+mj-lt"/>
              </a:rPr>
              <a:t>度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  <a:sym typeface="+mn-ea"/>
              </a:rPr>
              <a:t>以上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。打造整车在低温场景下的</a:t>
            </a:r>
            <a:r>
              <a:rPr lang="zh-CN" altLang="en-US" sz="1400" dirty="0">
                <a:solidFill>
                  <a:srgbClr val="C00000"/>
                </a:solidFill>
                <a:latin typeface="+mj-lt"/>
              </a:rPr>
              <a:t>节能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和</a:t>
            </a:r>
            <a:r>
              <a:rPr lang="zh-CN" altLang="en-US" sz="1400" dirty="0">
                <a:solidFill>
                  <a:srgbClr val="C00000"/>
                </a:solidFill>
                <a:latin typeface="+mj-lt"/>
              </a:rPr>
              <a:t>高品质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</a:rPr>
              <a:t>竞争力。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风险评估：</a:t>
            </a:r>
            <a:r>
              <a:rPr lang="zh-CN" altLang="en-US" sz="1400" dirty="0">
                <a:solidFill>
                  <a:srgbClr val="C00000"/>
                </a:solidFill>
                <a:latin typeface="+mj-lt"/>
                <a:sym typeface="+mn-ea"/>
              </a:rPr>
              <a:t>不合理的脉冲方案</a:t>
            </a:r>
            <a:r>
              <a:rPr lang="zh-CN" altLang="en-US" sz="1400" dirty="0">
                <a:solidFill>
                  <a:schemeClr val="accent1"/>
                </a:solidFill>
                <a:latin typeface="+mj-lt"/>
                <a:sym typeface="+mn-ea"/>
              </a:rPr>
              <a:t>可能导致电池性能衰退、电机噪音与机械损伤，需使用车辆实装的电芯、电池包、电机开展测试。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468629" y="2465070"/>
          <a:ext cx="3681095" cy="1927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875"/>
                <a:gridCol w="1296144"/>
                <a:gridCol w="1222076"/>
              </a:tblGrid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/>
                        <a:t>加热方式</a:t>
                      </a:r>
                      <a:endParaRPr lang="zh-CN" altLang="en-US" sz="11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/>
                        <a:t>解放传统</a:t>
                      </a:r>
                      <a:r>
                        <a:rPr lang="en-US" altLang="zh-CN" sz="1100" dirty="0"/>
                        <a:t>PTC*</a:t>
                      </a:r>
                      <a:endParaRPr lang="en-US" altLang="zh-CN" sz="11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/>
                        <a:t>脉冲加热预估</a:t>
                      </a:r>
                      <a:r>
                        <a:rPr lang="en-US" altLang="zh-CN" sz="1100" dirty="0"/>
                        <a:t>**</a:t>
                      </a:r>
                      <a:endParaRPr lang="en-US" altLang="zh-CN" sz="11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dirty="0"/>
                        <a:t>温升速率</a:t>
                      </a:r>
                      <a:r>
                        <a:rPr lang="en-US" altLang="zh-CN" sz="1000" dirty="0"/>
                        <a:t>(℃/min)</a:t>
                      </a:r>
                      <a:endParaRPr lang="en-US" altLang="zh-CN" sz="10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dirty="0"/>
                        <a:t>0.46</a:t>
                      </a:r>
                      <a:endParaRPr lang="en-US" altLang="zh-CN" sz="105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rgbClr val="FF0000"/>
                          </a:solidFill>
                        </a:rPr>
                        <a:t>0.7~1.1</a:t>
                      </a:r>
                      <a:endParaRPr lang="en-US" altLang="zh-CN" sz="105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dirty="0"/>
                        <a:t>加热时长</a:t>
                      </a:r>
                      <a:endParaRPr lang="en-US" altLang="zh-CN" sz="10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aseline="0" dirty="0"/>
                        <a:t>46min</a:t>
                      </a:r>
                      <a:endParaRPr lang="en-US" altLang="zh-CN" sz="105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1"/>
                          </a:solidFill>
                        </a:rPr>
                        <a:t>&lt;30min</a:t>
                      </a:r>
                      <a:endParaRPr lang="en-US" altLang="zh-CN" sz="105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dirty="0"/>
                        <a:t>电量损失</a:t>
                      </a:r>
                      <a:endParaRPr lang="zh-CN" altLang="en-US" sz="10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dirty="0"/>
                        <a:t>17.9kWh</a:t>
                      </a:r>
                      <a:r>
                        <a:rPr lang="zh-CN" altLang="en-US" sz="1050" dirty="0"/>
                        <a:t>（</a:t>
                      </a:r>
                      <a:r>
                        <a:rPr lang="en-US" altLang="zh-CN" sz="1050" dirty="0"/>
                        <a:t>5.1%</a:t>
                      </a:r>
                      <a:r>
                        <a:rPr lang="zh-CN" altLang="en-US" sz="1050" dirty="0"/>
                        <a:t>）</a:t>
                      </a:r>
                      <a:endParaRPr lang="zh-CN" altLang="en-US" sz="105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1"/>
                          </a:solidFill>
                        </a:rPr>
                        <a:t>14kWh(4.0%)</a:t>
                      </a:r>
                      <a:endParaRPr lang="en-US" altLang="zh-CN" sz="105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dirty="0"/>
                        <a:t>转换效率</a:t>
                      </a:r>
                      <a:endParaRPr lang="zh-CN" altLang="en-US" sz="10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/>
                        <a:t>46%~53%</a:t>
                      </a:r>
                      <a:endParaRPr lang="en-US" altLang="zh-CN" sz="105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rgbClr val="FF0000"/>
                          </a:solidFill>
                          <a:sym typeface="+mn-ea"/>
                        </a:rPr>
                        <a:t>58%~63%</a:t>
                      </a:r>
                      <a:endParaRPr lang="en-US" altLang="zh-CN" sz="1050" b="1" dirty="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dirty="0"/>
                        <a:t>电池包内部温差</a:t>
                      </a:r>
                      <a:endParaRPr lang="zh-CN" altLang="en-US" sz="10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/>
                        <a:t>&gt;10℃</a:t>
                      </a:r>
                      <a:endParaRPr lang="en-US" altLang="zh-CN" sz="105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1"/>
                          </a:solidFill>
                        </a:rPr>
                        <a:t>&lt;5℃</a:t>
                      </a:r>
                      <a:endParaRPr lang="en-US" altLang="zh-CN" sz="105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1386204" y="1825943"/>
            <a:ext cx="1741805" cy="22606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200" b="1" dirty="0">
                <a:solidFill>
                  <a:srgbClr val="152A8C"/>
                </a:solidFill>
              </a:rPr>
              <a:t>低温加热技术比较</a:t>
            </a:r>
            <a:endParaRPr lang="zh-CN" altLang="en-US" sz="1200" b="1" dirty="0">
              <a:solidFill>
                <a:srgbClr val="152A8C"/>
              </a:solidFill>
            </a:endParaRPr>
          </a:p>
        </p:txBody>
      </p:sp>
      <p:graphicFrame>
        <p:nvGraphicFramePr>
          <p:cNvPr id="40" name="表格 39"/>
          <p:cNvGraphicFramePr/>
          <p:nvPr>
            <p:custDataLst>
              <p:tags r:id="rId2"/>
            </p:custDataLst>
          </p:nvPr>
        </p:nvGraphicFramePr>
        <p:xfrm>
          <a:off x="4584031" y="2410529"/>
          <a:ext cx="337439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426"/>
                <a:gridCol w="1512168"/>
                <a:gridCol w="1040680"/>
              </a:tblGrid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/>
                        <a:t>价值特性</a:t>
                      </a:r>
                      <a:endParaRPr lang="zh-CN" altLang="en-US" sz="11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/>
                        <a:t>指标</a:t>
                      </a:r>
                      <a:endParaRPr lang="en-US" altLang="zh-CN" sz="11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 dirty="0"/>
                        <a:t>26</a:t>
                      </a:r>
                      <a:r>
                        <a:rPr lang="zh-CN" altLang="en-US" sz="1100" dirty="0"/>
                        <a:t>年</a:t>
                      </a:r>
                      <a:endParaRPr lang="en-US" altLang="zh-CN" sz="1100" dirty="0"/>
                    </a:p>
                    <a:p>
                      <a:pPr algn="ctr">
                        <a:buNone/>
                      </a:pPr>
                      <a:r>
                        <a:rPr lang="zh-CN" altLang="en-US" sz="1100" dirty="0"/>
                        <a:t>达成方式</a:t>
                      </a:r>
                      <a:endParaRPr lang="zh-CN" altLang="en-US" sz="11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低成本</a:t>
                      </a:r>
                      <a:endParaRPr lang="en-US" altLang="zh-C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——</a:t>
                      </a:r>
                      <a:endParaRPr lang="en-US" altLang="zh-C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现有电机控制器实现</a:t>
                      </a:r>
                      <a:endParaRPr lang="en-US" altLang="zh-C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低能耗</a:t>
                      </a:r>
                      <a:endParaRPr lang="en-US" altLang="zh-C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加热电耗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度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百度电（降低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1.1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度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以上）</a:t>
                      </a:r>
                      <a:endParaRPr lang="en-US" altLang="zh-C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试验</a:t>
                      </a:r>
                      <a:endParaRPr lang="en-US" altLang="zh-C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高品质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低温加热速率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℃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/min</a:t>
                      </a:r>
                      <a:endParaRPr lang="en-US" altLang="zh-CN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（提高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1.2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倍）</a:t>
                      </a:r>
                      <a:endParaRPr lang="en-US" altLang="zh-C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试验</a:t>
                      </a:r>
                      <a:endParaRPr lang="en-US" altLang="zh-C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3" name="文本框 42"/>
          <p:cNvSpPr txBox="1"/>
          <p:nvPr/>
        </p:nvSpPr>
        <p:spPr>
          <a:xfrm>
            <a:off x="9360501" y="1820932"/>
            <a:ext cx="1741805" cy="22606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200" b="1" dirty="0">
                <a:solidFill>
                  <a:srgbClr val="152A8C"/>
                </a:solidFill>
              </a:rPr>
              <a:t>工作目标</a:t>
            </a:r>
            <a:endParaRPr lang="zh-CN" altLang="en-US" sz="1200" b="1" dirty="0">
              <a:solidFill>
                <a:srgbClr val="152A8C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6255" y="4220845"/>
            <a:ext cx="3633470" cy="62992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spcBef>
                <a:spcPts val="600"/>
              </a:spcBef>
            </a:pPr>
            <a:r>
              <a:rPr lang="en-US" altLang="zh-CN" sz="1000" dirty="0" err="1" smtClean="0">
                <a:solidFill>
                  <a:schemeClr val="accent1"/>
                </a:solidFill>
                <a:latin typeface="+mj-lt"/>
              </a:rPr>
              <a:t>*</a:t>
            </a:r>
            <a:r>
              <a:rPr lang="zh-CN" altLang="en-US" sz="1000" dirty="0" err="1" smtClean="0">
                <a:solidFill>
                  <a:schemeClr val="accent1"/>
                </a:solidFill>
                <a:latin typeface="+mj-lt"/>
              </a:rPr>
              <a:t>数据来自解放新能源车寒区行车</a:t>
            </a:r>
            <a:r>
              <a:rPr lang="zh-CN" altLang="en-US" sz="1000" dirty="0" err="1" smtClean="0">
                <a:solidFill>
                  <a:schemeClr val="accent1"/>
                </a:solidFill>
                <a:latin typeface="+mj-lt"/>
              </a:rPr>
              <a:t>试验，车辆总电量</a:t>
            </a:r>
            <a:r>
              <a:rPr lang="en-US" altLang="zh-CN" sz="1000" dirty="0" err="1" smtClean="0">
                <a:solidFill>
                  <a:schemeClr val="accent1"/>
                </a:solidFill>
                <a:latin typeface="+mj-lt"/>
              </a:rPr>
              <a:t>352</a:t>
            </a:r>
            <a:r>
              <a:rPr lang="en-US" altLang="zh-CN" sz="1000" dirty="0" err="1" smtClean="0">
                <a:solidFill>
                  <a:schemeClr val="accent1"/>
                </a:solidFill>
                <a:latin typeface="+mj-lt"/>
              </a:rPr>
              <a:t>kWh</a:t>
            </a:r>
            <a:r>
              <a:rPr lang="zh-CN" altLang="en-US" sz="1000" dirty="0" err="1" smtClean="0">
                <a:solidFill>
                  <a:schemeClr val="accent1"/>
                </a:solidFill>
                <a:latin typeface="+mj-lt"/>
              </a:rPr>
              <a:t>；</a:t>
            </a:r>
            <a:endParaRPr lang="zh-CN" altLang="en-US" sz="1000" dirty="0" err="1" smtClean="0">
              <a:solidFill>
                <a:schemeClr val="accent1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zh-CN" altLang="en-US" sz="1000" dirty="0" err="1" smtClean="0">
                <a:solidFill>
                  <a:schemeClr val="accent1"/>
                </a:solidFill>
                <a:latin typeface="+mj-lt"/>
              </a:rPr>
              <a:t>环境温度</a:t>
            </a:r>
            <a:r>
              <a:rPr lang="en-US" altLang="zh-CN" sz="1000" dirty="0" err="1" smtClean="0">
                <a:solidFill>
                  <a:schemeClr val="accent1"/>
                </a:solidFill>
                <a:latin typeface="+mj-lt"/>
              </a:rPr>
              <a:t>-24℃</a:t>
            </a:r>
            <a:r>
              <a:rPr lang="zh-CN" altLang="en-US" sz="1000" dirty="0" err="1" smtClean="0">
                <a:solidFill>
                  <a:schemeClr val="accent1"/>
                </a:solidFill>
                <a:latin typeface="+mj-lt"/>
              </a:rPr>
              <a:t>，初始温度</a:t>
            </a:r>
            <a:r>
              <a:rPr lang="en-US" altLang="zh-CN" sz="1000" dirty="0" err="1" smtClean="0">
                <a:solidFill>
                  <a:schemeClr val="accent1"/>
                </a:solidFill>
                <a:latin typeface="+mj-lt"/>
              </a:rPr>
              <a:t> -11</a:t>
            </a:r>
            <a:r>
              <a:rPr lang="en-US" altLang="zh-CN" sz="1000" dirty="0" err="1" smtClean="0">
                <a:solidFill>
                  <a:schemeClr val="accent1"/>
                </a:solidFill>
                <a:latin typeface="+mj-lt"/>
              </a:rPr>
              <a:t>℃</a:t>
            </a:r>
            <a:r>
              <a:rPr lang="zh-CN" altLang="en-US" sz="1000" dirty="0" err="1" smtClean="0">
                <a:solidFill>
                  <a:schemeClr val="accent1"/>
                </a:solidFill>
                <a:latin typeface="+mj-lt"/>
              </a:rPr>
              <a:t>，目标温度</a:t>
            </a:r>
            <a:r>
              <a:rPr lang="en-US" altLang="zh-CN" sz="1000" dirty="0" err="1" smtClean="0">
                <a:solidFill>
                  <a:schemeClr val="accent1"/>
                </a:solidFill>
                <a:latin typeface="+mj-lt"/>
              </a:rPr>
              <a:t>10℃</a:t>
            </a:r>
            <a:r>
              <a:rPr lang="zh-CN" altLang="en-US" sz="1000" dirty="0" err="1" smtClean="0">
                <a:solidFill>
                  <a:schemeClr val="accent1"/>
                </a:solidFill>
                <a:latin typeface="+mj-lt"/>
              </a:rPr>
              <a:t>。</a:t>
            </a:r>
            <a:endParaRPr lang="zh-CN" altLang="en-US" sz="1000" dirty="0" err="1" smtClean="0">
              <a:solidFill>
                <a:schemeClr val="accent1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en-US" altLang="zh-CN" sz="1000" dirty="0" err="1" smtClean="0">
                <a:solidFill>
                  <a:schemeClr val="accent1"/>
                </a:solidFill>
                <a:latin typeface="+mj-lt"/>
              </a:rPr>
              <a:t>**</a:t>
            </a:r>
            <a:r>
              <a:rPr lang="zh-CN" altLang="en-US" sz="1000" dirty="0" err="1" smtClean="0">
                <a:solidFill>
                  <a:schemeClr val="accent1"/>
                </a:solidFill>
                <a:latin typeface="+mj-lt"/>
              </a:rPr>
              <a:t>根据文献</a:t>
            </a:r>
            <a:r>
              <a:rPr lang="zh-CN" altLang="en-US" sz="1000" dirty="0" err="1" smtClean="0">
                <a:solidFill>
                  <a:schemeClr val="accent1"/>
                </a:solidFill>
                <a:latin typeface="+mj-lt"/>
              </a:rPr>
              <a:t>中实车测试数据</a:t>
            </a:r>
            <a:r>
              <a:rPr lang="zh-CN" altLang="en-US" sz="1000" dirty="0" err="1" smtClean="0">
                <a:solidFill>
                  <a:schemeClr val="accent1"/>
                </a:solidFill>
                <a:latin typeface="+mj-lt"/>
              </a:rPr>
              <a:t>推测</a:t>
            </a:r>
            <a:endParaRPr lang="zh-CN" altLang="en-US" sz="1000" dirty="0" err="1" smtClean="0">
              <a:solidFill>
                <a:schemeClr val="accent1"/>
              </a:solidFill>
              <a:latin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36*46"/>
  <p:tag name="TABLE_ENDDRAG_RECT" val="49*162*236*46"/>
</p:tagLst>
</file>

<file path=ppt/tags/tag2.xml><?xml version="1.0" encoding="utf-8"?>
<p:tagLst xmlns:p="http://schemas.openxmlformats.org/presentationml/2006/main">
  <p:tag name="TABLE_ENDDRAG_ORIGIN_RECT" val="236*46"/>
  <p:tag name="TABLE_ENDDRAG_RECT" val="49*162*236*46"/>
</p:tagLst>
</file>

<file path=ppt/theme/theme1.xml><?xml version="1.0" encoding="utf-8"?>
<a:theme xmlns:a="http://schemas.openxmlformats.org/drawingml/2006/main" name="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462</Words>
  <Application>WPS 演示</Application>
  <PresentationFormat>宽屏</PresentationFormat>
  <Paragraphs>76</Paragraphs>
  <Slides>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Wingdings</vt:lpstr>
      <vt:lpstr>Calibri</vt:lpstr>
      <vt:lpstr>Arial Unicode MS</vt:lpstr>
      <vt:lpstr>等线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一汽解放PPT模板</dc:title>
  <dc:creator>一汽解放</dc:creator>
  <cp:lastModifiedBy>WPS_1632448344</cp:lastModifiedBy>
  <cp:revision>588</cp:revision>
  <cp:lastPrinted>2023-05-19T05:02:00Z</cp:lastPrinted>
  <dcterms:created xsi:type="dcterms:W3CDTF">2015-12-28T03:19:00Z</dcterms:created>
  <dcterms:modified xsi:type="dcterms:W3CDTF">2025-12-18T10:38:20Z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6573ECE7A0864E2E8E2ED81120BF2C5C_13</vt:lpwstr>
  </property>
  <property fmtid="{D5CDD505-2E9C-101B-9397-08002B2CF9AE}" pid="3" name="KSOProductBuildVer">
    <vt:lpwstr>2052-12.1.0.24034</vt:lpwstr>
  </property>
</Properties>
</file>
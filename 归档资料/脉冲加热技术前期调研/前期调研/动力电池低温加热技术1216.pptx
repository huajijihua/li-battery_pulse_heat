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12" r:id="rId3"/>
    <p:sldId id="351" r:id="rId4"/>
    <p:sldId id="352" r:id="rId5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B10011"/>
    <a:srgbClr val="F5B482"/>
    <a:srgbClr val="66FF66"/>
    <a:srgbClr val="A7A9AC"/>
    <a:srgbClr val="0F298E"/>
    <a:srgbClr val="EEEEEE"/>
    <a:srgbClr val="7F7F7F"/>
    <a:srgbClr val="003B90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86" d="100"/>
          <a:sy n="86" d="100"/>
        </p:scale>
        <p:origin x="8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28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4" name="文本框 5"/>
          <p:cNvSpPr txBox="1"/>
          <p:nvPr>
            <p:custDataLst>
              <p:tags r:id="rId1"/>
            </p:custDataLst>
          </p:nvPr>
        </p:nvSpPr>
        <p:spPr>
          <a:xfrm>
            <a:off x="1703512" y="1196752"/>
            <a:ext cx="9649072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脉冲加热技术</a:t>
            </a:r>
            <a:r>
              <a:rPr lang="zh-CN" altLang="en-US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b="1">
              <a:solidFill>
                <a:srgbClr val="102A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4"/>
          <p:cNvSpPr txBox="1"/>
          <p:nvPr>
            <p:custDataLst>
              <p:tags r:id="rId2"/>
            </p:custDataLst>
          </p:nvPr>
        </p:nvSpPr>
        <p:spPr>
          <a:xfrm>
            <a:off x="982788" y="1196752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5"/>
          <p:cNvSpPr txBox="1"/>
          <p:nvPr>
            <p:custDataLst>
              <p:tags r:id="rId3"/>
            </p:custDataLst>
          </p:nvPr>
        </p:nvSpPr>
        <p:spPr>
          <a:xfrm>
            <a:off x="1704340" y="1900555"/>
            <a:ext cx="9648190" cy="488315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脉冲加热技术</a:t>
            </a:r>
            <a:r>
              <a:rPr lang="zh-CN" altLang="en-US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</a:t>
            </a:r>
            <a:endParaRPr lang="zh-CN" altLang="en-US" b="1">
              <a:solidFill>
                <a:srgbClr val="102A8D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4"/>
          <p:cNvSpPr txBox="1"/>
          <p:nvPr>
            <p:custDataLst>
              <p:tags r:id="rId4"/>
            </p:custDataLst>
          </p:nvPr>
        </p:nvSpPr>
        <p:spPr>
          <a:xfrm>
            <a:off x="983557" y="1900532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5"/>
          <p:cNvSpPr txBox="1"/>
          <p:nvPr>
            <p:custDataLst>
              <p:tags r:id="rId5"/>
            </p:custDataLst>
          </p:nvPr>
        </p:nvSpPr>
        <p:spPr>
          <a:xfrm>
            <a:off x="1711921" y="2599776"/>
            <a:ext cx="9648303" cy="488176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技术开发</a:t>
            </a: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b="1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4"/>
          <p:cNvSpPr txBox="1"/>
          <p:nvPr>
            <p:custDataLst>
              <p:tags r:id="rId6"/>
            </p:custDataLst>
          </p:nvPr>
        </p:nvSpPr>
        <p:spPr>
          <a:xfrm>
            <a:off x="991197" y="2599776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5"/>
          <p:cNvSpPr txBox="1"/>
          <p:nvPr>
            <p:custDataLst>
              <p:tags r:id="rId7"/>
            </p:custDataLst>
          </p:nvPr>
        </p:nvSpPr>
        <p:spPr>
          <a:xfrm>
            <a:off x="1703666" y="3285576"/>
            <a:ext cx="9648303" cy="488176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资源需求和</a:t>
            </a: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成本估计</a:t>
            </a:r>
            <a:endParaRPr lang="zh-CN" altLang="en-US" b="1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4"/>
          <p:cNvSpPr txBox="1"/>
          <p:nvPr>
            <p:custDataLst>
              <p:tags r:id="rId8"/>
            </p:custDataLst>
          </p:nvPr>
        </p:nvSpPr>
        <p:spPr>
          <a:xfrm>
            <a:off x="982942" y="3285576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7080" y="3971290"/>
            <a:ext cx="2090420" cy="13614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1.</a:t>
            </a:r>
            <a:r>
              <a:rPr lang="zh-CN" altLang="en-US"/>
              <a:t>技术</a:t>
            </a:r>
            <a:r>
              <a:rPr lang="zh-CN" altLang="en-US"/>
              <a:t>优势</a:t>
            </a:r>
            <a:endParaRPr lang="zh-CN" altLang="en-US"/>
          </a:p>
          <a:p>
            <a:pPr algn="ctr"/>
            <a:r>
              <a:rPr lang="en-US" altLang="zh-CN"/>
              <a:t>2.</a:t>
            </a:r>
            <a:r>
              <a:rPr lang="zh-CN" altLang="en-US"/>
              <a:t>脉冲实现原理</a:t>
            </a:r>
            <a:endParaRPr lang="zh-CN" altLang="en-US"/>
          </a:p>
          <a:p>
            <a:pPr algn="ctr"/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技术代价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71495" y="3971290"/>
            <a:ext cx="3458845" cy="13614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整车实现方式</a:t>
            </a:r>
            <a:endParaRPr lang="en-US" altLang="zh-CN"/>
          </a:p>
          <a:p>
            <a:pPr algn="ctr"/>
            <a:r>
              <a:rPr lang="en-US" altLang="zh-CN"/>
              <a:t>2.</a:t>
            </a:r>
            <a:r>
              <a:rPr lang="zh-CN" altLang="en-US"/>
              <a:t>电路设计图</a:t>
            </a:r>
            <a:endParaRPr lang="zh-CN" altLang="en-US"/>
          </a:p>
          <a:p>
            <a:pPr algn="ctr"/>
            <a:r>
              <a:rPr lang="en-US" altLang="zh-CN"/>
              <a:t>3.</a:t>
            </a:r>
            <a:r>
              <a:rPr lang="zh-CN" altLang="en-US"/>
              <a:t>控制策略流程图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816090" y="4003040"/>
            <a:ext cx="2090420" cy="13614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1.</a:t>
            </a:r>
            <a:r>
              <a:rPr lang="zh-CN" altLang="en-US"/>
              <a:t>技术开发目标</a:t>
            </a:r>
            <a:endParaRPr lang="zh-CN" altLang="en-US"/>
          </a:p>
          <a:p>
            <a:pPr algn="ctr"/>
            <a:r>
              <a:rPr lang="en-US" altLang="zh-CN"/>
              <a:t>2.</a:t>
            </a:r>
            <a:r>
              <a:rPr lang="zh-CN" altLang="en-US"/>
              <a:t>技术开发</a:t>
            </a:r>
            <a:r>
              <a:rPr lang="zh-CN" altLang="en-US"/>
              <a:t>流程图</a:t>
            </a:r>
            <a:endParaRPr lang="zh-CN" altLang="en-US"/>
          </a:p>
          <a:p>
            <a:pPr algn="ctr"/>
            <a:r>
              <a:rPr lang="en-US" altLang="zh-CN"/>
              <a:t>3.</a:t>
            </a:r>
            <a:r>
              <a:rPr lang="zh-CN" altLang="en-US"/>
              <a:t>项目分工及对应</a:t>
            </a:r>
            <a:r>
              <a:rPr lang="en-US" altLang="zh-CN"/>
              <a:t> </a:t>
            </a:r>
            <a:r>
              <a:rPr lang="zh-CN" altLang="en-US"/>
              <a:t>承担的</a:t>
            </a:r>
            <a:r>
              <a:rPr lang="zh-CN" altLang="en-US"/>
              <a:t>工作内容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192260" y="4004945"/>
            <a:ext cx="2319020" cy="20574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实验测试项目：</a:t>
            </a:r>
            <a:endParaRPr lang="zh-CN" altLang="en-US"/>
          </a:p>
          <a:p>
            <a:pPr algn="ctr"/>
            <a:r>
              <a:rPr lang="en-US" altLang="zh-CN"/>
              <a:t>1.</a:t>
            </a:r>
            <a:r>
              <a:rPr lang="zh-CN" altLang="en-US"/>
              <a:t>电池低温性能</a:t>
            </a:r>
            <a:endParaRPr lang="zh-CN" altLang="en-US"/>
          </a:p>
          <a:p>
            <a:pPr algn="ctr"/>
            <a:r>
              <a:rPr lang="en-US" altLang="zh-CN"/>
              <a:t>2.</a:t>
            </a:r>
            <a:r>
              <a:rPr lang="zh-CN" altLang="en-US"/>
              <a:t>电池</a:t>
            </a:r>
            <a:r>
              <a:rPr lang="zh-CN" altLang="en-US"/>
              <a:t>脉冲加热</a:t>
            </a:r>
            <a:endParaRPr lang="zh-CN" altLang="en-US"/>
          </a:p>
          <a:p>
            <a:pPr algn="ctr"/>
            <a:r>
              <a:rPr lang="en-US" altLang="zh-CN"/>
              <a:t>3.</a:t>
            </a:r>
            <a:r>
              <a:rPr lang="zh-CN" altLang="en-US"/>
              <a:t>电池包脉冲加热</a:t>
            </a:r>
            <a:r>
              <a:rPr lang="en-US" altLang="zh-CN"/>
              <a:t> </a:t>
            </a:r>
            <a:endParaRPr lang="en-US" altLang="zh-CN"/>
          </a:p>
          <a:p>
            <a:pPr algn="ctr"/>
            <a:r>
              <a:rPr lang="en-US" altLang="zh-CN"/>
              <a:t>4.</a:t>
            </a:r>
            <a:r>
              <a:rPr lang="zh-CN" altLang="en-US"/>
              <a:t>电池</a:t>
            </a:r>
            <a:r>
              <a:rPr lang="zh-CN" altLang="en-US"/>
              <a:t>耐久</a:t>
            </a:r>
            <a:endParaRPr lang="zh-CN" altLang="en-US"/>
          </a:p>
          <a:p>
            <a:pPr algn="ctr"/>
            <a:r>
              <a:rPr lang="en-US" altLang="zh-CN"/>
              <a:t>5.</a:t>
            </a:r>
            <a:r>
              <a:rPr lang="zh-CN" altLang="en-US"/>
              <a:t>整车</a:t>
            </a:r>
            <a:r>
              <a:rPr lang="zh-CN" altLang="en-US"/>
              <a:t>脉冲加热</a:t>
            </a:r>
            <a:endParaRPr lang="zh-CN" altLang="en-US"/>
          </a:p>
          <a:p>
            <a:pPr algn="ctr"/>
            <a:r>
              <a:rPr lang="en-US" altLang="zh-CN"/>
              <a:t>6.</a:t>
            </a:r>
            <a:r>
              <a:rPr lang="zh-CN" altLang="en-US"/>
              <a:t>整车</a:t>
            </a:r>
            <a:r>
              <a:rPr lang="zh-CN" altLang="en-US"/>
              <a:t>耐久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95325" y="5374640"/>
            <a:ext cx="2778125" cy="91440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dirty="0" err="1" smtClean="0">
                <a:solidFill>
                  <a:srgbClr val="003B90"/>
                </a:solidFill>
                <a:latin typeface="+mj-lt"/>
              </a:rPr>
              <a:t>（低能耗高品质</a:t>
            </a:r>
            <a:r>
              <a:rPr lang="zh-CN" altLang="en-US" dirty="0" err="1" smtClean="0">
                <a:solidFill>
                  <a:srgbClr val="003B90"/>
                </a:solidFill>
                <a:latin typeface="+mj-lt"/>
              </a:rPr>
              <a:t>）</a:t>
            </a:r>
            <a:endParaRPr lang="zh-CN" altLang="en-US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dirty="0" err="1" smtClean="0">
                <a:solidFill>
                  <a:srgbClr val="003B90"/>
                </a:solidFill>
                <a:latin typeface="+mj-lt"/>
              </a:rPr>
              <a:t>（电机控制等）</a:t>
            </a:r>
            <a:endParaRPr lang="zh-CN" altLang="en-US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dirty="0" err="1" smtClean="0">
                <a:solidFill>
                  <a:srgbClr val="003B90"/>
                </a:solidFill>
                <a:latin typeface="+mj-lt"/>
              </a:rPr>
              <a:t>（布局改变，软硬件增加，可能的寿命、噪音风险）</a:t>
            </a:r>
            <a:endParaRPr lang="zh-CN" altLang="en-US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431540" y="5485130"/>
            <a:ext cx="2745105" cy="105537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dirty="0" err="1" smtClean="0">
                <a:solidFill>
                  <a:srgbClr val="152A8C"/>
                </a:solidFill>
                <a:latin typeface="+mj-lt"/>
              </a:rPr>
              <a:t>（参考其他企业方案）</a:t>
            </a:r>
            <a:endParaRPr lang="zh-CN" altLang="en-US" dirty="0" err="1" smtClean="0">
              <a:solidFill>
                <a:srgbClr val="152A8C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>
                <a:solidFill>
                  <a:srgbClr val="152A8C"/>
                </a:solidFill>
                <a:sym typeface="+mn-ea"/>
              </a:rPr>
              <a:t>（拓扑结构部分）</a:t>
            </a:r>
            <a:endParaRPr lang="zh-CN" altLang="en-US">
              <a:solidFill>
                <a:srgbClr val="152A8C"/>
              </a:solidFill>
              <a:sym typeface="+mn-ea"/>
            </a:endParaRPr>
          </a:p>
          <a:p>
            <a:pPr algn="l">
              <a:spcBef>
                <a:spcPts val="600"/>
              </a:spcBef>
            </a:pPr>
            <a:r>
              <a:rPr lang="zh-CN" altLang="en-US">
                <a:solidFill>
                  <a:srgbClr val="152A8C"/>
                </a:solidFill>
                <a:sym typeface="+mn-ea"/>
              </a:rPr>
              <a:t>（算法部分）</a:t>
            </a:r>
            <a:endParaRPr lang="zh-CN" altLang="en-US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51855" y="5494655"/>
            <a:ext cx="3168650" cy="125031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dirty="0" err="1" smtClean="0">
                <a:solidFill>
                  <a:srgbClr val="152A8C"/>
                </a:solidFill>
                <a:latin typeface="+mj-lt"/>
              </a:rPr>
              <a:t>（项目目标）</a:t>
            </a:r>
            <a:endParaRPr lang="zh-CN" altLang="en-US" dirty="0" err="1" smtClean="0">
              <a:solidFill>
                <a:srgbClr val="152A8C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>
                <a:solidFill>
                  <a:srgbClr val="152A8C"/>
                </a:solidFill>
                <a:sym typeface="+mn-ea"/>
              </a:rPr>
              <a:t>（电池实验与仿真</a:t>
            </a:r>
            <a:r>
              <a:rPr lang="en-US" altLang="zh-CN">
                <a:solidFill>
                  <a:srgbClr val="152A8C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152A8C"/>
                </a:solidFill>
                <a:sym typeface="+mn-ea"/>
              </a:rPr>
              <a:t>拓扑结构和策略设计</a:t>
            </a:r>
            <a:r>
              <a:rPr lang="en-US" altLang="zh-CN">
                <a:solidFill>
                  <a:srgbClr val="152A8C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152A8C"/>
                </a:solidFill>
                <a:sym typeface="+mn-ea"/>
              </a:rPr>
              <a:t>系统控制器</a:t>
            </a:r>
            <a:r>
              <a:rPr lang="en-US" altLang="zh-CN">
                <a:solidFill>
                  <a:srgbClr val="152A8C"/>
                </a:solidFill>
                <a:sym typeface="+mn-ea"/>
              </a:rPr>
              <a:t>-</a:t>
            </a:r>
            <a:r>
              <a:rPr lang="zh-CN" altLang="en-US">
                <a:solidFill>
                  <a:srgbClr val="152A8C"/>
                </a:solidFill>
                <a:sym typeface="+mn-ea"/>
              </a:rPr>
              <a:t>整车）</a:t>
            </a:r>
            <a:endParaRPr lang="zh-CN" altLang="en-US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/>
              <a:t>2025</a:t>
            </a:r>
            <a:r>
              <a:rPr lang="zh-CN" altLang="en-US"/>
              <a:t>年度个人述职</a:t>
            </a:r>
            <a:r>
              <a:rPr lang="en-US" altLang="zh-CN"/>
              <a:t>-</a:t>
            </a:r>
            <a:r>
              <a:rPr lang="zh-CN" altLang="en-US"/>
              <a:t>吴俊</a:t>
            </a:r>
            <a:r>
              <a:rPr lang="zh-CN" altLang="en-US"/>
              <a:t>樑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7520" y="908685"/>
            <a:ext cx="11364595" cy="38068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</a:rPr>
              <a:t>1.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参与项目、工作完成情况：</a:t>
            </a:r>
            <a:endParaRPr lang="zh-CN" altLang="en-US" sz="16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《大数据驱动的动力电池精准管理》项目，完成委外测试数据验收、电化学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热耦合模型搭建和验证、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OJD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课题。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</a:rPr>
              <a:t>2.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工作价值贡献</a:t>
            </a: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</a:rPr>
              <a:t> 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：</a:t>
            </a:r>
            <a:endParaRPr lang="zh-CN" altLang="en-US" sz="16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完成锂离子电池模型参数辨识方案；实现高精度的电、热性能仿真。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</a:rPr>
              <a:t>3.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能力提升情况：</a:t>
            </a:r>
            <a:endParaRPr lang="zh-CN" altLang="en-US" sz="16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(1)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动力电池电化学模型仿真</a:t>
            </a:r>
            <a:r>
              <a:rPr lang="en-US" sz="1600" dirty="0" err="1" smtClean="0">
                <a:solidFill>
                  <a:srgbClr val="003B90"/>
                </a:solidFill>
                <a:latin typeface="+mj-lt"/>
              </a:rPr>
              <a:t>(comsol)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；</a:t>
            </a:r>
            <a:r>
              <a:rPr lang="en-US" sz="1600" dirty="0" err="1" smtClean="0">
                <a:solidFill>
                  <a:srgbClr val="003B90"/>
                </a:solidFill>
                <a:latin typeface="+mj-lt"/>
              </a:rPr>
              <a:t>(2)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燃料电池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单电池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多物理场仿真</a:t>
            </a:r>
            <a:r>
              <a:rPr 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(comsol)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；</a:t>
            </a:r>
            <a:r>
              <a:rPr lang="en-US" sz="1600" dirty="0" err="1" smtClean="0">
                <a:solidFill>
                  <a:srgbClr val="003B90"/>
                </a:solidFill>
                <a:latin typeface="+mj-lt"/>
              </a:rPr>
              <a:t>(3)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燃料电池系统仿真</a:t>
            </a:r>
            <a:r>
              <a:rPr lang="en-US" sz="1600" dirty="0" err="1" smtClean="0">
                <a:solidFill>
                  <a:srgbClr val="003B90"/>
                </a:solidFill>
                <a:latin typeface="+mj-lt"/>
              </a:rPr>
              <a:t>(simulink)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</a:rPr>
              <a:t>4. 2026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</a:rPr>
              <a:t>年工作计划：</a:t>
            </a:r>
            <a:endParaRPr lang="zh-CN" altLang="en-US" sz="16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动力电池：（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1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）整车低温脉冲加热：动力电池低温模型仿真、低温脉冲方案和算法开发。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                 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（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</a:rPr>
              <a:t>2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</a:rPr>
              <a:t>）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大数据驱动的动力电池精准管理：看新能源开发部后续，涉及更换电池、模型降阶和迁入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  <a:sym typeface="+mn-ea"/>
              </a:rPr>
              <a:t>BMS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algn="l">
              <a:spcBef>
                <a:spcPts val="600"/>
              </a:spcBef>
            </a:pP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燃料电池：（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  <a:sym typeface="+mn-ea"/>
              </a:rPr>
              <a:t>1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）空气循环系统：系统仿真支持。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algn="l">
              <a:spcBef>
                <a:spcPts val="600"/>
              </a:spcBef>
            </a:pPr>
            <a:r>
              <a:rPr lang="en-US" altLang="zh-CN" sz="1600" dirty="0" err="1" smtClean="0">
                <a:solidFill>
                  <a:srgbClr val="003B90"/>
                </a:solidFill>
                <a:latin typeface="+mj-lt"/>
                <a:sym typeface="+mn-ea"/>
              </a:rPr>
              <a:t>                 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（</a:t>
            </a:r>
            <a:r>
              <a:rPr lang="en-US" altLang="zh-CN" sz="1600" dirty="0" err="1" smtClean="0">
                <a:solidFill>
                  <a:srgbClr val="003B90"/>
                </a:solidFill>
                <a:latin typeface="+mj-lt"/>
                <a:sym typeface="+mn-ea"/>
              </a:rPr>
              <a:t>2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）双极板流道设计：多物理场</a:t>
            </a:r>
            <a:r>
              <a:rPr lang="zh-CN" altLang="en-US" sz="1600" dirty="0" err="1" smtClean="0">
                <a:solidFill>
                  <a:srgbClr val="003B90"/>
                </a:solidFill>
                <a:latin typeface="+mj-lt"/>
                <a:sym typeface="+mn-ea"/>
              </a:rPr>
              <a:t>仿真支持。</a:t>
            </a:r>
            <a:endParaRPr lang="zh-CN" altLang="en-US" sz="16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脉冲加热</a:t>
            </a:r>
            <a:r>
              <a:rPr lang="zh-CN" altLang="en-US" dirty="0" err="1" smtClean="0">
                <a:solidFill>
                  <a:srgbClr val="003B90"/>
                </a:solidFill>
                <a:latin typeface="+mj-lt"/>
                <a:sym typeface="+mn-ea"/>
              </a:rPr>
              <a:t>技术</a:t>
            </a:r>
            <a:r>
              <a:rPr lang="zh-CN" altLang="en-US" dirty="0" err="1" smtClean="0">
                <a:solidFill>
                  <a:srgbClr val="003B90"/>
                </a:solidFill>
                <a:latin typeface="+mj-lt"/>
                <a:sym typeface="+mn-ea"/>
              </a:rPr>
              <a:t>概要</a:t>
            </a:r>
            <a:endParaRPr lang="zh-CN" altLang="en-US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25" y="908685"/>
            <a:ext cx="11242675" cy="112395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可行性分析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：脉冲加热技术具有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</a:rPr>
              <a:t>加热速率快、能耗低、温度均匀性好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的优势。通过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复用车辆电驱动系统组件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和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软件控制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，已在比亚迪等主流车企的乘用车型上验证应用，而针对商用车的应用处于台架与整车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测试阶段。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技术价值：打造整车在低温场景下节能和高品质竞争力。目标加热速率</a:t>
            </a:r>
            <a:r>
              <a:rPr lang="en-US" altLang="zh-CN" sz="1400" b="1" dirty="0" err="1" smtClean="0">
                <a:solidFill>
                  <a:srgbClr val="152A8C"/>
                </a:solidFill>
                <a:latin typeface="+mj-lt"/>
              </a:rPr>
              <a:t>&gt;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1℃/min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，等待时间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</a:rPr>
              <a:t>减少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30%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，省电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1.6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度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  <a:sym typeface="+mn-ea"/>
              </a:rPr>
              <a:t>以上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风险评估：不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合理的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  <a:sym typeface="+mn-ea"/>
              </a:rPr>
              <a:t>脉冲方案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可能导致电池性能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衰退、电机噪音与机械损伤的问题，对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  <a:sym typeface="+mn-ea"/>
              </a:rPr>
              <a:t>控制系统可靠性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提出了更高的要求。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7520" y="6381750"/>
            <a:ext cx="11242675" cy="36703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启示点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：脉冲加热技术有望成为商用车低温场景的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有效解决方案。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55650" y="2067560"/>
          <a:ext cx="300609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/>
                <a:gridCol w="1002030"/>
                <a:gridCol w="1002030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加热方式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传统</a:t>
                      </a:r>
                      <a:r>
                        <a:rPr lang="en-US" altLang="zh-CN" sz="1000"/>
                        <a:t>PTC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脉冲加热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温升速率</a:t>
                      </a:r>
                      <a:r>
                        <a:rPr lang="en-US" altLang="zh-CN" sz="1000"/>
                        <a:t>(℃/min)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0.15~0.6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1~1.4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电量损失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5%~8%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3.6%~6.6%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能耗效率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46%~53%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58%~63%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温度均匀性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&gt;10℃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&lt;5℃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4500245" y="5824220"/>
            <a:ext cx="243332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489825" y="2199005"/>
            <a:ext cx="3810" cy="392557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7680325" y="2060575"/>
          <a:ext cx="4284980" cy="2506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980"/>
                <a:gridCol w="1007110"/>
                <a:gridCol w="760095"/>
                <a:gridCol w="166179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风险类型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风险点</a:t>
                      </a:r>
                      <a:r>
                        <a:rPr lang="en-US" altLang="zh-CN" sz="1000"/>
                        <a:t> 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风险等级</a:t>
                      </a:r>
                      <a:r>
                        <a:rPr lang="en-US" altLang="zh-CN" sz="900"/>
                        <a:t> </a:t>
                      </a:r>
                      <a:endParaRPr lang="en-US" altLang="zh-CN" sz="9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控制措施</a:t>
                      </a:r>
                      <a:r>
                        <a:rPr lang="en-US" altLang="zh-CN" sz="1000"/>
                        <a:t> 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20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电池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电化学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容量衰减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脉冲参数优化、</a:t>
                      </a:r>
                      <a:endParaRPr lang="zh-CN" altLang="en-US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策略控制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充电析锂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高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电压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电流边界管理、高频电流、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22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电机系统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电机噪声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频率调制、相位控制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电机损伤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低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热损伤监控、</a:t>
                      </a:r>
                      <a:endParaRPr lang="zh-CN" altLang="en-US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主动热管理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布局改动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复用电机</a:t>
                      </a:r>
                      <a:r>
                        <a:rPr lang="zh-CN" altLang="en-US" sz="1000"/>
                        <a:t>和控制器、拓扑结构优化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877810" y="4908550"/>
            <a:ext cx="4213860" cy="1332865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altLang="zh-CN" sz="1400" b="1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关键举措：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Calibri" panose="020F0502020204030204" charset="0"/>
                <a:sym typeface="+mn-ea"/>
              </a:rPr>
              <a:t>自主研发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①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环境温度自适应电芯脉冲加热算法开发</a:t>
            </a: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——</a:t>
            </a:r>
            <a:endParaRPr lang="en-US" altLang="zh-CN" sz="1200" dirty="0" err="1" smtClean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    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合理平衡电芯加热速度与电池电机的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可靠耐久；</a:t>
            </a:r>
            <a:endParaRPr lang="zh-CN" altLang="en-US" sz="1200" dirty="0" err="1" smtClean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多电池组间均衡加热拓扑结构设计</a:t>
            </a:r>
            <a:r>
              <a:rPr lang="en-US" altLang="zh-CN" sz="1200" dirty="0" err="1" smtClean="0">
                <a:solidFill>
                  <a:srgbClr val="152A8C"/>
                </a:solidFill>
                <a:latin typeface="+mj-lt"/>
                <a:sym typeface="+mn-ea"/>
              </a:rPr>
              <a:t>——</a:t>
            </a:r>
            <a:endParaRPr lang="en-US" altLang="zh-CN" sz="1200" dirty="0" err="1" smtClean="0">
              <a:solidFill>
                <a:srgbClr val="152A8C"/>
              </a:solidFill>
              <a:latin typeface="+mj-lt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+mj-lt"/>
                <a:sym typeface="+mn-ea"/>
              </a:rPr>
              <a:t>   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解决商用车多电池组间的脉冲配合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难题；</a:t>
            </a:r>
            <a:endParaRPr lang="zh-CN" altLang="en-US" sz="1200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66200" y="4580890"/>
            <a:ext cx="1803400" cy="3136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200" dirty="0" err="1" smtClean="0">
                <a:solidFill>
                  <a:srgbClr val="003B90"/>
                </a:solidFill>
                <a:latin typeface="+mj-lt"/>
              </a:rPr>
              <a:t>脉冲加热技术风险分析</a:t>
            </a:r>
            <a:endParaRPr lang="zh-CN" altLang="en-US" sz="1200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468630" y="3749040"/>
          <a:ext cx="35769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/>
                <a:gridCol w="927735"/>
                <a:gridCol w="970915"/>
                <a:gridCol w="875665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车企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车型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硬件</a:t>
                      </a:r>
                      <a:r>
                        <a:rPr lang="zh-CN" altLang="en-US" sz="1000"/>
                        <a:t>架构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控制策略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性能表现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比亚迪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腾势</a:t>
                      </a:r>
                      <a:r>
                        <a:rPr lang="en-US" altLang="zh-CN" sz="1000"/>
                        <a:t>N7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三相单电机中性点引出，</a:t>
                      </a:r>
                      <a:r>
                        <a:rPr lang="zh-CN" altLang="en-US" sz="1000">
                          <a:solidFill>
                            <a:srgbClr val="B10011"/>
                          </a:solidFill>
                        </a:rPr>
                        <a:t>双电池组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模糊</a:t>
                      </a:r>
                      <a:r>
                        <a:rPr lang="en-US" altLang="zh-CN" sz="1000">
                          <a:sym typeface="+mn-ea"/>
                        </a:rPr>
                        <a:t>PID</a:t>
                      </a:r>
                      <a:r>
                        <a:rPr lang="zh-CN" altLang="en-US" sz="1000">
                          <a:sym typeface="+mn-ea"/>
                        </a:rPr>
                        <a:t>控制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4~6℃/min(-30℃)</a:t>
                      </a:r>
                      <a:r>
                        <a:rPr lang="zh-CN" altLang="en-US" sz="1000"/>
                        <a:t>；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长安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深蓝</a:t>
                      </a:r>
                      <a:r>
                        <a:rPr lang="en-US" altLang="zh-CN" sz="1000"/>
                        <a:t>SL03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三相单电机，单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电池组</a:t>
                      </a:r>
                      <a:r>
                        <a:rPr lang="zh-CN" altLang="en-US" sz="1000">
                          <a:sym typeface="+mn-ea"/>
                        </a:rPr>
                        <a:t>，</a:t>
                      </a:r>
                      <a:r>
                        <a:rPr lang="zh-CN" altLang="en-US" sz="1000">
                          <a:solidFill>
                            <a:srgbClr val="B10011"/>
                          </a:solidFill>
                        </a:rPr>
                        <a:t>外置电感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PWM</a:t>
                      </a:r>
                      <a:r>
                        <a:rPr lang="zh-CN" altLang="en-US" sz="1000"/>
                        <a:t>占空比调节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4℃/min</a:t>
                      </a:r>
                      <a:endParaRPr lang="en-US" altLang="zh-CN" sz="10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(-30℃)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东风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实车测试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三相单电机，单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电池组，</a:t>
                      </a:r>
                      <a:r>
                        <a:rPr lang="zh-CN" altLang="en-US" sz="1000">
                          <a:solidFill>
                            <a:srgbClr val="C00000"/>
                          </a:solidFill>
                          <a:sym typeface="+mn-ea"/>
                        </a:rPr>
                        <a:t>热管理改制</a:t>
                      </a:r>
                      <a:endParaRPr lang="zh-CN" altLang="en-US" sz="1000">
                        <a:solidFill>
                          <a:srgbClr val="C00000"/>
                        </a:solidFill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开关管占空比</a:t>
                      </a:r>
                      <a:r>
                        <a:rPr lang="zh-CN" altLang="en-US" sz="1000">
                          <a:sym typeface="+mn-ea"/>
                        </a:rPr>
                        <a:t>调节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1.1℃/min</a:t>
                      </a:r>
                      <a:endParaRPr lang="en-US" altLang="zh-CN" sz="10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(-20</a:t>
                      </a:r>
                      <a:r>
                        <a:rPr lang="en-US" altLang="zh-CN" sz="1000">
                          <a:sym typeface="+mn-ea"/>
                        </a:rPr>
                        <a:t>℃)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华为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台架测试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olidFill>
                            <a:srgbClr val="C00000"/>
                          </a:solidFill>
                          <a:sym typeface="+mn-ea"/>
                        </a:rPr>
                        <a:t>三相双电机协同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相位差调整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无</a:t>
                      </a:r>
                      <a:r>
                        <a:rPr lang="zh-CN" altLang="en-US" sz="1000"/>
                        <a:t>实车数据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476375" y="3452495"/>
            <a:ext cx="1741805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200" b="1">
                <a:solidFill>
                  <a:srgbClr val="152A8C"/>
                </a:solidFill>
              </a:rPr>
              <a:t>表</a:t>
            </a:r>
            <a:r>
              <a:rPr lang="en-US" altLang="zh-CN" sz="1200" b="1">
                <a:solidFill>
                  <a:srgbClr val="152A8C"/>
                </a:solidFill>
              </a:rPr>
              <a:t>1 </a:t>
            </a:r>
            <a:r>
              <a:rPr lang="zh-CN" altLang="en-US" sz="1200" b="1">
                <a:solidFill>
                  <a:srgbClr val="152A8C"/>
                </a:solidFill>
              </a:rPr>
              <a:t>低温加热技术比较</a:t>
            </a:r>
            <a:endParaRPr lang="zh-CN" altLang="en-US" sz="1200" b="1">
              <a:solidFill>
                <a:srgbClr val="152A8C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60475" y="6044565"/>
            <a:ext cx="2085340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200" b="1">
                <a:solidFill>
                  <a:srgbClr val="152A8C"/>
                </a:solidFill>
              </a:rPr>
              <a:t>表</a:t>
            </a:r>
            <a:r>
              <a:rPr lang="en-US" altLang="zh-CN" sz="1200" b="1">
                <a:solidFill>
                  <a:srgbClr val="152A8C"/>
                </a:solidFill>
              </a:rPr>
              <a:t>2 </a:t>
            </a:r>
            <a:r>
              <a:rPr lang="zh-CN" altLang="en-US" sz="1200" b="1">
                <a:solidFill>
                  <a:srgbClr val="152A8C"/>
                </a:solidFill>
              </a:rPr>
              <a:t>各主流车企脉冲加热</a:t>
            </a:r>
            <a:r>
              <a:rPr lang="zh-CN" altLang="en-US" sz="1200" b="1">
                <a:solidFill>
                  <a:srgbClr val="152A8C"/>
                </a:solidFill>
              </a:rPr>
              <a:t>方案</a:t>
            </a:r>
            <a:endParaRPr lang="zh-CN" altLang="en-US" sz="1200" b="1">
              <a:solidFill>
                <a:srgbClr val="152A8C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213225" y="2211705"/>
            <a:ext cx="3810" cy="392557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802505" y="5513070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endCxn id="31" idx="3"/>
          </p:cNvCxnSpPr>
          <p:nvPr/>
        </p:nvCxnSpPr>
        <p:spPr>
          <a:xfrm flipV="1">
            <a:off x="4854575" y="4947920"/>
            <a:ext cx="1686560" cy="575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6529705" y="4882515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401185" y="3097530"/>
            <a:ext cx="1609725" cy="8629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解放现有</a:t>
            </a:r>
            <a:r>
              <a:rPr lang="en-US" altLang="zh-CN" sz="1000" b="1" dirty="0" err="1" smtClean="0">
                <a:solidFill>
                  <a:srgbClr val="003B90"/>
                </a:solidFill>
                <a:latin typeface="+mj-lt"/>
              </a:rPr>
              <a:t>PTC</a:t>
            </a: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加热</a:t>
            </a:r>
            <a:endParaRPr lang="zh-CN" altLang="en-US" sz="10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①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加热速率：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0.15℃/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②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静态加热能耗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13kWh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③</a:t>
            </a: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加热时长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64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941695" y="3096260"/>
            <a:ext cx="1419860" cy="7283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解放脉冲加热</a:t>
            </a:r>
            <a:endParaRPr lang="zh-CN" altLang="en-US" sz="10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①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加热速率：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&gt;1℃/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②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省电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1.6kWh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以上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③等待时间减少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30%</a:t>
            </a:r>
            <a:endParaRPr lang="en-US" altLang="zh-CN" sz="1000" dirty="0" err="1" smtClean="0">
              <a:solidFill>
                <a:srgbClr val="003B90"/>
              </a:solidFill>
              <a:latin typeface="Calibri" panose="020F050202020403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711065" y="2163445"/>
            <a:ext cx="817880" cy="277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价值特性</a:t>
            </a:r>
            <a:endParaRPr lang="zh-CN" altLang="en-US" sz="1000" b="1"/>
          </a:p>
        </p:txBody>
      </p:sp>
      <p:sp>
        <p:nvSpPr>
          <p:cNvPr id="36" name="文本框 35"/>
          <p:cNvSpPr txBox="1"/>
          <p:nvPr/>
        </p:nvSpPr>
        <p:spPr>
          <a:xfrm>
            <a:off x="466217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26.02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67145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27.10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485457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658304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075680" y="5079365"/>
            <a:ext cx="1028700" cy="44577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商用车首发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应用纯电车型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790565" y="5770245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62102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26.12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532955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12572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26.06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52465" y="5162550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293995" y="5325745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100955" y="5016500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PDCP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81650" y="4853305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TDCP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566920" y="5199380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TDR1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528945" y="2163445"/>
            <a:ext cx="1466850" cy="28956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高品质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低能耗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低成本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711065" y="2163445"/>
            <a:ext cx="2285365" cy="28956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86300" y="4208780"/>
            <a:ext cx="817880" cy="277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技术节点</a:t>
            </a:r>
            <a:endParaRPr lang="zh-CN" altLang="en-US" sz="1000" b="1"/>
          </a:p>
        </p:txBody>
      </p:sp>
      <p:sp>
        <p:nvSpPr>
          <p:cNvPr id="63" name="矩形 62"/>
          <p:cNvSpPr/>
          <p:nvPr/>
        </p:nvSpPr>
        <p:spPr>
          <a:xfrm>
            <a:off x="4686300" y="4208780"/>
            <a:ext cx="2285365" cy="28956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506720" y="4210050"/>
            <a:ext cx="1466850" cy="28956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方案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策略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测试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342130" y="2546985"/>
            <a:ext cx="3084195" cy="52197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171450" indent="-171450" algn="l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相较传统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PTC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加热，突破整车低温场景节能技术；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marL="171450" indent="-171450" algn="l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满足用户长续航、高效运营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需求；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4509770" y="4580890"/>
            <a:ext cx="0" cy="12446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2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3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4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5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6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7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8.xml><?xml version="1.0" encoding="utf-8"?>
<p:tagLst xmlns:p="http://schemas.openxmlformats.org/presentationml/2006/main">
  <p:tag name="KSO_WM_DIAGRAM_VIRTUALLY_FRAME" val="{&quot;height&quot;:202.91338582677164,&quot;left&quot;:77.38488188976378,&quot;top&quot;:94.23244094488189,&quot;width&quot;:817.1209448818897}"/>
</p:tagLst>
</file>

<file path=ppt/tags/tag9.xml><?xml version="1.0" encoding="utf-8"?>
<p:tagLst xmlns:p="http://schemas.openxmlformats.org/presentationml/2006/main">
  <p:tag name="TABLE_ENDDRAG_ORIGIN_RECT" val="236*46"/>
  <p:tag name="TABLE_ENDDRAG_RECT" val="49*162*236*46"/>
</p:tagLst>
</file>

<file path=ppt/tags/tag10.xml><?xml version="1.0" encoding="utf-8"?>
<p:tagLst xmlns:p="http://schemas.openxmlformats.org/presentationml/2006/main">
  <p:tag name="TABLE_ENDDRAG_ORIGIN_RECT" val="337*26"/>
  <p:tag name="TABLE_ENDDRAG_RECT" val="593*173*337*26"/>
</p:tagLst>
</file>

<file path=ppt/tags/tag11.xml><?xml version="1.0" encoding="utf-8"?>
<p:tagLst xmlns:p="http://schemas.openxmlformats.org/presentationml/2006/main">
  <p:tag name="TABLE_ENDDRAG_ORIGIN_RECT" val="281*89"/>
  <p:tag name="TABLE_ENDDRAG_RECT" val="26*295*281*89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1592</Words>
  <Application>WPS 演示</Application>
  <PresentationFormat>宽屏</PresentationFormat>
  <Paragraphs>249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方正兰亭中黑_GBK</vt:lpstr>
      <vt:lpstr>黑体</vt:lpstr>
      <vt:lpstr>Wingdings</vt:lpstr>
      <vt:lpstr>Arial Unicode MS</vt:lpstr>
      <vt:lpstr>等线</vt:lpstr>
      <vt:lpstr>Calibri</vt:lpstr>
      <vt:lpstr>system-ui</vt:lpstr>
      <vt:lpstr>Segoe Print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484</cp:revision>
  <cp:lastPrinted>2023-05-19T05:02:00Z</cp:lastPrinted>
  <dcterms:created xsi:type="dcterms:W3CDTF">2015-12-28T03:19:00Z</dcterms:created>
  <dcterms:modified xsi:type="dcterms:W3CDTF">2025-12-17T07:21:32Z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261E8C9CB69841D8834A5D3CCF965BCA_13</vt:lpwstr>
  </property>
  <property fmtid="{D5CDD505-2E9C-101B-9397-08002B2CF9AE}" pid="3" name="KSOProductBuildVer">
    <vt:lpwstr>2052-12.1.0.24034</vt:lpwstr>
  </property>
</Properties>
</file>
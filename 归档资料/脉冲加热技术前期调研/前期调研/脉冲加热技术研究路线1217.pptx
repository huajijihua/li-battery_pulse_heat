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355" r:id="rId3"/>
    <p:sldId id="352" r:id="rId4"/>
    <p:sldId id="354" r:id="rId6"/>
    <p:sldId id="356" r:id="rId7"/>
    <p:sldId id="358" r:id="rId8"/>
    <p:sldId id="360" r:id="rId9"/>
    <p:sldId id="361" r:id="rId10"/>
  </p:sldIdLst>
  <p:sldSz cx="12192000" cy="6858000"/>
  <p:notesSz cx="6797675" cy="992632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吴俊樑" initials="吴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152A8C"/>
    <a:srgbClr val="00B050"/>
    <a:srgbClr val="FF374A"/>
    <a:srgbClr val="84EB7A"/>
    <a:srgbClr val="B10011"/>
    <a:srgbClr val="F5B482"/>
    <a:srgbClr val="66FF66"/>
    <a:srgbClr val="A7A9AC"/>
    <a:srgbClr val="0F29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21" autoAdjust="0"/>
    <p:restoredTop sz="82896" autoAdjust="0"/>
  </p:normalViewPr>
  <p:slideViewPr>
    <p:cSldViewPr snapToObjects="1">
      <p:cViewPr varScale="1">
        <p:scale>
          <a:sx n="86" d="100"/>
          <a:sy n="86" d="100"/>
        </p:scale>
        <p:origin x="8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 showGuides="1">
      <p:cViewPr varScale="1">
        <p:scale>
          <a:sx n="42" d="100"/>
          <a:sy n="42" d="100"/>
        </p:scale>
        <p:origin x="-1757" y="-96"/>
      </p:cViewPr>
      <p:guideLst>
        <p:guide orient="horz" pos="3403"/>
        <p:guide pos="2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49826" y="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F0259903-FC65-400A-9E76-C4C330AD3D6E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08" tIns="46054" rIns="92108" bIns="4605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288" y="4777245"/>
            <a:ext cx="5439101" cy="3908363"/>
          </a:xfrm>
          <a:prstGeom prst="rect">
            <a:avLst/>
          </a:prstGeom>
        </p:spPr>
        <p:txBody>
          <a:bodyPr vert="horz" lIns="92108" tIns="46054" rIns="92108" bIns="46054" rtlCol="0"/>
          <a:lstStyle/>
          <a:p>
            <a:pPr lvl="0"/>
            <a:r>
              <a:rPr lang="zh-CN" altLang="en-US" noProof="0"/>
              <a:t>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310"/>
            <a:ext cx="2946247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49826" y="9428310"/>
            <a:ext cx="2946246" cy="498328"/>
          </a:xfrm>
          <a:prstGeom prst="rect">
            <a:avLst/>
          </a:prstGeom>
        </p:spPr>
        <p:txBody>
          <a:bodyPr vert="horz" lIns="92108" tIns="46054" rIns="92108" bIns="460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A67DAE94-9449-4026-AC54-378A5A1A8636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1pPr>
    <a:lvl2pPr marL="48577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2pPr>
    <a:lvl3pPr marL="97155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3pPr>
    <a:lvl4pPr marL="1457325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4pPr>
    <a:lvl5pPr marL="1943100" algn="l" rtl="0" eaLnBrk="0" fontAlgn="base" hangingPunct="0">
      <a:spcBef>
        <a:spcPct val="30000"/>
      </a:spcBef>
      <a:spcAft>
        <a:spcPct val="0"/>
      </a:spcAft>
      <a:defRPr sz="1335" kern="1200">
        <a:solidFill>
          <a:schemeClr val="tx1"/>
        </a:solidFill>
        <a:latin typeface="+mn-lt"/>
        <a:ea typeface="+mn-ea"/>
        <a:cs typeface="+mn-cs"/>
      </a:defRPr>
    </a:lvl5pPr>
    <a:lvl6pPr marL="242951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6pPr>
    <a:lvl7pPr marL="291528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7pPr>
    <a:lvl8pPr marL="3401060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8pPr>
    <a:lvl9pPr marL="3886835" algn="l" defTabSz="971550" rtl="0" eaLnBrk="1" latinLnBrk="0" hangingPunct="1">
      <a:defRPr sz="13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封面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0" y="2564904"/>
            <a:ext cx="12192000" cy="1775292"/>
          </a:xfrm>
          <a:prstGeom prst="rect">
            <a:avLst/>
          </a:prstGeom>
        </p:spPr>
        <p:txBody>
          <a:bodyPr anchor="ctr" anchorCtr="0"/>
          <a:lstStyle>
            <a:lvl1pPr algn="ctr">
              <a:lnSpc>
                <a:spcPct val="100000"/>
              </a:lnSpc>
              <a:defRPr sz="5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76097"/>
            <a:ext cx="9921552" cy="165576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副标题</a:t>
            </a:r>
            <a:endParaRPr lang="en-US" altLang="zh-CN" dirty="0"/>
          </a:p>
          <a:p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0" y="6942142"/>
            <a:ext cx="12192000" cy="614361"/>
            <a:chOff x="0" y="6942142"/>
            <a:chExt cx="12192000" cy="614361"/>
          </a:xfrm>
        </p:grpSpPr>
        <p:sp>
          <p:nvSpPr>
            <p:cNvPr id="6" name="同侧圆角矩形 3"/>
            <p:cNvSpPr/>
            <p:nvPr userDrawn="1"/>
          </p:nvSpPr>
          <p:spPr>
            <a:xfrm rot="10800000">
              <a:off x="0" y="6942142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5903385" y="7004052"/>
              <a:ext cx="1512000" cy="4683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解放蓝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21/42/140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7431809" y="7004052"/>
              <a:ext cx="1512000" cy="4683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辅助蓝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39/150/212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10488656" y="7004052"/>
              <a:ext cx="1512000" cy="4683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辅助红</a:t>
              </a:r>
              <a:endParaRPr lang="en-US" altLang="zh-CN" sz="13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177/0/17</a:t>
              </a:r>
              <a:endPara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矩形 12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封面页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 userDrawn="1"/>
          </p:nvSpPr>
          <p:spPr>
            <a:xfrm>
              <a:off x="8960233" y="7004052"/>
              <a:ext cx="1512000" cy="468311"/>
            </a:xfrm>
            <a:prstGeom prst="rect">
              <a:avLst/>
            </a:prstGeom>
            <a:solidFill>
              <a:srgbClr val="A7A9A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辅助灰</a:t>
              </a:r>
              <a:endParaRPr lang="en-US" altLang="zh-CN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fontAlgn="auto">
                <a:lnSpc>
                  <a:spcPts val="1275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167/169/172</a:t>
              </a:r>
              <a:endParaRPr lang="zh-CN" altLang="en-US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765" y="-14605"/>
            <a:ext cx="12230735" cy="1291590"/>
          </a:xfrm>
          <a:prstGeom prst="rect">
            <a:avLst/>
          </a:prstGeom>
        </p:spPr>
      </p:pic>
      <p:pic>
        <p:nvPicPr>
          <p:cNvPr id="16" name="图形 3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2897" y="327314"/>
            <a:ext cx="2881252" cy="6372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同侧圆角矩形 3"/>
          <p:cNvSpPr/>
          <p:nvPr userDrawn="1"/>
        </p:nvSpPr>
        <p:spPr>
          <a:xfrm rot="10800000">
            <a:off x="0" y="6942143"/>
            <a:ext cx="12192000" cy="614361"/>
          </a:xfrm>
          <a:prstGeom prst="round2SameRect">
            <a:avLst>
              <a:gd name="adj1" fmla="val 21050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886" tIns="36443" rIns="72886" bIns="3644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19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矩形 2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2" name="矩形 21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  <p:sp>
        <p:nvSpPr>
          <p:cNvPr id="11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7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0" name="文本占位符 6"/>
          <p:cNvSpPr>
            <a:spLocks noGrp="1"/>
          </p:cNvSpPr>
          <p:nvPr>
            <p:ph type="body" sz="quarter" idx="13" hasCustomPrompt="1"/>
          </p:nvPr>
        </p:nvSpPr>
        <p:spPr>
          <a:xfrm>
            <a:off x="477723" y="1063639"/>
            <a:ext cx="11231448" cy="468452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532091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23解放正文页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0" y="6942143"/>
            <a:ext cx="12192000" cy="614361"/>
            <a:chOff x="0" y="6942143"/>
            <a:chExt cx="12192000" cy="614361"/>
          </a:xfrm>
        </p:grpSpPr>
        <p:sp>
          <p:nvSpPr>
            <p:cNvPr id="4" name="同侧圆角矩形 3"/>
            <p:cNvSpPr/>
            <p:nvPr userDrawn="1"/>
          </p:nvSpPr>
          <p:spPr>
            <a:xfrm rot="10800000">
              <a:off x="0" y="6942143"/>
              <a:ext cx="12192000" cy="614361"/>
            </a:xfrm>
            <a:prstGeom prst="round2SameRect">
              <a:avLst>
                <a:gd name="adj1" fmla="val 21050"/>
                <a:gd name="adj2" fmla="val 0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886" tIns="36443" rIns="72886" bIns="36443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2406647" y="6964366"/>
              <a:ext cx="3344336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PPT</a:t>
              </a:r>
              <a:r>
                <a:rPr lang="zh-CN" altLang="en-US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标准提示</a:t>
              </a:r>
              <a:r>
                <a:rPr lang="en-US" altLang="zh-CN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——</a:t>
              </a:r>
              <a:endPara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字体：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微软雅黑     </a:t>
              </a:r>
              <a:r>
                <a:rPr lang="zh-CN" altLang="en-US" sz="13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颜色：</a:t>
              </a:r>
              <a:r>
                <a:rPr lang="zh-CN" altLang="en-US" sz="13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优先用右侧颜色</a:t>
              </a:r>
              <a:endParaRPr lang="zh-CN" altLang="en-US" sz="1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/>
            <p:nvPr userDrawn="1"/>
          </p:nvSpPr>
          <p:spPr>
            <a:xfrm>
              <a:off x="231649" y="6964366"/>
              <a:ext cx="2077637" cy="53975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8695" tIns="28695" rIns="28695" bIns="28695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2023</a:t>
              </a:r>
              <a:r>
                <a:rPr lang="zh-CN" altLang="en-US" sz="2800" b="1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正文页</a:t>
              </a:r>
              <a:endPara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Rectangle 9"/>
          <p:cNvSpPr>
            <a:spLocks noChangeArrowheads="1"/>
          </p:cNvSpPr>
          <p:nvPr userDrawn="1"/>
        </p:nvSpPr>
        <p:spPr bwMode="auto">
          <a:xfrm>
            <a:off x="10992544" y="6412107"/>
            <a:ext cx="738477" cy="333594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squar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B2DE838B-0F12-4B31-B7D1-2D0F6538ECB8}" type="slidenum">
              <a:rPr lang="en-US" altLang="zh-CN" b="1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占位符 6"/>
          <p:cNvSpPr>
            <a:spLocks noGrp="1"/>
          </p:cNvSpPr>
          <p:nvPr>
            <p:ph type="body" sz="quarter" idx="12" hasCustomPrompt="1"/>
          </p:nvPr>
        </p:nvSpPr>
        <p:spPr>
          <a:xfrm>
            <a:off x="477723" y="175966"/>
            <a:ext cx="9218726" cy="559059"/>
          </a:xfrm>
          <a:prstGeom prst="rect">
            <a:avLst/>
          </a:prstGeom>
        </p:spPr>
        <p:txBody>
          <a:bodyPr lIns="72886" tIns="36443" rIns="72886" bIns="36443"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单击此处编辑大标题</a:t>
            </a:r>
            <a:endParaRPr lang="zh-CN" altLang="en-US" dirty="0"/>
          </a:p>
        </p:txBody>
      </p:sp>
      <p:sp>
        <p:nvSpPr>
          <p:cNvPr id="21" name="文本占位符 6"/>
          <p:cNvSpPr>
            <a:spLocks noGrp="1"/>
          </p:cNvSpPr>
          <p:nvPr>
            <p:ph type="body" sz="quarter" idx="14" hasCustomPrompt="1"/>
          </p:nvPr>
        </p:nvSpPr>
        <p:spPr>
          <a:xfrm>
            <a:off x="477723" y="1052513"/>
            <a:ext cx="11233150" cy="1176830"/>
          </a:xfrm>
          <a:prstGeom prst="rect">
            <a:avLst/>
          </a:prstGeom>
        </p:spPr>
        <p:txBody>
          <a:bodyPr lIns="72886" tIns="36443" rIns="72886" bIns="36443" anchor="t" anchorCtr="0"/>
          <a:lstStyle>
            <a:lvl1pPr marL="342900" indent="-342900" algn="just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0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× × × 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</a:t>
            </a:r>
            <a:endParaRPr lang="en-US" altLang="zh-CN" dirty="0"/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lang="en-US" altLang="zh-CN" dirty="0"/>
              <a:t>× × × × × × × × × × × × × × × × × × × × × × × × × × × × × × × × × × × × × ×</a:t>
            </a:r>
            <a:endParaRPr lang="zh-CN" alt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 flipH="1">
            <a:off x="479425" y="836712"/>
            <a:ext cx="1123315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 userDrawn="1"/>
        </p:nvSpPr>
        <p:spPr>
          <a:xfrm>
            <a:off x="5903385" y="7004052"/>
            <a:ext cx="1512000" cy="4683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解放蓝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21/42/140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7431809" y="7004052"/>
            <a:ext cx="1512000" cy="46831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辅助蓝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39/150/212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>
            <a:off x="10488656" y="7004052"/>
            <a:ext cx="1512000" cy="46831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辅助红</a:t>
            </a:r>
            <a:endParaRPr lang="en-US" altLang="zh-CN" sz="13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177/0/17</a:t>
            </a:r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8960233" y="7004052"/>
            <a:ext cx="1512000" cy="468311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695" tIns="28695" rIns="28695" bIns="28695" anchor="ctr"/>
          <a:lstStyle/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辅助灰</a:t>
            </a:r>
            <a:endParaRPr lang="en-US" altLang="zh-CN" sz="1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auto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167/169/172</a:t>
            </a:r>
            <a:endParaRPr lang="zh-CN" altLang="en-US" sz="1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形 2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61704" y="264695"/>
            <a:ext cx="1750871" cy="381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33.xml"/><Relationship Id="rId2" Type="http://schemas.openxmlformats.org/officeDocument/2006/relationships/tags" Target="../tags/tag15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tags" Target="../tags/tag29.xml"/><Relationship Id="rId15" Type="http://schemas.openxmlformats.org/officeDocument/2006/relationships/tags" Target="../tags/tag28.xml"/><Relationship Id="rId14" Type="http://schemas.openxmlformats.org/officeDocument/2006/relationships/tags" Target="../tags/tag27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zh-CN" altLang="en-US" dirty="0"/>
              <a:t>目录</a:t>
            </a:r>
            <a:endParaRPr lang="zh-CN" altLang="en-US" dirty="0"/>
          </a:p>
        </p:txBody>
      </p:sp>
      <p:sp>
        <p:nvSpPr>
          <p:cNvPr id="14" name="文本框 5"/>
          <p:cNvSpPr txBox="1"/>
          <p:nvPr>
            <p:custDataLst>
              <p:tags r:id="rId1"/>
            </p:custDataLst>
          </p:nvPr>
        </p:nvSpPr>
        <p:spPr>
          <a:xfrm>
            <a:off x="1703512" y="1196752"/>
            <a:ext cx="9649072" cy="488176"/>
          </a:xfrm>
          <a:prstGeom prst="rect">
            <a:avLst/>
          </a:prstGeom>
          <a:noFill/>
          <a:ln w="19050">
            <a:solidFill>
              <a:srgbClr val="102A8D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>
                <a:solidFill>
                  <a:schemeClr val="accent3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rgbClr val="102A8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脉冲加热技术概要</a:t>
            </a:r>
            <a:endParaRPr lang="zh-CN" altLang="en-US" b="1">
              <a:solidFill>
                <a:srgbClr val="102A8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4"/>
          <p:cNvSpPr txBox="1"/>
          <p:nvPr>
            <p:custDataLst>
              <p:tags r:id="rId2"/>
            </p:custDataLst>
          </p:nvPr>
        </p:nvSpPr>
        <p:spPr>
          <a:xfrm>
            <a:off x="982788" y="1196752"/>
            <a:ext cx="576263" cy="488176"/>
          </a:xfrm>
          <a:prstGeom prst="rect">
            <a:avLst/>
          </a:prstGeom>
          <a:solidFill>
            <a:srgbClr val="102A8D"/>
          </a:solidFill>
          <a:effectLst/>
        </p:spPr>
        <p:txBody>
          <a:bodyPr lIns="68589" tIns="34295" rIns="68589" bIns="34295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5"/>
          <p:cNvSpPr txBox="1"/>
          <p:nvPr>
            <p:custDataLst>
              <p:tags r:id="rId3"/>
            </p:custDataLst>
          </p:nvPr>
        </p:nvSpPr>
        <p:spPr>
          <a:xfrm>
            <a:off x="1704340" y="1900555"/>
            <a:ext cx="9648190" cy="488315"/>
          </a:xfrm>
          <a:prstGeom prst="rect">
            <a:avLst/>
          </a:prstGeom>
          <a:noFill/>
          <a:ln w="19050">
            <a:solidFill>
              <a:srgbClr val="152A8C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>
                <a:solidFill>
                  <a:schemeClr val="accent3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方案</a:t>
            </a: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展示</a:t>
            </a:r>
            <a:endParaRPr lang="zh-CN" altLang="en-US" b="1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4"/>
          <p:cNvSpPr txBox="1"/>
          <p:nvPr>
            <p:custDataLst>
              <p:tags r:id="rId4"/>
            </p:custDataLst>
          </p:nvPr>
        </p:nvSpPr>
        <p:spPr>
          <a:xfrm>
            <a:off x="983557" y="1900532"/>
            <a:ext cx="576263" cy="488176"/>
          </a:xfrm>
          <a:prstGeom prst="rect">
            <a:avLst/>
          </a:prstGeom>
          <a:solidFill>
            <a:srgbClr val="152A8C"/>
          </a:solidFill>
          <a:effectLst/>
        </p:spPr>
        <p:txBody>
          <a:bodyPr lIns="68589" tIns="34295" rIns="68589" bIns="34295"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5"/>
          <p:cNvSpPr txBox="1"/>
          <p:nvPr>
            <p:custDataLst>
              <p:tags r:id="rId5"/>
            </p:custDataLst>
          </p:nvPr>
        </p:nvSpPr>
        <p:spPr>
          <a:xfrm>
            <a:off x="1711921" y="2599776"/>
            <a:ext cx="9648303" cy="488176"/>
          </a:xfrm>
          <a:prstGeom prst="rect">
            <a:avLst/>
          </a:prstGeom>
          <a:noFill/>
          <a:ln w="19050">
            <a:solidFill>
              <a:srgbClr val="152A8C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>
                <a:solidFill>
                  <a:schemeClr val="accent3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研究路线</a:t>
            </a:r>
            <a:endParaRPr lang="zh-CN" altLang="en-US" b="1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4"/>
          <p:cNvSpPr txBox="1"/>
          <p:nvPr>
            <p:custDataLst>
              <p:tags r:id="rId6"/>
            </p:custDataLst>
          </p:nvPr>
        </p:nvSpPr>
        <p:spPr>
          <a:xfrm>
            <a:off x="991197" y="2599776"/>
            <a:ext cx="576263" cy="488176"/>
          </a:xfrm>
          <a:prstGeom prst="rect">
            <a:avLst/>
          </a:prstGeom>
          <a:solidFill>
            <a:srgbClr val="152A8C"/>
          </a:solidFill>
          <a:effectLst/>
        </p:spPr>
        <p:txBody>
          <a:bodyPr lIns="68589" tIns="34295" rIns="68589" bIns="34295" anchor="ctr"/>
          <a:lstStyle/>
          <a:p>
            <a:pPr algn="ctr">
              <a:defRPr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endParaRPr lang="zh-CN" altLang="en-US" sz="2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5"/>
          <p:cNvSpPr txBox="1"/>
          <p:nvPr>
            <p:custDataLst>
              <p:tags r:id="rId7"/>
            </p:custDataLst>
          </p:nvPr>
        </p:nvSpPr>
        <p:spPr>
          <a:xfrm>
            <a:off x="1703666" y="3285576"/>
            <a:ext cx="9648303" cy="488176"/>
          </a:xfrm>
          <a:prstGeom prst="rect">
            <a:avLst/>
          </a:prstGeom>
          <a:noFill/>
          <a:ln w="19050">
            <a:solidFill>
              <a:srgbClr val="152A8C"/>
            </a:solidFill>
          </a:ln>
          <a:effectLst/>
        </p:spPr>
        <p:txBody>
          <a:bodyPr lIns="68589" tIns="34295" rIns="68589" bIns="34295" anchor="ctr"/>
          <a:lstStyle>
            <a:defPPr>
              <a:defRPr lang="en-US"/>
            </a:defPPr>
            <a:lvl1pPr>
              <a:defRPr sz="2400">
                <a:solidFill>
                  <a:schemeClr val="accent3"/>
                </a:solidFill>
                <a:latin typeface="方正兰亭中黑_GBK" panose="02000000000000000000" pitchFamily="2" charset="-122"/>
                <a:ea typeface="方正兰亭中黑_GBK" panose="02000000000000000000" pitchFamily="2" charset="-122"/>
              </a:defRPr>
            </a:lvl1pPr>
          </a:lstStyle>
          <a:p>
            <a:pPr>
              <a:defRPr/>
            </a:pP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资源需求</a:t>
            </a:r>
            <a:r>
              <a:rPr lang="zh-CN" altLang="en-US" b="1">
                <a:solidFill>
                  <a:srgbClr val="152A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整理</a:t>
            </a:r>
            <a:endParaRPr lang="zh-CN" altLang="en-US" b="1">
              <a:solidFill>
                <a:srgbClr val="152A8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4"/>
          <p:cNvSpPr txBox="1"/>
          <p:nvPr>
            <p:custDataLst>
              <p:tags r:id="rId8"/>
            </p:custDataLst>
          </p:nvPr>
        </p:nvSpPr>
        <p:spPr>
          <a:xfrm>
            <a:off x="982942" y="3285576"/>
            <a:ext cx="576263" cy="488176"/>
          </a:xfrm>
          <a:prstGeom prst="rect">
            <a:avLst/>
          </a:prstGeom>
          <a:solidFill>
            <a:srgbClr val="152A8C"/>
          </a:solidFill>
          <a:effectLst/>
        </p:spPr>
        <p:txBody>
          <a:bodyPr lIns="68589" tIns="34295" rIns="68589" bIns="34295" anchor="ctr"/>
          <a:lstStyle/>
          <a:p>
            <a:pPr algn="ctr">
              <a:defRPr/>
            </a:pPr>
            <a:r>
              <a:rPr lang="zh-CN" altLang="en-US"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endParaRPr lang="zh-CN" altLang="en-US" sz="24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/>
              <a:t>一</a:t>
            </a:r>
            <a:r>
              <a:rPr lang="en-US" altLang="zh-CN"/>
              <a:t>.</a:t>
            </a:r>
            <a:r>
              <a:rPr lang="zh-CN" altLang="en-US"/>
              <a:t>脉冲加热</a:t>
            </a:r>
            <a:r>
              <a:rPr lang="zh-CN" altLang="en-US" dirty="0" err="1" smtClean="0">
                <a:solidFill>
                  <a:srgbClr val="003B90"/>
                </a:solidFill>
                <a:latin typeface="+mj-lt"/>
                <a:sym typeface="+mn-ea"/>
              </a:rPr>
              <a:t>技术</a:t>
            </a:r>
            <a:r>
              <a:rPr lang="zh-CN" altLang="en-US" dirty="0" err="1" smtClean="0">
                <a:solidFill>
                  <a:srgbClr val="003B90"/>
                </a:solidFill>
                <a:latin typeface="+mj-lt"/>
                <a:sym typeface="+mn-ea"/>
              </a:rPr>
              <a:t>概要</a:t>
            </a:r>
            <a:endParaRPr lang="zh-CN" altLang="en-US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79425" y="908685"/>
            <a:ext cx="11242675" cy="112395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可行性分析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 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：脉冲加热技术具有</a:t>
            </a:r>
            <a:r>
              <a:rPr lang="zh-CN" altLang="en-US" sz="1400" b="1" dirty="0" err="1" smtClean="0">
                <a:solidFill>
                  <a:srgbClr val="152A8C"/>
                </a:solidFill>
                <a:latin typeface="+mj-lt"/>
              </a:rPr>
              <a:t>加热速率快、能耗低、温度均匀性好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的优势。通过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</a:rPr>
              <a:t>复用车辆电驱动系统组件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和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</a:rPr>
              <a:t>软件控制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，已在比亚迪等主流车企的乘用车型上验证应用，而针对商用车的应用处于台架与整车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测试阶段。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技术价值：打造整车在低温场景下节能和高品质竞争力。目标加热速率</a:t>
            </a:r>
            <a:r>
              <a:rPr lang="en-US" altLang="zh-CN" sz="1400" b="1" dirty="0" err="1" smtClean="0">
                <a:solidFill>
                  <a:srgbClr val="152A8C"/>
                </a:solidFill>
                <a:latin typeface="+mj-lt"/>
              </a:rPr>
              <a:t>&gt;</a:t>
            </a:r>
            <a:r>
              <a:rPr lang="en-US" altLang="zh-CN" sz="1400" b="1" dirty="0" err="1" smtClean="0">
                <a:solidFill>
                  <a:srgbClr val="C00000"/>
                </a:solidFill>
                <a:latin typeface="+mj-lt"/>
              </a:rPr>
              <a:t>1℃/min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，等待时间</a:t>
            </a:r>
            <a:r>
              <a:rPr lang="zh-CN" altLang="en-US" sz="1400" b="1" dirty="0" err="1" smtClean="0">
                <a:solidFill>
                  <a:srgbClr val="152A8C"/>
                </a:solidFill>
                <a:latin typeface="+mj-lt"/>
              </a:rPr>
              <a:t>减少</a:t>
            </a:r>
            <a:r>
              <a:rPr lang="en-US" altLang="zh-CN" sz="1400" b="1" dirty="0" err="1" smtClean="0">
                <a:solidFill>
                  <a:srgbClr val="C00000"/>
                </a:solidFill>
                <a:latin typeface="+mj-lt"/>
              </a:rPr>
              <a:t>30%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，省电</a:t>
            </a:r>
            <a:r>
              <a:rPr lang="en-US" altLang="zh-CN" sz="1400" b="1" dirty="0" err="1" smtClean="0">
                <a:solidFill>
                  <a:srgbClr val="C00000"/>
                </a:solidFill>
                <a:latin typeface="+mj-lt"/>
              </a:rPr>
              <a:t>1.6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</a:rPr>
              <a:t>度</a:t>
            </a:r>
            <a:r>
              <a:rPr lang="zh-CN" altLang="en-US" sz="1400" b="1" dirty="0" err="1" smtClean="0">
                <a:solidFill>
                  <a:srgbClr val="152A8C"/>
                </a:solidFill>
                <a:latin typeface="+mj-lt"/>
                <a:sym typeface="+mn-ea"/>
              </a:rPr>
              <a:t>以上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。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</a:endParaRPr>
          </a:p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风险评估：不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合理的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  <a:sym typeface="+mn-ea"/>
              </a:rPr>
              <a:t>脉冲方案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可能导致电池性能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衰退、电机噪音与机械损伤的问题，对</a:t>
            </a:r>
            <a:r>
              <a:rPr lang="zh-CN" altLang="en-US" sz="1400" b="1" dirty="0" err="1" smtClean="0">
                <a:solidFill>
                  <a:srgbClr val="C00000"/>
                </a:solidFill>
                <a:latin typeface="+mj-lt"/>
                <a:sym typeface="+mn-ea"/>
              </a:rPr>
              <a:t>控制系统可靠性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提出了更高的要求。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77520" y="6381750"/>
            <a:ext cx="11242675" cy="36703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启示点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 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：脉冲加热技术有望成为商用车低温场景的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有效解决方案。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755650" y="2067560"/>
          <a:ext cx="300609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030"/>
                <a:gridCol w="1002030"/>
                <a:gridCol w="1002030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加热方式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传统</a:t>
                      </a:r>
                      <a:r>
                        <a:rPr lang="en-US" altLang="zh-CN" sz="1000"/>
                        <a:t>PTC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脉冲加热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温升速率</a:t>
                      </a:r>
                      <a:r>
                        <a:rPr lang="en-US" altLang="zh-CN" sz="1000"/>
                        <a:t>(℃/min)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0.15~0.6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1~1.4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电量损失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5%~8%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3.6%~6.6%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能耗效率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46%~53%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58%~63%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温度均匀性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&gt;10℃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&lt;5℃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cxnSp>
        <p:nvCxnSpPr>
          <p:cNvPr id="9" name="直接连接符 8"/>
          <p:cNvCxnSpPr/>
          <p:nvPr/>
        </p:nvCxnSpPr>
        <p:spPr>
          <a:xfrm>
            <a:off x="4500245" y="5824220"/>
            <a:ext cx="2433320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7489825" y="2199005"/>
            <a:ext cx="3810" cy="392557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16" name="表格 15"/>
          <p:cNvGraphicFramePr/>
          <p:nvPr>
            <p:custDataLst>
              <p:tags r:id="rId2"/>
            </p:custDataLst>
          </p:nvPr>
        </p:nvGraphicFramePr>
        <p:xfrm>
          <a:off x="7824470" y="2069465"/>
          <a:ext cx="4080510" cy="2511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340"/>
                <a:gridCol w="958850"/>
                <a:gridCol w="723900"/>
                <a:gridCol w="1582420"/>
              </a:tblGrid>
              <a:tr h="2749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风险类型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风险点</a:t>
                      </a:r>
                      <a:r>
                        <a:rPr lang="en-US" altLang="zh-CN" sz="1000"/>
                        <a:t> 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900"/>
                        <a:t>风险等级</a:t>
                      </a:r>
                      <a:r>
                        <a:rPr lang="en-US" altLang="zh-CN" sz="900"/>
                        <a:t> </a:t>
                      </a:r>
                      <a:endParaRPr lang="en-US" altLang="zh-CN" sz="9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控制措施</a:t>
                      </a:r>
                      <a:r>
                        <a:rPr lang="en-US" altLang="zh-CN" sz="1000"/>
                        <a:t> 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457835"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 dirty="0" err="1" smtClean="0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电池</a:t>
                      </a:r>
                      <a:endParaRPr lang="zh-CN" altLang="en-US" sz="1000" b="0" dirty="0" err="1" smtClean="0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000" b="0" dirty="0" err="1" smtClean="0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电化学</a:t>
                      </a:r>
                      <a:endParaRPr lang="zh-CN" altLang="en-US" sz="1000" b="0" dirty="0" err="1" smtClean="0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容量衰减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中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脉冲参数优化、</a:t>
                      </a:r>
                      <a:endParaRPr lang="zh-CN" altLang="en-US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策略控制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470"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充电析锂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高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电压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电流边界管理、</a:t>
                      </a:r>
                      <a:endParaRPr lang="zh-CN" altLang="en-US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高频电流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03860">
                <a:tc row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 b="0" dirty="0" err="1" smtClean="0">
                          <a:solidFill>
                            <a:schemeClr val="tx1"/>
                          </a:solidFill>
                          <a:latin typeface="+mj-lt"/>
                          <a:sym typeface="+mn-ea"/>
                        </a:rPr>
                        <a:t>电机系统</a:t>
                      </a:r>
                      <a:endParaRPr lang="zh-CN" altLang="en-US" sz="1000" b="0" dirty="0" err="1" smtClean="0">
                        <a:solidFill>
                          <a:schemeClr val="tx1"/>
                        </a:solidFill>
                        <a:latin typeface="+mj-lt"/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电机噪声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中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频率调制、相位控制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8470"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电机损伤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低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热损伤监控、</a:t>
                      </a:r>
                      <a:endParaRPr lang="zh-CN" altLang="en-US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主动热管理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835">
                <a:tc vMerge="1"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布局改动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中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复用电机</a:t>
                      </a:r>
                      <a:r>
                        <a:rPr lang="zh-CN" altLang="en-US" sz="1000"/>
                        <a:t>和控制器、拓扑结构优化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7877810" y="4908550"/>
            <a:ext cx="4213860" cy="1332865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marL="285750" indent="-285750" algn="l">
              <a:spcBef>
                <a:spcPts val="600"/>
              </a:spcBef>
              <a:buFont typeface="Wingdings" panose="05000000000000000000" charset="0"/>
              <a:buChar char="ü"/>
            </a:pPr>
            <a:r>
              <a:rPr lang="en-US" altLang="zh-CN" sz="1400" b="1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关键举措：</a:t>
            </a:r>
            <a:r>
              <a:rPr lang="en-US" altLang="zh-CN" sz="1400" b="1" dirty="0" err="1" smtClean="0">
                <a:solidFill>
                  <a:srgbClr val="C00000"/>
                </a:solidFill>
                <a:latin typeface="Calibri" panose="020F0502020204030204" charset="0"/>
                <a:sym typeface="+mn-ea"/>
              </a:rPr>
              <a:t>自主研发</a:t>
            </a:r>
            <a:endParaRPr lang="zh-CN" altLang="en-US" sz="1400" b="1" dirty="0" err="1" smtClean="0">
              <a:solidFill>
                <a:srgbClr val="003B90"/>
              </a:solidFill>
              <a:latin typeface="+mj-lt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①</a:t>
            </a:r>
            <a:r>
              <a:rPr lang="zh-CN" altLang="en-US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环境温度自适应电芯脉冲加热算法开发</a:t>
            </a:r>
            <a:r>
              <a:rPr lang="en-US" altLang="zh-CN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——</a:t>
            </a:r>
            <a:endParaRPr lang="en-US" altLang="zh-CN" sz="1200" dirty="0" err="1" smtClean="0">
              <a:solidFill>
                <a:srgbClr val="152A8C"/>
              </a:solidFill>
              <a:latin typeface="Calibri" panose="020F0502020204030204" charset="0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    </a:t>
            </a:r>
            <a:r>
              <a:rPr lang="zh-CN" altLang="en-US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合理平衡电芯加热速度与电池电机的</a:t>
            </a:r>
            <a:r>
              <a:rPr lang="zh-CN" altLang="en-US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可靠耐久；</a:t>
            </a:r>
            <a:endParaRPr lang="zh-CN" altLang="en-US" sz="1200" dirty="0" err="1" smtClean="0">
              <a:solidFill>
                <a:srgbClr val="152A8C"/>
              </a:solidFill>
              <a:latin typeface="Calibri" panose="020F0502020204030204" charset="0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200" dirty="0" err="1" smtClean="0">
                <a:solidFill>
                  <a:srgbClr val="152A8C"/>
                </a:solidFill>
                <a:latin typeface="Calibri" panose="020F0502020204030204" charset="0"/>
                <a:sym typeface="+mn-ea"/>
              </a:rPr>
              <a:t>②</a:t>
            </a:r>
            <a:r>
              <a:rPr lang="zh-CN" altLang="en-US" sz="1200" dirty="0" err="1" smtClean="0">
                <a:solidFill>
                  <a:srgbClr val="152A8C"/>
                </a:solidFill>
                <a:latin typeface="+mj-lt"/>
                <a:sym typeface="+mn-ea"/>
              </a:rPr>
              <a:t>多电池组间均衡加热拓扑结构设计</a:t>
            </a:r>
            <a:r>
              <a:rPr lang="en-US" altLang="zh-CN" sz="1200" dirty="0" err="1" smtClean="0">
                <a:solidFill>
                  <a:srgbClr val="152A8C"/>
                </a:solidFill>
                <a:latin typeface="+mj-lt"/>
                <a:sym typeface="+mn-ea"/>
              </a:rPr>
              <a:t>——</a:t>
            </a:r>
            <a:endParaRPr lang="en-US" altLang="zh-CN" sz="1200" dirty="0" err="1" smtClean="0">
              <a:solidFill>
                <a:srgbClr val="152A8C"/>
              </a:solidFill>
              <a:latin typeface="+mj-lt"/>
              <a:sym typeface="+mn-ea"/>
            </a:endParaRPr>
          </a:p>
          <a:p>
            <a:pPr indent="0" algn="l">
              <a:spcBef>
                <a:spcPts val="600"/>
              </a:spcBef>
              <a:buFont typeface="Wingdings" panose="05000000000000000000" charset="0"/>
              <a:buNone/>
            </a:pPr>
            <a:r>
              <a:rPr lang="en-US" altLang="zh-CN" sz="1200" dirty="0" err="1" smtClean="0">
                <a:solidFill>
                  <a:srgbClr val="152A8C"/>
                </a:solidFill>
                <a:latin typeface="+mj-lt"/>
                <a:sym typeface="+mn-ea"/>
              </a:rPr>
              <a:t>   </a:t>
            </a:r>
            <a:r>
              <a:rPr lang="zh-CN" altLang="en-US" sz="1200" dirty="0" err="1" smtClean="0">
                <a:solidFill>
                  <a:srgbClr val="152A8C"/>
                </a:solidFill>
                <a:latin typeface="+mj-lt"/>
                <a:sym typeface="+mn-ea"/>
              </a:rPr>
              <a:t>解决商用车多电池组间的脉冲配合</a:t>
            </a:r>
            <a:r>
              <a:rPr lang="zh-CN" altLang="en-US" sz="1200" dirty="0" err="1" smtClean="0">
                <a:solidFill>
                  <a:srgbClr val="152A8C"/>
                </a:solidFill>
                <a:latin typeface="+mj-lt"/>
                <a:sym typeface="+mn-ea"/>
              </a:rPr>
              <a:t>难题；</a:t>
            </a:r>
            <a:endParaRPr lang="zh-CN" altLang="en-US" sz="1200" dirty="0" err="1" smtClean="0">
              <a:solidFill>
                <a:srgbClr val="152A8C"/>
              </a:solidFill>
              <a:latin typeface="+mj-lt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66200" y="4580890"/>
            <a:ext cx="1995170" cy="31369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200" b="1" dirty="0" err="1" smtClean="0">
                <a:solidFill>
                  <a:srgbClr val="003B90"/>
                </a:solidFill>
                <a:latin typeface="+mj-lt"/>
              </a:rPr>
              <a:t>表</a:t>
            </a:r>
            <a:r>
              <a:rPr lang="en-US" altLang="zh-CN" sz="1200" b="1" dirty="0" err="1" smtClean="0">
                <a:solidFill>
                  <a:srgbClr val="003B90"/>
                </a:solidFill>
                <a:latin typeface="+mj-lt"/>
              </a:rPr>
              <a:t>3 </a:t>
            </a:r>
            <a:r>
              <a:rPr lang="zh-CN" altLang="en-US" sz="1200" b="1" dirty="0" err="1" smtClean="0">
                <a:solidFill>
                  <a:srgbClr val="003B90"/>
                </a:solidFill>
                <a:latin typeface="+mj-lt"/>
              </a:rPr>
              <a:t>脉冲加热技术风险分析</a:t>
            </a:r>
            <a:endParaRPr lang="zh-CN" altLang="en-US" sz="1200" b="1" dirty="0" err="1" smtClean="0">
              <a:solidFill>
                <a:srgbClr val="003B90"/>
              </a:solidFill>
              <a:latin typeface="+mj-lt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3"/>
            </p:custDataLst>
          </p:nvPr>
        </p:nvGraphicFramePr>
        <p:xfrm>
          <a:off x="468630" y="3749040"/>
          <a:ext cx="357695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640"/>
                <a:gridCol w="927735"/>
                <a:gridCol w="970915"/>
                <a:gridCol w="875665"/>
              </a:tblGrid>
              <a:tr h="243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车企</a:t>
                      </a:r>
                      <a:r>
                        <a:rPr lang="en-US" altLang="zh-CN" sz="1000"/>
                        <a:t>/</a:t>
                      </a:r>
                      <a:r>
                        <a:rPr lang="zh-CN" altLang="en-US" sz="1000"/>
                        <a:t>车型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硬件</a:t>
                      </a:r>
                      <a:r>
                        <a:rPr lang="zh-CN" altLang="en-US" sz="1000"/>
                        <a:t>架构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控制策略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性能表现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比亚迪</a:t>
                      </a:r>
                      <a:r>
                        <a:rPr lang="en-US" altLang="zh-CN" sz="1000"/>
                        <a:t>/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腾势</a:t>
                      </a:r>
                      <a:r>
                        <a:rPr lang="en-US" altLang="zh-CN" sz="1000"/>
                        <a:t>N7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三相单电机中性点引出，</a:t>
                      </a:r>
                      <a:r>
                        <a:rPr lang="zh-CN" altLang="en-US" sz="1000">
                          <a:solidFill>
                            <a:srgbClr val="B10011"/>
                          </a:solidFill>
                        </a:rPr>
                        <a:t>双电池组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模糊</a:t>
                      </a:r>
                      <a:r>
                        <a:rPr lang="en-US" altLang="zh-CN" sz="1000">
                          <a:sym typeface="+mn-ea"/>
                        </a:rPr>
                        <a:t>PID</a:t>
                      </a:r>
                      <a:r>
                        <a:rPr lang="zh-CN" altLang="en-US" sz="1000">
                          <a:sym typeface="+mn-ea"/>
                        </a:rPr>
                        <a:t>控制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/>
                        <a:t>4~6℃/min(-30℃)</a:t>
                      </a:r>
                      <a:r>
                        <a:rPr lang="zh-CN" altLang="en-US" sz="1000"/>
                        <a:t>；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长安</a:t>
                      </a:r>
                      <a:r>
                        <a:rPr lang="en-US" altLang="zh-CN" sz="1000"/>
                        <a:t>/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深蓝</a:t>
                      </a:r>
                      <a:r>
                        <a:rPr lang="en-US" altLang="zh-CN" sz="1000"/>
                        <a:t>SL03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三相单电机，单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sym typeface="+mn-ea"/>
                        </a:rPr>
                        <a:t>电池组</a:t>
                      </a:r>
                      <a:r>
                        <a:rPr lang="zh-CN" altLang="en-US" sz="1000">
                          <a:sym typeface="+mn-ea"/>
                        </a:rPr>
                        <a:t>，</a:t>
                      </a:r>
                      <a:r>
                        <a:rPr lang="zh-CN" altLang="en-US" sz="1000">
                          <a:solidFill>
                            <a:srgbClr val="B10011"/>
                          </a:solidFill>
                        </a:rPr>
                        <a:t>外置电感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1000"/>
                        <a:t>PWM</a:t>
                      </a:r>
                      <a:r>
                        <a:rPr lang="zh-CN" altLang="en-US" sz="1000"/>
                        <a:t>占空比调节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4℃/min</a:t>
                      </a:r>
                      <a:endParaRPr lang="en-US" altLang="zh-CN" sz="10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(-30℃)</a:t>
                      </a:r>
                      <a:endParaRPr lang="en-US" altLang="zh-CN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86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东风</a:t>
                      </a:r>
                      <a:r>
                        <a:rPr lang="en-US" altLang="zh-CN" sz="1000"/>
                        <a:t>/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实车测试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三相单电机，单</a:t>
                      </a:r>
                      <a:r>
                        <a:rPr lang="zh-CN" altLang="en-US" sz="1000">
                          <a:solidFill>
                            <a:schemeClr val="tx1"/>
                          </a:solidFill>
                          <a:sym typeface="+mn-ea"/>
                        </a:rPr>
                        <a:t>电池组，</a:t>
                      </a:r>
                      <a:r>
                        <a:rPr lang="zh-CN" altLang="en-US" sz="1000">
                          <a:solidFill>
                            <a:srgbClr val="C00000"/>
                          </a:solidFill>
                          <a:sym typeface="+mn-ea"/>
                        </a:rPr>
                        <a:t>热管理改制</a:t>
                      </a:r>
                      <a:endParaRPr lang="zh-CN" altLang="en-US" sz="1000">
                        <a:solidFill>
                          <a:srgbClr val="C00000"/>
                        </a:solidFill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ym typeface="+mn-ea"/>
                        </a:rPr>
                        <a:t>开关管占空比</a:t>
                      </a:r>
                      <a:r>
                        <a:rPr lang="zh-CN" altLang="en-US" sz="1000">
                          <a:sym typeface="+mn-ea"/>
                        </a:rPr>
                        <a:t>调节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1.1℃/min</a:t>
                      </a:r>
                      <a:endParaRPr lang="en-US" altLang="zh-CN" sz="1000">
                        <a:sym typeface="+mn-ea"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(-20</a:t>
                      </a:r>
                      <a:r>
                        <a:rPr lang="en-US" altLang="zh-CN" sz="1000">
                          <a:sym typeface="+mn-ea"/>
                        </a:rPr>
                        <a:t>℃)</a:t>
                      </a:r>
                      <a:endParaRPr lang="zh-CN" altLang="en-US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华为</a:t>
                      </a:r>
                      <a:r>
                        <a:rPr lang="en-US" altLang="zh-CN" sz="1000"/>
                        <a:t>/</a:t>
                      </a:r>
                      <a:endParaRPr lang="en-US" altLang="zh-CN" sz="1000"/>
                    </a:p>
                    <a:p>
                      <a:pPr algn="ctr">
                        <a:buNone/>
                      </a:pPr>
                      <a:r>
                        <a:rPr lang="zh-CN" altLang="en-US" sz="1000"/>
                        <a:t>台架测试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>
                          <a:solidFill>
                            <a:srgbClr val="C00000"/>
                          </a:solidFill>
                          <a:sym typeface="+mn-ea"/>
                        </a:rPr>
                        <a:t>三相双电机协同</a:t>
                      </a:r>
                      <a:endParaRPr lang="en-US" altLang="zh-CN" sz="1000">
                        <a:sym typeface="+mn-ea"/>
                      </a:endParaRPr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000"/>
                        <a:t>相位差调整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000"/>
                        <a:t>无</a:t>
                      </a:r>
                      <a:r>
                        <a:rPr lang="zh-CN" altLang="en-US" sz="1000"/>
                        <a:t>实车数据</a:t>
                      </a:r>
                      <a:endParaRPr lang="zh-CN" altLang="en-US" sz="1000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1476375" y="3452495"/>
            <a:ext cx="1741805" cy="22606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200" b="1">
                <a:solidFill>
                  <a:srgbClr val="152A8C"/>
                </a:solidFill>
              </a:rPr>
              <a:t>表</a:t>
            </a:r>
            <a:r>
              <a:rPr lang="en-US" altLang="zh-CN" sz="1200" b="1">
                <a:solidFill>
                  <a:srgbClr val="152A8C"/>
                </a:solidFill>
              </a:rPr>
              <a:t>1 </a:t>
            </a:r>
            <a:r>
              <a:rPr lang="zh-CN" altLang="en-US" sz="1200" b="1">
                <a:solidFill>
                  <a:srgbClr val="152A8C"/>
                </a:solidFill>
              </a:rPr>
              <a:t>低温加热技术比较</a:t>
            </a:r>
            <a:endParaRPr lang="zh-CN" altLang="en-US" sz="1200" b="1">
              <a:solidFill>
                <a:srgbClr val="152A8C"/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60475" y="6044565"/>
            <a:ext cx="2085340" cy="22606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200" b="1">
                <a:solidFill>
                  <a:srgbClr val="152A8C"/>
                </a:solidFill>
              </a:rPr>
              <a:t>表</a:t>
            </a:r>
            <a:r>
              <a:rPr lang="en-US" altLang="zh-CN" sz="1200" b="1">
                <a:solidFill>
                  <a:srgbClr val="152A8C"/>
                </a:solidFill>
              </a:rPr>
              <a:t>2 </a:t>
            </a:r>
            <a:r>
              <a:rPr lang="zh-CN" altLang="en-US" sz="1200" b="1">
                <a:solidFill>
                  <a:srgbClr val="152A8C"/>
                </a:solidFill>
              </a:rPr>
              <a:t>各主流车企脉冲加热</a:t>
            </a:r>
            <a:r>
              <a:rPr lang="zh-CN" altLang="en-US" sz="1200" b="1">
                <a:solidFill>
                  <a:srgbClr val="152A8C"/>
                </a:solidFill>
              </a:rPr>
              <a:t>方案</a:t>
            </a:r>
            <a:endParaRPr lang="zh-CN" altLang="en-US" sz="1200" b="1">
              <a:solidFill>
                <a:srgbClr val="152A8C"/>
              </a:solidFill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4213225" y="2211705"/>
            <a:ext cx="3810" cy="3925570"/>
          </a:xfrm>
          <a:prstGeom prst="line">
            <a:avLst/>
          </a:prstGeom>
          <a:ln>
            <a:prstDash val="lg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4802505" y="5513070"/>
            <a:ext cx="76835" cy="76835"/>
          </a:xfrm>
          <a:prstGeom prst="ellips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0" name="直接连接符 29"/>
          <p:cNvCxnSpPr>
            <a:endCxn id="31" idx="3"/>
          </p:cNvCxnSpPr>
          <p:nvPr/>
        </p:nvCxnSpPr>
        <p:spPr>
          <a:xfrm flipV="1">
            <a:off x="4854575" y="4947920"/>
            <a:ext cx="1686560" cy="5753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6529705" y="4882515"/>
            <a:ext cx="76835" cy="76835"/>
          </a:xfrm>
          <a:prstGeom prst="ellips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4401185" y="3097530"/>
            <a:ext cx="1609725" cy="8629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b="1" dirty="0" err="1" smtClean="0">
                <a:solidFill>
                  <a:srgbClr val="003B90"/>
                </a:solidFill>
                <a:latin typeface="+mj-lt"/>
              </a:rPr>
              <a:t>解放现有</a:t>
            </a:r>
            <a:r>
              <a:rPr lang="en-US" altLang="zh-CN" sz="1000" b="1" dirty="0" err="1" smtClean="0">
                <a:solidFill>
                  <a:srgbClr val="003B90"/>
                </a:solidFill>
                <a:latin typeface="+mj-lt"/>
              </a:rPr>
              <a:t>PTC</a:t>
            </a:r>
            <a:r>
              <a:rPr lang="zh-CN" altLang="en-US" sz="1000" b="1" dirty="0" err="1" smtClean="0">
                <a:solidFill>
                  <a:srgbClr val="003B90"/>
                </a:solidFill>
                <a:latin typeface="+mj-lt"/>
              </a:rPr>
              <a:t>加热</a:t>
            </a:r>
            <a:endParaRPr lang="zh-CN" altLang="en-US" sz="1000" b="1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①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加热速率：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0.15℃/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min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②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静态加热能耗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13kWh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③</a:t>
            </a: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加热时长</a:t>
            </a:r>
            <a:r>
              <a:rPr lang="en-US" altLang="zh-CN" sz="1000" dirty="0" err="1" smtClean="0">
                <a:solidFill>
                  <a:srgbClr val="003B90"/>
                </a:solidFill>
                <a:latin typeface="Calibri" panose="020F0502020204030204" charset="0"/>
              </a:rPr>
              <a:t>64</a:t>
            </a:r>
            <a:r>
              <a:rPr lang="en-US" altLang="zh-CN" sz="1000" dirty="0" err="1" smtClean="0">
                <a:solidFill>
                  <a:srgbClr val="003B90"/>
                </a:solidFill>
                <a:latin typeface="Calibri" panose="020F0502020204030204" charset="0"/>
              </a:rPr>
              <a:t>min</a:t>
            </a:r>
            <a:endParaRPr lang="en-US" altLang="zh-CN" sz="1000" dirty="0" err="1" smtClean="0">
              <a:solidFill>
                <a:srgbClr val="003B90"/>
              </a:solidFill>
              <a:latin typeface="Calibri" panose="020F050202020403020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5941695" y="3096260"/>
            <a:ext cx="1419860" cy="72834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b="1" dirty="0" err="1" smtClean="0">
                <a:solidFill>
                  <a:srgbClr val="003B90"/>
                </a:solidFill>
                <a:latin typeface="+mj-lt"/>
              </a:rPr>
              <a:t>解放脉冲加热</a:t>
            </a:r>
            <a:endParaRPr lang="zh-CN" altLang="en-US" sz="1000" b="1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①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加热速率：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&gt;1℃/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min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②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省电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1.6kWh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以上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Calibri" panose="020F0502020204030204" charset="0"/>
              </a:rPr>
              <a:t>③等待时间减少</a:t>
            </a:r>
            <a:r>
              <a:rPr lang="en-US" altLang="zh-CN" sz="1000" dirty="0" err="1" smtClean="0">
                <a:solidFill>
                  <a:srgbClr val="003B90"/>
                </a:solidFill>
                <a:latin typeface="Calibri" panose="020F0502020204030204" charset="0"/>
              </a:rPr>
              <a:t>30%</a:t>
            </a:r>
            <a:endParaRPr lang="en-US" altLang="zh-CN" sz="1000" dirty="0" err="1" smtClean="0">
              <a:solidFill>
                <a:srgbClr val="003B90"/>
              </a:solidFill>
              <a:latin typeface="Calibri" panose="020F0502020204030204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4711065" y="2163445"/>
            <a:ext cx="817880" cy="2774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/>
              <a:t>价值特性</a:t>
            </a:r>
            <a:endParaRPr lang="zh-CN" altLang="en-US" sz="1000" b="1"/>
          </a:p>
        </p:txBody>
      </p:sp>
      <p:sp>
        <p:nvSpPr>
          <p:cNvPr id="36" name="文本框 35"/>
          <p:cNvSpPr txBox="1"/>
          <p:nvPr/>
        </p:nvSpPr>
        <p:spPr>
          <a:xfrm>
            <a:off x="4662170" y="5820093"/>
            <a:ext cx="417830" cy="22479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  <a:sym typeface="+mn-ea"/>
              </a:rPr>
              <a:t>26.02</a:t>
            </a:r>
            <a:endParaRPr lang="en-US" altLang="zh-CN" sz="10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6367145" y="5820093"/>
            <a:ext cx="417830" cy="22479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  <a:sym typeface="+mn-ea"/>
              </a:rPr>
              <a:t>27.10</a:t>
            </a:r>
            <a:endParaRPr lang="en-US" altLang="zh-CN" sz="10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cxnSp>
        <p:nvCxnSpPr>
          <p:cNvPr id="38" name="直接连接符 37"/>
          <p:cNvCxnSpPr/>
          <p:nvPr/>
        </p:nvCxnSpPr>
        <p:spPr>
          <a:xfrm flipV="1">
            <a:off x="4854575" y="5770880"/>
            <a:ext cx="0" cy="49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6583045" y="5770880"/>
            <a:ext cx="0" cy="49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6075680" y="5079365"/>
            <a:ext cx="1028700" cy="44577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商用车首发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应用纯电车型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cxnSp>
        <p:nvCxnSpPr>
          <p:cNvPr id="42" name="直接连接符 41"/>
          <p:cNvCxnSpPr/>
          <p:nvPr/>
        </p:nvCxnSpPr>
        <p:spPr>
          <a:xfrm flipV="1">
            <a:off x="5790565" y="5770245"/>
            <a:ext cx="0" cy="49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5621020" y="5820093"/>
            <a:ext cx="417830" cy="22479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  <a:sym typeface="+mn-ea"/>
              </a:rPr>
              <a:t>26.12</a:t>
            </a:r>
            <a:endParaRPr lang="en-US" altLang="zh-CN" sz="10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cxnSp>
        <p:nvCxnSpPr>
          <p:cNvPr id="49" name="直接连接符 48"/>
          <p:cNvCxnSpPr/>
          <p:nvPr/>
        </p:nvCxnSpPr>
        <p:spPr>
          <a:xfrm flipV="1">
            <a:off x="5329555" y="5770880"/>
            <a:ext cx="0" cy="49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5125720" y="5820093"/>
            <a:ext cx="417830" cy="224790"/>
          </a:xfrm>
          <a:prstGeom prst="rect">
            <a:avLst/>
          </a:prstGeom>
          <a:noFill/>
        </p:spPr>
        <p:txBody>
          <a:bodyPr wrap="square" lIns="36000" tIns="36000" rIns="36000" bIns="36000" rtlCol="0" anchor="t">
            <a:spAutoFit/>
          </a:bodyPr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  <a:sym typeface="+mn-ea"/>
              </a:rPr>
              <a:t>26.06</a:t>
            </a:r>
            <a:endParaRPr lang="en-US" altLang="zh-CN" sz="1000" dirty="0" err="1" smtClean="0">
              <a:solidFill>
                <a:srgbClr val="003B90"/>
              </a:solidFill>
              <a:latin typeface="+mj-lt"/>
              <a:sym typeface="+mn-ea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5752465" y="5162550"/>
            <a:ext cx="76835" cy="76835"/>
          </a:xfrm>
          <a:prstGeom prst="ellips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5293995" y="5325745"/>
            <a:ext cx="76835" cy="76835"/>
          </a:xfrm>
          <a:prstGeom prst="ellipse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5100955" y="5016500"/>
            <a:ext cx="482600" cy="1898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lnSpc>
                <a:spcPct val="8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PDCP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5581650" y="4853305"/>
            <a:ext cx="482600" cy="1898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lnSpc>
                <a:spcPct val="8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TDCP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4566920" y="5199380"/>
            <a:ext cx="482600" cy="18986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lnSpc>
                <a:spcPct val="80000"/>
              </a:lnSpc>
              <a:spcBef>
                <a:spcPts val="600"/>
              </a:spcBef>
            </a:pP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TDR1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5528945" y="2163445"/>
            <a:ext cx="1466850" cy="28956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高品质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低能耗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低成本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4711065" y="2163445"/>
            <a:ext cx="2285365" cy="28956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/>
        </p:nvSpPr>
        <p:spPr>
          <a:xfrm>
            <a:off x="4686300" y="4208780"/>
            <a:ext cx="817880" cy="277495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b="1"/>
              <a:t>技术节点</a:t>
            </a:r>
            <a:endParaRPr lang="zh-CN" altLang="en-US" sz="1000" b="1"/>
          </a:p>
        </p:txBody>
      </p:sp>
      <p:sp>
        <p:nvSpPr>
          <p:cNvPr id="63" name="矩形 62"/>
          <p:cNvSpPr/>
          <p:nvPr/>
        </p:nvSpPr>
        <p:spPr>
          <a:xfrm>
            <a:off x="4686300" y="4208780"/>
            <a:ext cx="2285365" cy="28956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/>
        </p:nvSpPr>
        <p:spPr>
          <a:xfrm>
            <a:off x="5506720" y="4210050"/>
            <a:ext cx="1466850" cy="28956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方案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策略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-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测试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4342130" y="2546985"/>
            <a:ext cx="3084195" cy="521970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171450" indent="-171450" algn="l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相较传统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PTC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加热，突破整车低温场景节能技术；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  <a:p>
            <a:pPr marL="171450" indent="-171450" algn="l">
              <a:spcBef>
                <a:spcPts val="600"/>
              </a:spcBef>
              <a:buFont typeface="Wingdings" panose="05000000000000000000" charset="0"/>
              <a:buChar char="Ø"/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满足用户长续航、高效运营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需求；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cxnSp>
        <p:nvCxnSpPr>
          <p:cNvPr id="69" name="直接连接符 68"/>
          <p:cNvCxnSpPr/>
          <p:nvPr/>
        </p:nvCxnSpPr>
        <p:spPr>
          <a:xfrm flipV="1">
            <a:off x="4509770" y="4580890"/>
            <a:ext cx="0" cy="124460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zh-CN" altLang="en-US">
                <a:sym typeface="+mn-ea"/>
              </a:rPr>
              <a:t>脉冲加热技术研究路线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504825" y="2374900"/>
          <a:ext cx="11137900" cy="404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8158"/>
                <a:gridCol w="928159"/>
                <a:gridCol w="937736"/>
                <a:gridCol w="918580"/>
                <a:gridCol w="928159"/>
                <a:gridCol w="928158"/>
                <a:gridCol w="928159"/>
                <a:gridCol w="936624"/>
                <a:gridCol w="919692"/>
                <a:gridCol w="928159"/>
                <a:gridCol w="928158"/>
                <a:gridCol w="928158"/>
              </a:tblGrid>
              <a:tr h="10083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solidFill>
                      <a:schemeClr val="accent1">
                        <a:lumMod val="20000"/>
                        <a:lumOff val="80000"/>
                        <a:alpha val="90000"/>
                      </a:schemeClr>
                    </a:solidFill>
                  </a:tcPr>
                </a:tc>
              </a:tr>
              <a:tr h="10083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  <a:tr h="10083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solidFill>
                      <a:srgbClr val="FFC000">
                        <a:alpha val="30000"/>
                      </a:srgbClr>
                    </a:solidFill>
                  </a:tcPr>
                </a:tc>
              </a:tr>
              <a:tr h="101854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28575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lgDash"/>
                    </a:lnL>
                    <a:lnR w="12700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lgDash"/>
                    </a:lnL>
                    <a:lnR w="12700" cmpd="sng">
                      <a:solidFill>
                        <a:schemeClr val="tx1"/>
                      </a:solidFill>
                      <a:prstDash val="lgDash"/>
                    </a:ln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 anchor="ctr" anchorCtr="0">
                    <a:lnL w="12700">
                      <a:solidFill>
                        <a:schemeClr val="tx1"/>
                      </a:solidFill>
                      <a:prstDash val="lgDash"/>
                    </a:lnL>
                    <a:lnR w="28575" cmpd="sng">
                      <a:solidFill>
                        <a:schemeClr val="tx1"/>
                      </a:solidFill>
                      <a:prstDash val="solid"/>
                    </a:lnR>
                    <a:noFill/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554355" y="2511425"/>
            <a:ext cx="2166620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b="1" dirty="0" err="1" smtClean="0">
                <a:solidFill>
                  <a:schemeClr val="tx1"/>
                </a:solidFill>
                <a:latin typeface="+mj-lt"/>
              </a:rPr>
              <a:t>阶段</a:t>
            </a:r>
            <a:r>
              <a:rPr lang="en-US" altLang="zh-CN" sz="1000" b="1" dirty="0" err="1" smtClean="0">
                <a:solidFill>
                  <a:schemeClr val="tx1"/>
                </a:solidFill>
                <a:latin typeface="+mj-lt"/>
              </a:rPr>
              <a:t>1 </a:t>
            </a:r>
            <a:r>
              <a:rPr lang="zh-CN" altLang="en-US" sz="1000" b="1" dirty="0" err="1" smtClean="0">
                <a:solidFill>
                  <a:schemeClr val="tx1"/>
                </a:solidFill>
                <a:latin typeface="+mj-lt"/>
                <a:sym typeface="+mn-ea"/>
              </a:rPr>
              <a:t>基础研究</a:t>
            </a:r>
            <a:endParaRPr lang="zh-CN" altLang="en-US" sz="1000" b="1" dirty="0" err="1" smtClean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25145" y="2439035"/>
            <a:ext cx="186309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电芯低温</a:t>
            </a:r>
            <a:r>
              <a:rPr lang="en-US" altLang="zh-CN" sz="1000"/>
              <a:t>/</a:t>
            </a:r>
            <a:r>
              <a:rPr lang="zh-CN" altLang="en-US" sz="1000"/>
              <a:t>脉冲加热性能</a:t>
            </a:r>
            <a:r>
              <a:rPr lang="zh-CN" altLang="en-US" sz="1000"/>
              <a:t>实验</a:t>
            </a:r>
            <a:endParaRPr lang="zh-CN" altLang="en-US" sz="1000"/>
          </a:p>
        </p:txBody>
      </p:sp>
      <p:sp>
        <p:nvSpPr>
          <p:cNvPr id="7" name="文本框 6"/>
          <p:cNvSpPr txBox="1"/>
          <p:nvPr/>
        </p:nvSpPr>
        <p:spPr>
          <a:xfrm>
            <a:off x="196850" y="6453505"/>
            <a:ext cx="7067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26</a:t>
            </a:r>
            <a:r>
              <a:rPr lang="zh-CN" altLang="en-US" sz="1200" dirty="0" err="1" smtClean="0">
                <a:solidFill>
                  <a:schemeClr val="tx1"/>
                </a:solidFill>
                <a:latin typeface="+mj-lt"/>
              </a:rPr>
              <a:t>年</a:t>
            </a: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1</a:t>
            </a:r>
            <a:r>
              <a:rPr lang="zh-CN" altLang="en-US" sz="1200" dirty="0" err="1" smtClean="0">
                <a:solidFill>
                  <a:schemeClr val="tx1"/>
                </a:solidFill>
                <a:latin typeface="+mj-lt"/>
              </a:rPr>
              <a:t>月</a:t>
            </a: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 </a:t>
            </a:r>
            <a:endParaRPr lang="en-US" altLang="zh-CN" sz="1200" dirty="0" err="1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278110" y="6453505"/>
            <a:ext cx="8210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26</a:t>
            </a:r>
            <a:r>
              <a:rPr lang="zh-CN" altLang="en-US" sz="1200" dirty="0" err="1" smtClean="0">
                <a:solidFill>
                  <a:schemeClr val="tx1"/>
                </a:solidFill>
                <a:latin typeface="+mj-lt"/>
              </a:rPr>
              <a:t>年</a:t>
            </a: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12</a:t>
            </a:r>
            <a:r>
              <a:rPr lang="zh-CN" altLang="en-US" sz="1200" dirty="0" err="1" smtClean="0">
                <a:solidFill>
                  <a:schemeClr val="tx1"/>
                </a:solidFill>
                <a:latin typeface="+mj-lt"/>
              </a:rPr>
              <a:t>月</a:t>
            </a: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 </a:t>
            </a:r>
            <a:endParaRPr lang="en-US" altLang="zh-CN" sz="1200" dirty="0" err="1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1918970" y="2677160"/>
            <a:ext cx="185674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电芯建模与电、热</a:t>
            </a:r>
            <a:r>
              <a:rPr lang="zh-CN" altLang="en-US" sz="1000"/>
              <a:t>性能验证</a:t>
            </a:r>
            <a:r>
              <a:rPr lang="en-US" altLang="zh-CN" sz="1000"/>
              <a:t> 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4733290" y="6453505"/>
            <a:ext cx="7067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26</a:t>
            </a:r>
            <a:r>
              <a:rPr lang="zh-CN" altLang="en-US" sz="1200" dirty="0" err="1" smtClean="0">
                <a:solidFill>
                  <a:schemeClr val="tx1"/>
                </a:solidFill>
                <a:latin typeface="+mj-lt"/>
              </a:rPr>
              <a:t>年</a:t>
            </a: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6</a:t>
            </a:r>
            <a:r>
              <a:rPr lang="zh-CN" altLang="en-US" sz="1200" dirty="0" err="1" smtClean="0">
                <a:solidFill>
                  <a:schemeClr val="tx1"/>
                </a:solidFill>
                <a:latin typeface="+mj-lt"/>
              </a:rPr>
              <a:t>月</a:t>
            </a: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 </a:t>
            </a:r>
            <a:endParaRPr lang="en-US" altLang="zh-CN" sz="1200" dirty="0" err="1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366645" y="2924810"/>
            <a:ext cx="1872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电池包三维建模与热性能验证</a:t>
            </a:r>
            <a:r>
              <a:rPr lang="en-US" altLang="zh-CN" sz="1000"/>
              <a:t>  </a:t>
            </a:r>
            <a:endParaRPr lang="en-US" altLang="zh-CN" sz="1000"/>
          </a:p>
        </p:txBody>
      </p:sp>
      <p:sp>
        <p:nvSpPr>
          <p:cNvPr id="14" name="圆角矩形 13"/>
          <p:cNvSpPr/>
          <p:nvPr/>
        </p:nvSpPr>
        <p:spPr>
          <a:xfrm>
            <a:off x="2429510" y="2438718"/>
            <a:ext cx="1460500" cy="1797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电池包脉冲加热</a:t>
            </a:r>
            <a:r>
              <a:rPr lang="zh-CN" altLang="en-US" sz="1000"/>
              <a:t>实验</a:t>
            </a:r>
            <a:endParaRPr lang="zh-CN" altLang="en-US" sz="1000"/>
          </a:p>
        </p:txBody>
      </p:sp>
      <p:sp>
        <p:nvSpPr>
          <p:cNvPr id="15" name="圆角矩形 14"/>
          <p:cNvSpPr/>
          <p:nvPr/>
        </p:nvSpPr>
        <p:spPr>
          <a:xfrm>
            <a:off x="3742055" y="3140710"/>
            <a:ext cx="1404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脉冲加热方案</a:t>
            </a:r>
            <a:r>
              <a:rPr lang="zh-CN" altLang="en-US" sz="1000"/>
              <a:t>设计</a:t>
            </a:r>
            <a:endParaRPr lang="zh-CN" altLang="en-US" sz="1000"/>
          </a:p>
        </p:txBody>
      </p:sp>
      <p:sp>
        <p:nvSpPr>
          <p:cNvPr id="16" name="文本框 15"/>
          <p:cNvSpPr txBox="1"/>
          <p:nvPr/>
        </p:nvSpPr>
        <p:spPr>
          <a:xfrm>
            <a:off x="504825" y="3518535"/>
            <a:ext cx="2164080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b="1" dirty="0" err="1" smtClean="0">
                <a:solidFill>
                  <a:schemeClr val="tx1"/>
                </a:solidFill>
                <a:latin typeface="+mj-lt"/>
              </a:rPr>
              <a:t>阶段</a:t>
            </a:r>
            <a:r>
              <a:rPr lang="en-US" altLang="zh-CN" sz="1000" b="1" dirty="0" err="1" smtClean="0">
                <a:solidFill>
                  <a:schemeClr val="tx1"/>
                </a:solidFill>
                <a:latin typeface="+mj-lt"/>
              </a:rPr>
              <a:t>2 </a:t>
            </a:r>
            <a:r>
              <a:rPr lang="zh-CN" altLang="en-US" sz="1000" b="1" dirty="0" err="1" smtClean="0">
                <a:solidFill>
                  <a:schemeClr val="tx1"/>
                </a:solidFill>
                <a:latin typeface="+mj-lt"/>
              </a:rPr>
              <a:t>算法开发与结构设计</a:t>
            </a:r>
            <a:endParaRPr lang="zh-CN" altLang="en-US" sz="1000" b="1" dirty="0" err="1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25145" y="4526915"/>
            <a:ext cx="2164080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b="1" dirty="0" err="1" smtClean="0">
                <a:solidFill>
                  <a:schemeClr val="tx1"/>
                </a:solidFill>
                <a:latin typeface="+mj-lt"/>
              </a:rPr>
              <a:t>阶段</a:t>
            </a:r>
            <a:r>
              <a:rPr lang="en-US" altLang="zh-CN" sz="1000" b="1" dirty="0" err="1" smtClean="0">
                <a:solidFill>
                  <a:schemeClr val="tx1"/>
                </a:solidFill>
                <a:latin typeface="+mj-lt"/>
              </a:rPr>
              <a:t>3 </a:t>
            </a:r>
            <a:r>
              <a:rPr lang="zh-CN" altLang="en-US" sz="1000" b="1" dirty="0" err="1" smtClean="0">
                <a:solidFill>
                  <a:schemeClr val="tx1"/>
                </a:solidFill>
                <a:latin typeface="+mj-lt"/>
                <a:sym typeface="+mn-ea"/>
              </a:rPr>
              <a:t>台架集成和验证</a:t>
            </a:r>
            <a:endParaRPr lang="zh-CN" altLang="en-US" sz="1000" b="1" dirty="0" err="1" smtClean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1214100" y="6453505"/>
            <a:ext cx="821055" cy="2381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27</a:t>
            </a:r>
            <a:r>
              <a:rPr lang="zh-CN" altLang="en-US" sz="1200" dirty="0" err="1" smtClean="0">
                <a:solidFill>
                  <a:schemeClr val="tx1"/>
                </a:solidFill>
                <a:latin typeface="+mj-lt"/>
              </a:rPr>
              <a:t>年</a:t>
            </a:r>
            <a:r>
              <a:rPr lang="en-US" altLang="zh-CN" sz="1200" dirty="0" err="1" smtClean="0">
                <a:solidFill>
                  <a:schemeClr val="tx1"/>
                </a:solidFill>
                <a:latin typeface="+mj-lt"/>
              </a:rPr>
              <a:t>7</a:t>
            </a:r>
            <a:r>
              <a:rPr lang="zh-CN" altLang="en-US" sz="1200" dirty="0" err="1" smtClean="0">
                <a:solidFill>
                  <a:schemeClr val="tx1"/>
                </a:solidFill>
                <a:latin typeface="+mj-lt"/>
              </a:rPr>
              <a:t>月</a:t>
            </a:r>
            <a:endParaRPr lang="zh-CN" altLang="en-US" sz="1200" dirty="0" err="1" smtClean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3941445" y="2438570"/>
            <a:ext cx="1204595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/>
              <a:t>电池寿命实验</a:t>
            </a:r>
            <a:endParaRPr lang="zh-CN" altLang="en-US" sz="1000"/>
          </a:p>
        </p:txBody>
      </p:sp>
      <p:sp>
        <p:nvSpPr>
          <p:cNvPr id="21" name="文本框 20"/>
          <p:cNvSpPr txBox="1"/>
          <p:nvPr/>
        </p:nvSpPr>
        <p:spPr>
          <a:xfrm>
            <a:off x="525145" y="5530850"/>
            <a:ext cx="2164080" cy="68961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b="1" dirty="0" err="1" smtClean="0">
                <a:solidFill>
                  <a:schemeClr val="tx1"/>
                </a:solidFill>
                <a:latin typeface="+mj-lt"/>
              </a:rPr>
              <a:t>阶段</a:t>
            </a:r>
            <a:r>
              <a:rPr lang="en-US" altLang="zh-CN" sz="1000" b="1" dirty="0" err="1" smtClean="0">
                <a:solidFill>
                  <a:schemeClr val="tx1"/>
                </a:solidFill>
                <a:latin typeface="+mj-lt"/>
              </a:rPr>
              <a:t>4 </a:t>
            </a:r>
            <a:r>
              <a:rPr lang="zh-CN" altLang="en-US" sz="1000" b="1" dirty="0" err="1" smtClean="0">
                <a:solidFill>
                  <a:schemeClr val="tx1"/>
                </a:solidFill>
                <a:latin typeface="+mj-lt"/>
                <a:sym typeface="+mn-ea"/>
              </a:rPr>
              <a:t>整车集成和测试</a:t>
            </a:r>
            <a:endParaRPr lang="zh-CN" altLang="en-US" sz="1000" b="1" dirty="0" err="1" smtClean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4733290" y="3445510"/>
            <a:ext cx="27000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电池脉冲加热仿真系统</a:t>
            </a:r>
            <a:r>
              <a:rPr lang="zh-CN" altLang="en-US" sz="1000">
                <a:sym typeface="+mn-ea"/>
              </a:rPr>
              <a:t>开发</a:t>
            </a:r>
            <a:endParaRPr lang="zh-CN" altLang="en-US" sz="1000">
              <a:sym typeface="+mn-ea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733290" y="3691255"/>
            <a:ext cx="18576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脉冲加热算法开发</a:t>
            </a:r>
            <a:r>
              <a:rPr lang="en-US" altLang="zh-CN" sz="1000">
                <a:sym typeface="+mn-ea"/>
              </a:rPr>
              <a:t> </a:t>
            </a:r>
            <a:endParaRPr lang="en-US" altLang="zh-CN" sz="1000">
              <a:sym typeface="+mn-ea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4733290" y="3919855"/>
            <a:ext cx="1857600" cy="18000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脉冲加热拓扑</a:t>
            </a:r>
            <a:r>
              <a:rPr lang="zh-CN" altLang="en-US" sz="1000">
                <a:sym typeface="+mn-ea"/>
              </a:rPr>
              <a:t>结构设计</a:t>
            </a:r>
            <a:endParaRPr lang="zh-CN" altLang="en-US" sz="1000">
              <a:sym typeface="+mn-ea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10710545" y="5966460"/>
            <a:ext cx="913765" cy="172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整车测试</a:t>
            </a:r>
            <a:endParaRPr lang="zh-CN" altLang="en-US" sz="1000">
              <a:sym typeface="+mn-ea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439785" y="4712335"/>
            <a:ext cx="2237740" cy="18986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台架</a:t>
            </a:r>
            <a:r>
              <a:rPr lang="zh-CN" altLang="en-US" sz="1000">
                <a:sym typeface="+mn-ea"/>
              </a:rPr>
              <a:t>脉冲加热性能</a:t>
            </a:r>
            <a:r>
              <a:rPr lang="zh-CN" altLang="en-US" sz="1000">
                <a:sym typeface="+mn-ea"/>
              </a:rPr>
              <a:t>测试</a:t>
            </a:r>
            <a:endParaRPr lang="zh-CN" altLang="en-US" sz="1000"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440420" y="4928870"/>
            <a:ext cx="2237105" cy="22161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台架耐久性测试</a:t>
            </a:r>
            <a:endParaRPr lang="zh-CN" altLang="en-US" sz="1000"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6551295" y="4149090"/>
            <a:ext cx="1417320" cy="18000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控制算法集成与</a:t>
            </a:r>
            <a:r>
              <a:rPr lang="zh-CN" altLang="en-US" sz="1000">
                <a:sym typeface="+mn-ea"/>
              </a:rPr>
              <a:t>测试</a:t>
            </a:r>
            <a:endParaRPr lang="zh-CN" altLang="en-US" sz="1000">
              <a:sym typeface="+mn-ea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7464425" y="4485005"/>
            <a:ext cx="972000" cy="18000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台架原型准备</a:t>
            </a:r>
            <a:endParaRPr lang="zh-CN" altLang="en-US" sz="1000">
              <a:sym typeface="+mn-ea"/>
            </a:endParaRPr>
          </a:p>
        </p:txBody>
      </p:sp>
      <p:sp>
        <p:nvSpPr>
          <p:cNvPr id="31" name="圆角矩形 30"/>
          <p:cNvSpPr/>
          <p:nvPr/>
        </p:nvSpPr>
        <p:spPr>
          <a:xfrm>
            <a:off x="9796780" y="5174615"/>
            <a:ext cx="913765" cy="1727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>
                <a:sym typeface="+mn-ea"/>
              </a:rPr>
              <a:t>性能验收</a:t>
            </a:r>
            <a:r>
              <a:rPr lang="en-US" altLang="zh-CN" sz="1000">
                <a:sym typeface="+mn-ea"/>
              </a:rPr>
              <a:t> </a:t>
            </a:r>
            <a:endParaRPr lang="en-US" altLang="zh-CN" sz="1000"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0728960" y="5530850"/>
            <a:ext cx="919480" cy="320675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sz="1000">
                <a:sym typeface="+mn-ea"/>
              </a:rPr>
              <a:t>电气调整、</a:t>
            </a:r>
            <a:endParaRPr lang="zh-CN" altLang="en-US" sz="1000">
              <a:sym typeface="+mn-ea"/>
            </a:endParaRPr>
          </a:p>
          <a:p>
            <a:pPr algn="l"/>
            <a:r>
              <a:rPr lang="zh-CN" altLang="en-US" sz="1000">
                <a:sym typeface="+mn-ea"/>
              </a:rPr>
              <a:t>软件更新</a:t>
            </a:r>
            <a:r>
              <a:rPr lang="en-US" altLang="zh-CN" sz="1000">
                <a:sym typeface="+mn-ea"/>
              </a:rPr>
              <a:t> </a:t>
            </a:r>
            <a:endParaRPr lang="en-US" altLang="zh-CN" sz="1000"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77520" y="883920"/>
            <a:ext cx="11271885" cy="11309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阶段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1 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基础研究：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</a:rPr>
              <a:t>完成从电芯到电池包的理论建模，设计高效</a:t>
            </a:r>
            <a:r>
              <a:rPr lang="zh-CN" altLang="en-US" sz="1400">
                <a:solidFill>
                  <a:srgbClr val="152A8C"/>
                </a:solidFill>
                <a:sym typeface="+mn-ea"/>
              </a:rPr>
              <a:t>脉冲加热方案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</a:rPr>
              <a:t>；</a:t>
            </a:r>
            <a:endParaRPr lang="zh-CN" altLang="en-US" sz="1400" dirty="0" err="1" smtClean="0">
              <a:solidFill>
                <a:srgbClr val="003B90"/>
              </a:solidFill>
              <a:latin typeface="+mj-lt"/>
            </a:endParaRP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阶段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2 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算法开发与结构设计：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  <a:sym typeface="+mn-ea"/>
              </a:rPr>
              <a:t>确定加热拓扑和核心算法框架，建立脉冲加热系统模型，验证逻辑并输出可集成的软件规范；</a:t>
            </a:r>
            <a:endParaRPr lang="zh-CN" altLang="en-US" sz="1400" dirty="0" err="1" smtClean="0">
              <a:solidFill>
                <a:srgbClr val="003B90"/>
              </a:solidFill>
              <a:latin typeface="+mj-lt"/>
              <a:sym typeface="+mn-ea"/>
            </a:endParaRP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阶段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3 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台架集成和验证：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  <a:sym typeface="+mn-ea"/>
              </a:rPr>
              <a:t>在真实的硬件台架上验证功能和性能，完成性能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  <a:sym typeface="+mn-ea"/>
              </a:rPr>
              <a:t>和耐久性考核；</a:t>
            </a:r>
            <a:endParaRPr lang="zh-CN" altLang="en-US" sz="1400" dirty="0" err="1" smtClean="0">
              <a:solidFill>
                <a:srgbClr val="003B90"/>
              </a:solidFill>
              <a:latin typeface="+mj-lt"/>
              <a:sym typeface="+mn-ea"/>
            </a:endParaRPr>
          </a:p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阶段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4 </a:t>
            </a: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  <a:sym typeface="+mn-ea"/>
              </a:rPr>
              <a:t>整车集成和测试：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  <a:sym typeface="+mn-ea"/>
              </a:rPr>
              <a:t>完成整车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</a:rPr>
              <a:t>电气架构调整，完成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  <a:sym typeface="+mn-ea"/>
              </a:rPr>
              <a:t>在实车上的</a:t>
            </a:r>
            <a:r>
              <a:rPr lang="zh-CN" altLang="en-US" sz="1400" dirty="0" err="1" smtClean="0">
                <a:solidFill>
                  <a:srgbClr val="003B90"/>
                </a:solidFill>
                <a:latin typeface="+mj-lt"/>
              </a:rPr>
              <a:t>最终集成、冬季标定和项目验收。</a:t>
            </a:r>
            <a:endParaRPr lang="zh-CN" altLang="en-US" sz="14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1543685" y="1955800"/>
            <a:ext cx="638175" cy="353695"/>
          </a:xfrm>
          <a:prstGeom prst="rect">
            <a:avLst/>
          </a:prstGeom>
          <a:solidFill>
            <a:schemeClr val="accent1">
              <a:lumMod val="60000"/>
              <a:lumOff val="40000"/>
              <a:alpha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前瞻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263775" y="1956435"/>
            <a:ext cx="638175" cy="356235"/>
          </a:xfrm>
          <a:prstGeom prst="rect">
            <a:avLst/>
          </a:prstGeom>
          <a:solidFill>
            <a:srgbClr val="FF374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新能源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983865" y="1956435"/>
            <a:ext cx="637200" cy="35687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>
                <a:solidFill>
                  <a:schemeClr val="tx1"/>
                </a:solidFill>
              </a:rPr>
              <a:t>整车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39" name="右大括号 38"/>
          <p:cNvSpPr/>
          <p:nvPr/>
        </p:nvSpPr>
        <p:spPr>
          <a:xfrm>
            <a:off x="5793740" y="2420620"/>
            <a:ext cx="154305" cy="914400"/>
          </a:xfrm>
          <a:prstGeom prst="rightBrace">
            <a:avLst>
              <a:gd name="adj1" fmla="val 104526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6167755" y="2493010"/>
            <a:ext cx="2520000" cy="72000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/>
              <a:t>交付：</a:t>
            </a:r>
            <a:r>
              <a:rPr lang="zh-CN" altLang="en-US" sz="1200"/>
              <a:t>实验测试报告、仿真报告、脉冲加热方案设计说明书</a:t>
            </a:r>
            <a:endParaRPr lang="zh-CN" altLang="en-US" sz="1200"/>
          </a:p>
        </p:txBody>
      </p:sp>
      <p:sp>
        <p:nvSpPr>
          <p:cNvPr id="41" name="右大括号 40"/>
          <p:cNvSpPr/>
          <p:nvPr/>
        </p:nvSpPr>
        <p:spPr>
          <a:xfrm>
            <a:off x="8112125" y="3393440"/>
            <a:ext cx="154305" cy="914400"/>
          </a:xfrm>
          <a:prstGeom prst="rightBrace">
            <a:avLst>
              <a:gd name="adj1" fmla="val 104526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/>
        </p:nvSpPr>
        <p:spPr>
          <a:xfrm>
            <a:off x="8472170" y="3500755"/>
            <a:ext cx="2520000" cy="72009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/>
              <a:t>衔接：</a:t>
            </a:r>
            <a:r>
              <a:rPr lang="zh-CN" altLang="en-US" sz="1200"/>
              <a:t>脉冲加热方案。</a:t>
            </a:r>
            <a:endParaRPr lang="en-US" altLang="zh-CN" sz="1200"/>
          </a:p>
          <a:p>
            <a:pPr algn="l"/>
            <a:r>
              <a:rPr lang="zh-CN" altLang="en-US" sz="1200" b="1"/>
              <a:t>交付：</a:t>
            </a:r>
            <a:r>
              <a:rPr lang="zh-CN" altLang="en-US" sz="1200">
                <a:sym typeface="+mn-ea"/>
              </a:rPr>
              <a:t>编译后的</a:t>
            </a:r>
            <a:r>
              <a:rPr lang="zh-CN" altLang="en-US" sz="1200"/>
              <a:t>含拓扑设计和算法的系统模型</a:t>
            </a:r>
            <a:r>
              <a:rPr lang="zh-CN" altLang="en-US" sz="1200"/>
              <a:t>以及软硬件需求</a:t>
            </a:r>
            <a:endParaRPr lang="zh-CN" altLang="en-US" sz="1200"/>
          </a:p>
        </p:txBody>
      </p:sp>
      <p:sp>
        <p:nvSpPr>
          <p:cNvPr id="43" name="右大括号 42"/>
          <p:cNvSpPr/>
          <p:nvPr/>
        </p:nvSpPr>
        <p:spPr>
          <a:xfrm flipH="1">
            <a:off x="7148830" y="4492625"/>
            <a:ext cx="154800" cy="914400"/>
          </a:xfrm>
          <a:prstGeom prst="rightBrace">
            <a:avLst>
              <a:gd name="adj1" fmla="val 104526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圆角矩形 44"/>
          <p:cNvSpPr/>
          <p:nvPr/>
        </p:nvSpPr>
        <p:spPr>
          <a:xfrm>
            <a:off x="4124325" y="4452620"/>
            <a:ext cx="2880000" cy="90000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>
                <a:sym typeface="+mn-ea"/>
              </a:rPr>
              <a:t>衔接：</a:t>
            </a:r>
            <a:r>
              <a:rPr lang="zh-CN" altLang="en-US" sz="1200">
                <a:sym typeface="+mn-ea"/>
              </a:rPr>
              <a:t>搭建包含真实电池包、电机、集成算法的控制器</a:t>
            </a:r>
            <a:r>
              <a:rPr lang="zh-CN" altLang="en-US" sz="1200">
                <a:sym typeface="+mn-ea"/>
              </a:rPr>
              <a:t>等硬件在环台架</a:t>
            </a:r>
            <a:r>
              <a:rPr lang="zh-CN" altLang="en-US" sz="1200"/>
              <a:t>。</a:t>
            </a:r>
            <a:endParaRPr lang="zh-CN" altLang="en-US" sz="1200"/>
          </a:p>
          <a:p>
            <a:pPr algn="l"/>
            <a:r>
              <a:rPr lang="zh-CN" altLang="en-US" sz="1200" b="1"/>
              <a:t>交付：</a:t>
            </a:r>
            <a:r>
              <a:rPr lang="zh-CN" altLang="en-US" sz="1200"/>
              <a:t>台架测试报告、耐久性测试报告、标定初版数据。</a:t>
            </a:r>
            <a:endParaRPr lang="zh-CN" altLang="en-US" sz="1200"/>
          </a:p>
        </p:txBody>
      </p:sp>
      <p:sp>
        <p:nvSpPr>
          <p:cNvPr id="46" name="右大括号 45"/>
          <p:cNvSpPr/>
          <p:nvPr/>
        </p:nvSpPr>
        <p:spPr>
          <a:xfrm flipH="1">
            <a:off x="10344150" y="5445125"/>
            <a:ext cx="154800" cy="914400"/>
          </a:xfrm>
          <a:prstGeom prst="rightBrace">
            <a:avLst>
              <a:gd name="adj1" fmla="val 104526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圆角矩形 46"/>
          <p:cNvSpPr/>
          <p:nvPr/>
        </p:nvSpPr>
        <p:spPr>
          <a:xfrm>
            <a:off x="7824470" y="5520055"/>
            <a:ext cx="2400300" cy="720000"/>
          </a:xfrm>
          <a:prstGeom prst="roundRect">
            <a:avLst/>
          </a:prstGeom>
          <a:solidFill>
            <a:schemeClr val="bg1"/>
          </a:solidFill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l"/>
            <a:r>
              <a:rPr lang="zh-CN" altLang="en-US" sz="1200" b="1">
                <a:sym typeface="+mn-ea"/>
              </a:rPr>
              <a:t>衔接：</a:t>
            </a:r>
            <a:r>
              <a:rPr lang="zh-CN" altLang="en-US" sz="1200"/>
              <a:t>算法模型和</a:t>
            </a:r>
            <a:r>
              <a:rPr lang="zh-CN" altLang="en-US" sz="1200">
                <a:sym typeface="+mn-ea"/>
              </a:rPr>
              <a:t>软件</a:t>
            </a:r>
            <a:r>
              <a:rPr lang="zh-CN" altLang="en-US" sz="1200"/>
              <a:t>的最终修正、</a:t>
            </a:r>
            <a:r>
              <a:rPr lang="zh-CN" altLang="en-US" sz="1200">
                <a:sym typeface="+mn-ea"/>
              </a:rPr>
              <a:t>拓扑</a:t>
            </a:r>
            <a:r>
              <a:rPr lang="zh-CN" altLang="en-US" sz="1200"/>
              <a:t>的正式</a:t>
            </a:r>
            <a:r>
              <a:rPr lang="zh-CN" altLang="en-US" sz="1200"/>
              <a:t>确定。</a:t>
            </a:r>
            <a:endParaRPr lang="zh-CN" altLang="en-US" sz="1200"/>
          </a:p>
          <a:p>
            <a:pPr algn="l"/>
            <a:r>
              <a:rPr lang="zh-CN" altLang="en-US" sz="1200" b="1"/>
              <a:t>交付：</a:t>
            </a:r>
            <a:r>
              <a:rPr lang="zh-CN" altLang="en-US" sz="1200"/>
              <a:t>整车冬标与</a:t>
            </a:r>
            <a:r>
              <a:rPr lang="zh-CN" altLang="en-US" sz="1200"/>
              <a:t>测试报告。</a:t>
            </a:r>
            <a:endParaRPr lang="zh-CN" altLang="en-US" sz="1200"/>
          </a:p>
        </p:txBody>
      </p:sp>
      <p:sp>
        <p:nvSpPr>
          <p:cNvPr id="9" name="文本框 8"/>
          <p:cNvSpPr txBox="1"/>
          <p:nvPr/>
        </p:nvSpPr>
        <p:spPr>
          <a:xfrm>
            <a:off x="551815" y="2959735"/>
            <a:ext cx="1825625" cy="3111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成本：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30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万、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220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人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日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1020" y="5966460"/>
            <a:ext cx="1825625" cy="3111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成本：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20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万、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320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人日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1020" y="4941570"/>
            <a:ext cx="1825625" cy="3111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成本：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10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万、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80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人日</a:t>
            </a:r>
            <a:endParaRPr lang="en-US" altLang="zh-CN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25145" y="3996690"/>
            <a:ext cx="1825625" cy="3111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成本：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5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万、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100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人日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541020" y="6220460"/>
            <a:ext cx="1825625" cy="31115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合计：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65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万、</a:t>
            </a:r>
            <a:r>
              <a:rPr lang="en-US" altLang="zh-CN" sz="1000" dirty="0" err="1" smtClean="0">
                <a:solidFill>
                  <a:srgbClr val="003B90"/>
                </a:solidFill>
                <a:latin typeface="+mj-lt"/>
              </a:rPr>
              <a:t>720</a:t>
            </a:r>
            <a:r>
              <a:rPr lang="zh-CN" altLang="en-US" sz="1000" dirty="0" err="1" smtClean="0">
                <a:solidFill>
                  <a:srgbClr val="003B90"/>
                </a:solidFill>
                <a:latin typeface="+mj-lt"/>
              </a:rPr>
              <a:t>人日</a:t>
            </a:r>
            <a:endParaRPr lang="zh-CN" altLang="en-US" sz="1000" dirty="0" err="1" smtClean="0">
              <a:solidFill>
                <a:srgbClr val="003B90"/>
              </a:solidFill>
              <a:latin typeface="+mj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479425" y="1955800"/>
            <a:ext cx="1066165" cy="406400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noAutofit/>
          </a:bodyPr>
          <a:p>
            <a:pPr algn="l">
              <a:spcBef>
                <a:spcPts val="600"/>
              </a:spcBef>
            </a:pPr>
            <a:r>
              <a:rPr lang="zh-CN" altLang="en-US" sz="1200" b="1" dirty="0" err="1" smtClean="0">
                <a:solidFill>
                  <a:srgbClr val="003B90"/>
                </a:solidFill>
                <a:latin typeface="+mj-lt"/>
              </a:rPr>
              <a:t>主要负责部门</a:t>
            </a:r>
            <a:endParaRPr lang="zh-CN" altLang="en-US" sz="1200" b="1" dirty="0" err="1" smtClean="0">
              <a:solidFill>
                <a:srgbClr val="003B9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zh-CN"/>
              <a:t>BACKUP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477520" y="883920"/>
            <a:ext cx="6159500" cy="3397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>
                <a:solidFill>
                  <a:srgbClr val="152A8C"/>
                </a:solidFill>
                <a:sym typeface="+mn-ea"/>
              </a:rPr>
              <a:t>脉冲加热技术研究路线</a:t>
            </a:r>
            <a:r>
              <a:rPr lang="en-US" altLang="zh-CN" sz="1600" b="1">
                <a:solidFill>
                  <a:srgbClr val="152A8C"/>
                </a:solidFill>
                <a:sym typeface="+mn-ea"/>
              </a:rPr>
              <a:t> </a:t>
            </a:r>
            <a:r>
              <a:rPr lang="zh-CN" altLang="en-US" sz="1600" b="1" dirty="0" err="1" smtClean="0">
                <a:solidFill>
                  <a:srgbClr val="152A8C"/>
                </a:solidFill>
                <a:latin typeface="+mj-lt"/>
              </a:rPr>
              <a:t>阶段</a:t>
            </a:r>
            <a:r>
              <a:rPr lang="en-US" altLang="zh-CN" sz="1600" b="1" dirty="0" err="1" smtClean="0">
                <a:solidFill>
                  <a:srgbClr val="152A8C"/>
                </a:solidFill>
                <a:latin typeface="+mj-lt"/>
              </a:rPr>
              <a:t>1 </a:t>
            </a:r>
            <a:r>
              <a:rPr lang="zh-CN" altLang="en-US" sz="1600" b="1" dirty="0" err="1" smtClean="0">
                <a:solidFill>
                  <a:srgbClr val="152A8C"/>
                </a:solidFill>
                <a:latin typeface="+mj-lt"/>
                <a:sym typeface="+mn-ea"/>
              </a:rPr>
              <a:t>基础研究：</a:t>
            </a:r>
            <a:endParaRPr lang="zh-CN" altLang="en-US" sz="1600" b="1" dirty="0" err="1" smtClean="0">
              <a:solidFill>
                <a:srgbClr val="152A8C"/>
              </a:solidFill>
              <a:latin typeface="+mj-lt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775460" y="1232535"/>
          <a:ext cx="5502910" cy="549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825"/>
                <a:gridCol w="4490085"/>
              </a:tblGrid>
              <a:tr h="3289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核心要素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详细说明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38684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阶段目标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基于电芯低温性能实验和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电芯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/Pack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脉冲加热实验，建立电芯高精度电热耦合模型和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Pack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三维热模型，误差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≤5%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输出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不同温度下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Pack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适用的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脉冲电流加热策略方案（含脉冲幅值、频率、占空比），温升效率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&gt;1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C/min @ -20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，通过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实验进行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寿命评估。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7437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参与部门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前瞻部门（主导）；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整车部门（提供电芯与电池包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样本）；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+mn-ea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新能源部门（支持方案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设计）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62433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资源需求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费用：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电芯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/Pack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购置费与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测试费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项目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明细：具体参数见实验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部分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电芯低温性能和脉冲加热测试（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-20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C~25℃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Pack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脉冲加热测试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-20</a:t>
                      </a:r>
                      <a:r>
                        <a:rPr lang="en-US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°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C~0℃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电芯寿命加速实验（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≥100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次循环加热）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1186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现有规范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GB/T 31486-2024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（电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芯脉冲测试基准）</a:t>
                      </a:r>
                      <a:b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GB/T 38031-2025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（电芯安全边界）</a:t>
                      </a:r>
                      <a:b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SAE J2929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（热仿真验证标准）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642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阶段输出物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电芯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/Pack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脉冲性能数据库、电热耦合仿真模型、脉冲加热方案设计表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4" name="组合 83"/>
          <p:cNvGrpSpPr/>
          <p:nvPr/>
        </p:nvGrpSpPr>
        <p:grpSpPr>
          <a:xfrm>
            <a:off x="7470140" y="1412875"/>
            <a:ext cx="2990850" cy="2618740"/>
            <a:chOff x="4199485" y="2938443"/>
            <a:chExt cx="3403486" cy="3658755"/>
          </a:xfrm>
        </p:grpSpPr>
        <p:sp>
          <p:nvSpPr>
            <p:cNvPr id="11" name="矩形 10"/>
            <p:cNvSpPr/>
            <p:nvPr/>
          </p:nvSpPr>
          <p:spPr>
            <a:xfrm>
              <a:off x="4500821" y="4613111"/>
              <a:ext cx="1178182" cy="605455"/>
            </a:xfrm>
            <a:prstGeom prst="rect">
              <a:avLst/>
            </a:prstGeom>
            <a:solidFill>
              <a:srgbClr val="00B050"/>
            </a:solidFill>
            <a:ln w="17318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电芯电</a:t>
              </a:r>
              <a:r>
                <a:rPr lang="en-US" altLang="zh-CN" sz="1200"/>
                <a:t>-</a:t>
              </a:r>
              <a:r>
                <a:rPr lang="zh-CN" altLang="en-US" sz="1200"/>
                <a:t>热模型</a:t>
              </a:r>
              <a:endParaRPr lang="zh-CN" altLang="en-US" sz="1200"/>
            </a:p>
          </p:txBody>
        </p:sp>
        <p:sp>
          <p:nvSpPr>
            <p:cNvPr id="13" name="矩形 12"/>
            <p:cNvSpPr/>
            <p:nvPr/>
          </p:nvSpPr>
          <p:spPr>
            <a:xfrm>
              <a:off x="4498512" y="3443557"/>
              <a:ext cx="1178182" cy="60545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318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低温充放电实验</a:t>
              </a:r>
              <a:endParaRPr lang="zh-CN" altLang="en-US" sz="1200"/>
            </a:p>
          </p:txBody>
        </p:sp>
        <p:sp>
          <p:nvSpPr>
            <p:cNvPr id="14" name="矩形 13"/>
            <p:cNvSpPr/>
            <p:nvPr/>
          </p:nvSpPr>
          <p:spPr>
            <a:xfrm>
              <a:off x="4199485" y="2938443"/>
              <a:ext cx="3403486" cy="3658755"/>
            </a:xfrm>
            <a:prstGeom prst="rect">
              <a:avLst/>
            </a:prstGeom>
            <a:ln w="11545"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217550" y="2952638"/>
              <a:ext cx="3257519" cy="357536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400" b="1" dirty="0" err="1">
                  <a:solidFill>
                    <a:schemeClr val="accent1"/>
                  </a:solidFill>
                  <a:latin typeface="+mj-lt"/>
                </a:rPr>
                <a:t>单体</a:t>
              </a:r>
              <a:r>
                <a:rPr lang="zh-CN" altLang="en-US" sz="1400" b="1" dirty="0" err="1">
                  <a:solidFill>
                    <a:schemeClr val="accent1"/>
                  </a:solidFill>
                  <a:latin typeface="+mj-lt"/>
                </a:rPr>
                <a:t>研究</a:t>
              </a:r>
              <a:endParaRPr lang="zh-CN" altLang="en-US" sz="1400" b="1" dirty="0" err="1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6" name="直接箭头连接符 15"/>
            <p:cNvCxnSpPr/>
            <p:nvPr/>
          </p:nvCxnSpPr>
          <p:spPr>
            <a:xfrm flipH="1">
              <a:off x="5116194" y="4117234"/>
              <a:ext cx="0" cy="427759"/>
            </a:xfrm>
            <a:prstGeom prst="straightConnector1">
              <a:avLst/>
            </a:prstGeom>
            <a:ln w="17318"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>
              <a:off x="6210126" y="3462607"/>
              <a:ext cx="1178182" cy="60613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318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脉冲加热</a:t>
              </a:r>
              <a:endParaRPr lang="zh-CN" altLang="en-US" sz="1200"/>
            </a:p>
            <a:p>
              <a:pPr algn="ctr"/>
              <a:r>
                <a:rPr lang="zh-CN" altLang="en-US" sz="1200"/>
                <a:t>实验</a:t>
              </a:r>
              <a:endParaRPr lang="zh-CN" altLang="en-US" sz="1200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5050385" y="4182466"/>
              <a:ext cx="955386" cy="22455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标定与验证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19" name="直接箭头连接符 18"/>
            <p:cNvCxnSpPr/>
            <p:nvPr/>
          </p:nvCxnSpPr>
          <p:spPr>
            <a:xfrm>
              <a:off x="5720021" y="4902325"/>
              <a:ext cx="458355" cy="0"/>
            </a:xfrm>
            <a:prstGeom prst="straightConnector1">
              <a:avLst/>
            </a:prstGeom>
            <a:ln w="17318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矩形 19"/>
            <p:cNvSpPr/>
            <p:nvPr/>
          </p:nvSpPr>
          <p:spPr>
            <a:xfrm>
              <a:off x="6219362" y="4612534"/>
              <a:ext cx="1175327" cy="606136"/>
            </a:xfrm>
            <a:prstGeom prst="rect">
              <a:avLst/>
            </a:prstGeom>
            <a:ln w="17318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电池脉冲加热性能</a:t>
              </a:r>
              <a:endParaRPr lang="zh-CN" altLang="en-US" sz="1200"/>
            </a:p>
          </p:txBody>
        </p:sp>
        <p:cxnSp>
          <p:nvCxnSpPr>
            <p:cNvPr id="21" name="直接箭头连接符 20"/>
            <p:cNvCxnSpPr/>
            <p:nvPr/>
          </p:nvCxnSpPr>
          <p:spPr>
            <a:xfrm flipH="1">
              <a:off x="6795480" y="4116080"/>
              <a:ext cx="0" cy="427759"/>
            </a:xfrm>
            <a:prstGeom prst="straightConnector1">
              <a:avLst/>
            </a:prstGeom>
            <a:ln w="17318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4" name="文本框 33"/>
            <p:cNvSpPr txBox="1"/>
            <p:nvPr/>
          </p:nvSpPr>
          <p:spPr>
            <a:xfrm>
              <a:off x="5688271" y="4966980"/>
              <a:ext cx="521855" cy="24591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输出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 flipH="1">
              <a:off x="6795480" y="5294293"/>
              <a:ext cx="0" cy="427759"/>
            </a:xfrm>
            <a:prstGeom prst="straightConnector1">
              <a:avLst/>
            </a:prstGeom>
            <a:ln w="17318"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>
              <a:off x="6210126" y="5752648"/>
              <a:ext cx="1178182" cy="605455"/>
            </a:xfrm>
            <a:prstGeom prst="rect">
              <a:avLst/>
            </a:prstGeom>
            <a:solidFill>
              <a:srgbClr val="FFC000"/>
            </a:solidFill>
            <a:ln w="17318">
              <a:solidFill>
                <a:srgbClr val="FFC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脉冲加热</a:t>
              </a:r>
              <a:endParaRPr lang="zh-CN" altLang="en-US" sz="1200"/>
            </a:p>
            <a:p>
              <a:pPr algn="ctr"/>
              <a:r>
                <a:rPr lang="zh-CN" altLang="en-US" sz="1200"/>
                <a:t>方案设计</a:t>
              </a:r>
              <a:endParaRPr lang="zh-CN" altLang="en-US" sz="12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843394" y="4178213"/>
              <a:ext cx="529936" cy="314064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t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zh-CN" altLang="en-US" sz="1000" dirty="0" err="1">
                  <a:latin typeface="+mj-lt"/>
                  <a:sym typeface="+mn-ea"/>
                </a:rPr>
                <a:t>验证</a:t>
              </a:r>
              <a:endParaRPr lang="zh-CN" altLang="en-US" sz="1000" dirty="0" err="1">
                <a:solidFill>
                  <a:srgbClr val="003B90"/>
                </a:solidFill>
                <a:latin typeface="+mj-lt"/>
                <a:sym typeface="+mn-ea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6858403" y="5396836"/>
              <a:ext cx="529936" cy="314064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t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zh-CN" altLang="en-US" sz="1000" dirty="0" err="1">
                  <a:latin typeface="+mj-lt"/>
                  <a:sym typeface="+mn-ea"/>
                </a:rPr>
                <a:t>优化</a:t>
              </a:r>
              <a:endParaRPr lang="zh-CN" altLang="en-US" sz="1000" dirty="0" err="1">
                <a:latin typeface="+mj-lt"/>
                <a:sym typeface="+mn-ea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4500821" y="5753225"/>
              <a:ext cx="1178182" cy="605455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318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电芯拆解</a:t>
              </a:r>
              <a:endParaRPr lang="zh-CN" altLang="en-US" sz="1200"/>
            </a:p>
            <a:p>
              <a:pPr algn="ctr"/>
              <a:r>
                <a:rPr lang="zh-CN" altLang="en-US" sz="1200"/>
                <a:t>实验</a:t>
              </a:r>
              <a:endParaRPr lang="zh-CN" altLang="en-US" sz="1200"/>
            </a:p>
          </p:txBody>
        </p:sp>
        <p:cxnSp>
          <p:nvCxnSpPr>
            <p:cNvPr id="74" name="直接箭头连接符 73"/>
            <p:cNvCxnSpPr/>
            <p:nvPr/>
          </p:nvCxnSpPr>
          <p:spPr>
            <a:xfrm flipH="1">
              <a:off x="5110421" y="5294293"/>
              <a:ext cx="0" cy="427759"/>
            </a:xfrm>
            <a:prstGeom prst="straightConnector1">
              <a:avLst/>
            </a:prstGeom>
            <a:ln w="17318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/>
          </p:nvSpPr>
          <p:spPr>
            <a:xfrm>
              <a:off x="5158335" y="5396836"/>
              <a:ext cx="529936" cy="314064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t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zh-CN" altLang="en-US" sz="1000" dirty="0" err="1">
                  <a:solidFill>
                    <a:srgbClr val="003B90"/>
                  </a:solidFill>
                  <a:latin typeface="+mj-lt"/>
                  <a:sym typeface="+mn-ea"/>
                </a:rPr>
                <a:t>输入</a:t>
              </a:r>
              <a:endParaRPr lang="zh-CN" altLang="en-US" sz="1000" dirty="0" err="1">
                <a:solidFill>
                  <a:srgbClr val="003B90"/>
                </a:solidFill>
                <a:latin typeface="+mj-lt"/>
                <a:sym typeface="+mn-ea"/>
              </a:endParaRPr>
            </a:p>
          </p:txBody>
        </p:sp>
      </p:grpSp>
      <p:sp>
        <p:nvSpPr>
          <p:cNvPr id="22" name="文本框 21"/>
          <p:cNvSpPr txBox="1"/>
          <p:nvPr/>
        </p:nvSpPr>
        <p:spPr>
          <a:xfrm>
            <a:off x="7469505" y="1052195"/>
            <a:ext cx="3013710" cy="3181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关键任务分解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 </a:t>
            </a:r>
            <a:endParaRPr lang="en-US" altLang="zh-CN" sz="1400" b="1" dirty="0" err="1" smtClean="0">
              <a:solidFill>
                <a:srgbClr val="003B90"/>
              </a:solidFill>
              <a:latin typeface="+mj-lt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7470140" y="4149090"/>
            <a:ext cx="2990850" cy="2569845"/>
            <a:chOff x="4409591" y="2561108"/>
            <a:chExt cx="3463636" cy="3652405"/>
          </a:xfrm>
        </p:grpSpPr>
        <p:sp>
          <p:nvSpPr>
            <p:cNvPr id="133" name="矩形 132"/>
            <p:cNvSpPr/>
            <p:nvPr/>
          </p:nvSpPr>
          <p:spPr>
            <a:xfrm>
              <a:off x="4710927" y="4235776"/>
              <a:ext cx="1178182" cy="605455"/>
            </a:xfrm>
            <a:prstGeom prst="rect">
              <a:avLst/>
            </a:prstGeom>
            <a:solidFill>
              <a:srgbClr val="00B050"/>
            </a:solidFill>
            <a:ln w="17318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电池包级</a:t>
              </a:r>
              <a:endParaRPr lang="zh-CN" altLang="en-US" sz="1200"/>
            </a:p>
            <a:p>
              <a:pPr algn="ctr"/>
              <a:r>
                <a:rPr lang="zh-CN" altLang="en-US" sz="1200"/>
                <a:t>三维热模型</a:t>
              </a:r>
              <a:endParaRPr lang="zh-CN" altLang="en-US" sz="1200"/>
            </a:p>
          </p:txBody>
        </p:sp>
        <p:sp>
          <p:nvSpPr>
            <p:cNvPr id="134" name="矩形 133"/>
            <p:cNvSpPr/>
            <p:nvPr/>
          </p:nvSpPr>
          <p:spPr>
            <a:xfrm>
              <a:off x="4708618" y="3066222"/>
              <a:ext cx="1178182" cy="605455"/>
            </a:xfrm>
            <a:prstGeom prst="rect">
              <a:avLst/>
            </a:prstGeom>
            <a:solidFill>
              <a:srgbClr val="FFC000"/>
            </a:solidFill>
            <a:ln w="17318">
              <a:solidFill>
                <a:srgbClr val="FFC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ym typeface="+mn-ea"/>
                </a:rPr>
                <a:t>高效脉冲</a:t>
              </a:r>
              <a:endParaRPr lang="zh-CN" altLang="en-US" sz="1200">
                <a:sym typeface="+mn-ea"/>
              </a:endParaRPr>
            </a:p>
            <a:p>
              <a:pPr algn="ctr"/>
              <a:r>
                <a:rPr lang="zh-CN" altLang="en-US" sz="1200">
                  <a:sym typeface="+mn-ea"/>
                </a:rPr>
                <a:t>加热方案</a:t>
              </a:r>
              <a:endParaRPr lang="zh-CN" altLang="en-US" sz="1200">
                <a:sym typeface="+mn-ea"/>
              </a:endParaRPr>
            </a:p>
          </p:txBody>
        </p:sp>
        <p:sp>
          <p:nvSpPr>
            <p:cNvPr id="135" name="矩形 134"/>
            <p:cNvSpPr/>
            <p:nvPr/>
          </p:nvSpPr>
          <p:spPr>
            <a:xfrm>
              <a:off x="4409591" y="2561108"/>
              <a:ext cx="3463636" cy="3652405"/>
            </a:xfrm>
            <a:prstGeom prst="rect">
              <a:avLst/>
            </a:prstGeom>
            <a:ln w="11545"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4427975" y="2575548"/>
              <a:ext cx="3407747" cy="370926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altLang="zh-CN" sz="1400" b="1" dirty="0" err="1">
                  <a:solidFill>
                    <a:schemeClr val="accent1"/>
                  </a:solidFill>
                  <a:latin typeface="+mj-lt"/>
                </a:rPr>
                <a:t>Pack</a:t>
              </a:r>
              <a:r>
                <a:rPr lang="zh-CN" altLang="en-US" sz="1400" b="1" dirty="0" err="1">
                  <a:solidFill>
                    <a:schemeClr val="accent1"/>
                  </a:solidFill>
                  <a:latin typeface="+mj-lt"/>
                </a:rPr>
                <a:t>研究</a:t>
              </a:r>
              <a:r>
                <a:rPr lang="en-US" altLang="zh-CN" sz="1400" b="1" dirty="0" err="1">
                  <a:solidFill>
                    <a:schemeClr val="accent1"/>
                  </a:solidFill>
                  <a:latin typeface="+mj-lt"/>
                </a:rPr>
                <a:t> </a:t>
              </a:r>
              <a:endParaRPr lang="en-US" altLang="zh-CN" sz="1400" b="1" dirty="0" err="1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137" name="直接箭头连接符 136"/>
            <p:cNvCxnSpPr/>
            <p:nvPr/>
          </p:nvCxnSpPr>
          <p:spPr>
            <a:xfrm flipH="1">
              <a:off x="5326300" y="3739899"/>
              <a:ext cx="0" cy="427759"/>
            </a:xfrm>
            <a:prstGeom prst="straightConnector1">
              <a:avLst/>
            </a:prstGeom>
            <a:ln w="17318"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8" name="矩形 137"/>
            <p:cNvSpPr/>
            <p:nvPr/>
          </p:nvSpPr>
          <p:spPr>
            <a:xfrm>
              <a:off x="4708618" y="5375890"/>
              <a:ext cx="2042391" cy="606136"/>
            </a:xfrm>
            <a:prstGeom prst="rect">
              <a:avLst/>
            </a:prstGeom>
            <a:ln w="17318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 err="1">
                  <a:solidFill>
                    <a:schemeClr val="tx1"/>
                  </a:solidFill>
                  <a:latin typeface="+mj-lt"/>
                  <a:sym typeface="+mn-ea"/>
                </a:rPr>
                <a:t>模组</a:t>
              </a:r>
              <a:r>
                <a:rPr lang="en-US" altLang="zh-CN" sz="1200" dirty="0" err="1">
                  <a:solidFill>
                    <a:schemeClr val="tx1"/>
                  </a:solidFill>
                  <a:latin typeface="+mj-lt"/>
                  <a:sym typeface="+mn-ea"/>
                </a:rPr>
                <a:t>/</a:t>
              </a:r>
              <a:r>
                <a:rPr lang="zh-CN" altLang="en-US" sz="1200" dirty="0" err="1">
                  <a:solidFill>
                    <a:schemeClr val="tx1"/>
                  </a:solidFill>
                  <a:latin typeface="+mj-lt"/>
                  <a:sym typeface="+mn-ea"/>
                </a:rPr>
                <a:t>电池包</a:t>
              </a:r>
              <a:r>
                <a:rPr lang="zh-CN" altLang="en-US" sz="1200">
                  <a:solidFill>
                    <a:schemeClr val="tx1"/>
                  </a:solidFill>
                </a:rPr>
                <a:t>排布结构</a:t>
              </a:r>
              <a:r>
                <a:rPr lang="en-US" altLang="zh-CN" sz="1200">
                  <a:solidFill>
                    <a:schemeClr val="tx1"/>
                  </a:solidFill>
                </a:rPr>
                <a:t>,</a:t>
              </a:r>
              <a:endParaRPr lang="zh-CN" altLang="en-US" sz="1200">
                <a:solidFill>
                  <a:schemeClr val="tx1"/>
                </a:solidFill>
              </a:endParaRPr>
            </a:p>
            <a:p>
              <a:pPr algn="ctr"/>
              <a:r>
                <a:rPr lang="zh-CN" altLang="en-US" sz="1200">
                  <a:sym typeface="+mn-ea"/>
                </a:rPr>
                <a:t>电芯电</a:t>
              </a:r>
              <a:r>
                <a:rPr lang="en-US" altLang="zh-CN" sz="1200">
                  <a:sym typeface="+mn-ea"/>
                </a:rPr>
                <a:t>-</a:t>
              </a:r>
              <a:r>
                <a:rPr lang="zh-CN" altLang="en-US" sz="1200">
                  <a:sym typeface="+mn-ea"/>
                </a:rPr>
                <a:t>热模型简化</a:t>
              </a:r>
              <a:endParaRPr lang="zh-CN" altLang="en-US" sz="1200">
                <a:sym typeface="+mn-ea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>
              <a:off x="5260491" y="3805131"/>
              <a:ext cx="592282" cy="21416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输入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140" name="直接箭头连接符 139"/>
            <p:cNvCxnSpPr/>
            <p:nvPr/>
          </p:nvCxnSpPr>
          <p:spPr>
            <a:xfrm>
              <a:off x="5930127" y="4524990"/>
              <a:ext cx="458355" cy="0"/>
            </a:xfrm>
            <a:prstGeom prst="straightConnector1">
              <a:avLst/>
            </a:prstGeom>
            <a:ln w="17318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1" name="矩形 140"/>
            <p:cNvSpPr/>
            <p:nvPr/>
          </p:nvSpPr>
          <p:spPr>
            <a:xfrm>
              <a:off x="6429468" y="4235199"/>
              <a:ext cx="1175327" cy="606136"/>
            </a:xfrm>
            <a:prstGeom prst="rect">
              <a:avLst/>
            </a:prstGeom>
            <a:ln w="17318"/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 err="1">
                  <a:solidFill>
                    <a:schemeClr val="tx1"/>
                  </a:solidFill>
                  <a:latin typeface="+mj-lt"/>
                  <a:sym typeface="+mn-ea"/>
                </a:rPr>
                <a:t>电池包</a:t>
              </a:r>
              <a:r>
                <a:rPr lang="zh-CN" altLang="en-US" sz="1200">
                  <a:solidFill>
                    <a:schemeClr val="tx1"/>
                  </a:solidFill>
                </a:rPr>
                <a:t>脉冲加热性能</a:t>
              </a:r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142" name="矩形 141"/>
            <p:cNvSpPr/>
            <p:nvPr/>
          </p:nvSpPr>
          <p:spPr>
            <a:xfrm>
              <a:off x="6438704" y="3065067"/>
              <a:ext cx="1178182" cy="60613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318">
              <a:solidFill>
                <a:srgbClr val="00B0F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脉冲加热</a:t>
              </a:r>
              <a:endParaRPr lang="zh-CN" altLang="en-US" sz="1200"/>
            </a:p>
            <a:p>
              <a:pPr algn="ctr"/>
              <a:r>
                <a:rPr lang="zh-CN" altLang="en-US" sz="1200"/>
                <a:t>实验</a:t>
              </a:r>
              <a:endParaRPr lang="zh-CN" altLang="en-US" sz="1200"/>
            </a:p>
          </p:txBody>
        </p:sp>
        <p:cxnSp>
          <p:nvCxnSpPr>
            <p:cNvPr id="143" name="直接箭头连接符 142"/>
            <p:cNvCxnSpPr/>
            <p:nvPr/>
          </p:nvCxnSpPr>
          <p:spPr>
            <a:xfrm>
              <a:off x="5930127" y="3368135"/>
              <a:ext cx="458355" cy="0"/>
            </a:xfrm>
            <a:prstGeom prst="straightConnector1">
              <a:avLst/>
            </a:prstGeom>
            <a:ln w="17318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4" name="直接箭头连接符 143"/>
            <p:cNvCxnSpPr/>
            <p:nvPr/>
          </p:nvCxnSpPr>
          <p:spPr>
            <a:xfrm flipH="1">
              <a:off x="5326300" y="4917535"/>
              <a:ext cx="0" cy="427759"/>
            </a:xfrm>
            <a:prstGeom prst="straightConnector1">
              <a:avLst/>
            </a:prstGeom>
            <a:ln w="17318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5" name="文本框 144"/>
            <p:cNvSpPr txBox="1"/>
            <p:nvPr/>
          </p:nvSpPr>
          <p:spPr>
            <a:xfrm>
              <a:off x="5260491" y="5024331"/>
              <a:ext cx="592282" cy="21416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输入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46" name="文本框 145"/>
            <p:cNvSpPr txBox="1"/>
            <p:nvPr/>
          </p:nvSpPr>
          <p:spPr>
            <a:xfrm>
              <a:off x="7010782" y="3822449"/>
              <a:ext cx="594014" cy="224559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验证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5907614" y="4590222"/>
              <a:ext cx="521855" cy="24591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输出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148" name="直接箭头连接符 147"/>
            <p:cNvCxnSpPr/>
            <p:nvPr/>
          </p:nvCxnSpPr>
          <p:spPr>
            <a:xfrm flipH="1">
              <a:off x="7028100" y="3739322"/>
              <a:ext cx="0" cy="427759"/>
            </a:xfrm>
            <a:prstGeom prst="straightConnector1">
              <a:avLst/>
            </a:prstGeom>
            <a:ln w="17318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744345" y="1243965"/>
          <a:ext cx="5502910" cy="5492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825"/>
                <a:gridCol w="4490085"/>
              </a:tblGrid>
              <a:tr h="3289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核心要素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详细说明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38684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阶段目标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开发自适应脉冲算法，实时温控误差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≤2</a:t>
                      </a:r>
                      <a:r>
                        <a:rPr lang="en-US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°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C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2. 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设计多电池组均衡拓扑，效率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≥92%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</a:pP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3. 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输出可集成软件规范。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7437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参与部门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新能源部门（主导）；前瞻部门（支持系统及算法开发）；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整车部门（支持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结构设计）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62433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资源需求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费用：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endParaRPr lang="en-US" altLang="zh-CN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控制系统集成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硬件测试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1186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现有规范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AUTOSAR R22-11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（算法模块化开发）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ISO 26262-6:2018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ASIL-B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功能安全）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ISO 15118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（充电通信协议）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642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阶段输出物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自适应脉冲加热算法软件模块、多电池组均衡拓扑设计方案、控制器集成规范文档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zh-CN"/>
              <a:t>BACKUP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477520" y="883920"/>
            <a:ext cx="6159500" cy="3397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>
                <a:solidFill>
                  <a:srgbClr val="152A8C"/>
                </a:solidFill>
                <a:sym typeface="+mn-ea"/>
              </a:rPr>
              <a:t>脉冲加热技术研究路线</a:t>
            </a:r>
            <a:r>
              <a:rPr lang="en-US" altLang="zh-CN" sz="1600" b="1">
                <a:solidFill>
                  <a:srgbClr val="152A8C"/>
                </a:solidFill>
                <a:sym typeface="+mn-ea"/>
              </a:rPr>
              <a:t> 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阶段</a:t>
            </a:r>
            <a:r>
              <a:rPr lang="en-US" altLang="zh-CN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2 </a:t>
            </a:r>
            <a:r>
              <a:rPr lang="zh-CN" altLang="en-US" sz="1600" b="1" dirty="0" err="1" smtClean="0">
                <a:solidFill>
                  <a:srgbClr val="003B90"/>
                </a:solidFill>
                <a:latin typeface="+mj-lt"/>
                <a:sym typeface="+mn-ea"/>
              </a:rPr>
              <a:t>算法开发与结构设计</a:t>
            </a:r>
            <a:r>
              <a:rPr lang="zh-CN" altLang="en-US" sz="1600" b="1" dirty="0" err="1" smtClean="0">
                <a:solidFill>
                  <a:srgbClr val="152A8C"/>
                </a:solidFill>
                <a:latin typeface="+mj-lt"/>
                <a:sym typeface="+mn-ea"/>
              </a:rPr>
              <a:t>：</a:t>
            </a:r>
            <a:endParaRPr lang="zh-CN" altLang="en-US" sz="1600" b="1" dirty="0" err="1" smtClean="0">
              <a:solidFill>
                <a:srgbClr val="152A8C"/>
              </a:solidFill>
              <a:latin typeface="+mj-lt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85075" y="1707515"/>
            <a:ext cx="3013710" cy="3181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关键任务分解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 </a:t>
            </a:r>
            <a:endParaRPr lang="en-US" altLang="zh-CN" sz="1400" b="1" dirty="0" err="1" smtClean="0">
              <a:solidFill>
                <a:srgbClr val="003B90"/>
              </a:solidFill>
              <a:latin typeface="+mj-lt"/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7424882" y="2163833"/>
            <a:ext cx="3463636" cy="3660486"/>
            <a:chOff x="8101250" y="2560531"/>
            <a:chExt cx="3463636" cy="3660486"/>
          </a:xfrm>
        </p:grpSpPr>
        <p:sp>
          <p:nvSpPr>
            <p:cNvPr id="8" name="矩形 7"/>
            <p:cNvSpPr/>
            <p:nvPr>
              <p:custDataLst>
                <p:tags r:id="rId3"/>
              </p:custDataLst>
            </p:nvPr>
          </p:nvSpPr>
          <p:spPr>
            <a:xfrm>
              <a:off x="8402586" y="4235199"/>
              <a:ext cx="1178182" cy="605455"/>
            </a:xfrm>
            <a:prstGeom prst="rect">
              <a:avLst/>
            </a:prstGeom>
            <a:solidFill>
              <a:srgbClr val="00B050"/>
            </a:solidFill>
            <a:ln w="17318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系统级低维</a:t>
              </a:r>
              <a:endParaRPr lang="zh-CN" altLang="en-US" sz="1200"/>
            </a:p>
            <a:p>
              <a:pPr algn="ctr"/>
              <a:r>
                <a:rPr lang="zh-CN" altLang="en-US" sz="1200"/>
                <a:t>电</a:t>
              </a:r>
              <a:r>
                <a:rPr lang="en-US" altLang="zh-CN" sz="1200"/>
                <a:t>-</a:t>
              </a:r>
              <a:r>
                <a:rPr lang="zh-CN" altLang="en-US" sz="1200"/>
                <a:t>热模型</a:t>
              </a:r>
              <a:endParaRPr lang="zh-CN" altLang="en-US" sz="1200"/>
            </a:p>
          </p:txBody>
        </p:sp>
        <p:sp>
          <p:nvSpPr>
            <p:cNvPr id="9" name="矩形 8"/>
            <p:cNvSpPr/>
            <p:nvPr>
              <p:custDataLst>
                <p:tags r:id="rId4"/>
              </p:custDataLst>
            </p:nvPr>
          </p:nvSpPr>
          <p:spPr>
            <a:xfrm>
              <a:off x="8400277" y="3065644"/>
              <a:ext cx="1178182" cy="605455"/>
            </a:xfrm>
            <a:prstGeom prst="rect">
              <a:avLst/>
            </a:prstGeom>
            <a:solidFill>
              <a:srgbClr val="FFC000"/>
            </a:solidFill>
            <a:ln w="17318">
              <a:solidFill>
                <a:srgbClr val="FFC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脉冲加热</a:t>
              </a:r>
              <a:endParaRPr lang="zh-CN" altLang="en-US" sz="1200"/>
            </a:p>
            <a:p>
              <a:pPr algn="ctr"/>
              <a:r>
                <a:rPr lang="zh-CN" altLang="en-US" sz="1200"/>
                <a:t>控制算法开发</a:t>
              </a:r>
              <a:endParaRPr lang="zh-CN" altLang="en-US" sz="1200"/>
            </a:p>
          </p:txBody>
        </p:sp>
        <p:sp>
          <p:nvSpPr>
            <p:cNvPr id="10" name="矩形 9"/>
            <p:cNvSpPr/>
            <p:nvPr/>
          </p:nvSpPr>
          <p:spPr>
            <a:xfrm>
              <a:off x="8101250" y="2560531"/>
              <a:ext cx="3463636" cy="3660486"/>
            </a:xfrm>
            <a:prstGeom prst="rect">
              <a:avLst/>
            </a:prstGeom>
            <a:ln w="11545">
              <a:prstDash val="sysDash"/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600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428563" y="2574962"/>
              <a:ext cx="2948132" cy="357332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ctr" anchorCtr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400" b="1" dirty="0" err="1">
                  <a:solidFill>
                    <a:schemeClr val="accent1"/>
                  </a:solidFill>
                  <a:latin typeface="+mj-lt"/>
                </a:rPr>
                <a:t>系统研究</a:t>
              </a:r>
              <a:endParaRPr lang="zh-CN" altLang="en-US" sz="1400" b="1" dirty="0" err="1">
                <a:solidFill>
                  <a:schemeClr val="accent1"/>
                </a:solidFill>
                <a:latin typeface="+mj-lt"/>
              </a:endParaRPr>
            </a:p>
          </p:txBody>
        </p:sp>
        <p:cxnSp>
          <p:nvCxnSpPr>
            <p:cNvPr id="24" name="直接箭头连接符 23"/>
            <p:cNvCxnSpPr/>
            <p:nvPr>
              <p:custDataLst>
                <p:tags r:id="rId5"/>
              </p:custDataLst>
            </p:nvPr>
          </p:nvCxnSpPr>
          <p:spPr>
            <a:xfrm flipH="1">
              <a:off x="9017959" y="3739322"/>
              <a:ext cx="0" cy="427759"/>
            </a:xfrm>
            <a:prstGeom prst="straightConnector1">
              <a:avLst/>
            </a:prstGeom>
            <a:ln w="11545"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5" name="矩形 24"/>
            <p:cNvSpPr/>
            <p:nvPr>
              <p:custDataLst>
                <p:tags r:id="rId6"/>
              </p:custDataLst>
            </p:nvPr>
          </p:nvSpPr>
          <p:spPr>
            <a:xfrm>
              <a:off x="10111891" y="3084694"/>
              <a:ext cx="1178182" cy="606136"/>
            </a:xfrm>
            <a:prstGeom prst="rect">
              <a:avLst/>
            </a:prstGeom>
            <a:solidFill>
              <a:srgbClr val="FFC000"/>
            </a:solidFill>
            <a:ln w="17318">
              <a:solidFill>
                <a:srgbClr val="FFC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电池系统</a:t>
              </a:r>
              <a:endParaRPr lang="zh-CN" altLang="en-US" sz="1200"/>
            </a:p>
            <a:p>
              <a:pPr algn="ctr"/>
              <a:r>
                <a:rPr lang="zh-CN" altLang="en-US" sz="1200"/>
                <a:t>拓扑结构设计</a:t>
              </a:r>
              <a:endParaRPr lang="zh-CN" altLang="en-US" sz="1200"/>
            </a:p>
          </p:txBody>
        </p:sp>
        <p:cxnSp>
          <p:nvCxnSpPr>
            <p:cNvPr id="26" name="直接箭头连接符 25"/>
            <p:cNvCxnSpPr/>
            <p:nvPr>
              <p:custDataLst>
                <p:tags r:id="rId7"/>
              </p:custDataLst>
            </p:nvPr>
          </p:nvCxnSpPr>
          <p:spPr>
            <a:xfrm flipV="1">
              <a:off x="9606777" y="3671781"/>
              <a:ext cx="458355" cy="621145"/>
            </a:xfrm>
            <a:prstGeom prst="straightConnector1">
              <a:avLst/>
            </a:prstGeom>
            <a:ln w="11545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>
              <p:custDataLst>
                <p:tags r:id="rId8"/>
              </p:custDataLst>
            </p:nvPr>
          </p:nvSpPr>
          <p:spPr>
            <a:xfrm>
              <a:off x="9063563" y="3822449"/>
              <a:ext cx="514927" cy="21532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输入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cxnSp>
          <p:nvCxnSpPr>
            <p:cNvPr id="28" name="直接箭头连接符 27"/>
            <p:cNvCxnSpPr/>
            <p:nvPr>
              <p:custDataLst>
                <p:tags r:id="rId9"/>
              </p:custDataLst>
            </p:nvPr>
          </p:nvCxnSpPr>
          <p:spPr>
            <a:xfrm>
              <a:off x="9621786" y="4524412"/>
              <a:ext cx="458355" cy="0"/>
            </a:xfrm>
            <a:prstGeom prst="straightConnector1">
              <a:avLst/>
            </a:prstGeom>
            <a:ln w="11545"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" name="矩形 28"/>
            <p:cNvSpPr/>
            <p:nvPr>
              <p:custDataLst>
                <p:tags r:id="rId10"/>
              </p:custDataLst>
            </p:nvPr>
          </p:nvSpPr>
          <p:spPr>
            <a:xfrm>
              <a:off x="10121127" y="4234622"/>
              <a:ext cx="1175327" cy="606136"/>
            </a:xfrm>
            <a:prstGeom prst="rect">
              <a:avLst/>
            </a:prstGeom>
            <a:solidFill>
              <a:srgbClr val="00B050"/>
            </a:solidFill>
            <a:ln w="17318">
              <a:solidFill>
                <a:srgbClr val="FFC00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电池脉冲</a:t>
              </a:r>
              <a:endParaRPr lang="zh-CN" altLang="en-US" sz="1200"/>
            </a:p>
            <a:p>
              <a:pPr algn="ctr"/>
              <a:r>
                <a:rPr lang="zh-CN" altLang="en-US" sz="1200"/>
                <a:t>加热仿真系统</a:t>
              </a:r>
              <a:r>
                <a:rPr lang="en-US" altLang="zh-CN" sz="1200"/>
                <a:t> </a:t>
              </a:r>
              <a:endParaRPr lang="en-US" altLang="zh-CN" sz="1200"/>
            </a:p>
          </p:txBody>
        </p:sp>
        <p:sp>
          <p:nvSpPr>
            <p:cNvPr id="30" name="矩形 29"/>
            <p:cNvSpPr/>
            <p:nvPr>
              <p:custDataLst>
                <p:tags r:id="rId11"/>
              </p:custDataLst>
            </p:nvPr>
          </p:nvSpPr>
          <p:spPr>
            <a:xfrm>
              <a:off x="8400277" y="5375890"/>
              <a:ext cx="1178791" cy="606136"/>
            </a:xfrm>
            <a:prstGeom prst="rect">
              <a:avLst/>
            </a:prstGeom>
            <a:ln w="17318">
              <a:solidFill>
                <a:srgbClr val="00B050"/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>
                  <a:sym typeface="+mn-ea"/>
                </a:rPr>
                <a:t>电芯电</a:t>
              </a:r>
              <a:r>
                <a:rPr lang="en-US" altLang="zh-CN" sz="1200">
                  <a:sym typeface="+mn-ea"/>
                </a:rPr>
                <a:t>-</a:t>
              </a:r>
              <a:r>
                <a:rPr lang="zh-CN" altLang="en-US" sz="1200">
                  <a:sym typeface="+mn-ea"/>
                </a:rPr>
                <a:t>热</a:t>
              </a:r>
              <a:endParaRPr lang="zh-CN" altLang="en-US" sz="1200">
                <a:sym typeface="+mn-ea"/>
              </a:endParaRPr>
            </a:p>
            <a:p>
              <a:pPr algn="ctr"/>
              <a:r>
                <a:rPr lang="zh-CN" altLang="en-US" sz="1200">
                  <a:sym typeface="+mn-ea"/>
                </a:rPr>
                <a:t>模型简化</a:t>
              </a:r>
              <a:endParaRPr lang="zh-CN" altLang="en-US" sz="1200">
                <a:sym typeface="+mn-ea"/>
              </a:endParaRPr>
            </a:p>
          </p:txBody>
        </p:sp>
        <p:cxnSp>
          <p:nvCxnSpPr>
            <p:cNvPr id="31" name="直接箭头连接符 30"/>
            <p:cNvCxnSpPr/>
            <p:nvPr>
              <p:custDataLst>
                <p:tags r:id="rId12"/>
              </p:custDataLst>
            </p:nvPr>
          </p:nvCxnSpPr>
          <p:spPr>
            <a:xfrm flipH="1">
              <a:off x="9017959" y="4917535"/>
              <a:ext cx="0" cy="427759"/>
            </a:xfrm>
            <a:prstGeom prst="straightConnector1">
              <a:avLst/>
            </a:prstGeom>
            <a:ln w="17318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2" name="文本框 31"/>
            <p:cNvSpPr txBox="1"/>
            <p:nvPr>
              <p:custDataLst>
                <p:tags r:id="rId13"/>
              </p:custDataLst>
            </p:nvPr>
          </p:nvSpPr>
          <p:spPr>
            <a:xfrm>
              <a:off x="8952150" y="5024331"/>
              <a:ext cx="592282" cy="21416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输入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14"/>
              </p:custDataLst>
            </p:nvPr>
          </p:nvSpPr>
          <p:spPr>
            <a:xfrm>
              <a:off x="9908691" y="3822449"/>
              <a:ext cx="514927" cy="215323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输入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8" name="文本框 37"/>
            <p:cNvSpPr txBox="1"/>
            <p:nvPr>
              <p:custDataLst>
                <p:tags r:id="rId15"/>
              </p:custDataLst>
            </p:nvPr>
          </p:nvSpPr>
          <p:spPr>
            <a:xfrm>
              <a:off x="9580800" y="4590222"/>
              <a:ext cx="521855" cy="245918"/>
            </a:xfrm>
            <a:prstGeom prst="rect">
              <a:avLst/>
            </a:prstGeom>
            <a:noFill/>
          </p:spPr>
          <p:txBody>
            <a:bodyPr wrap="square" lIns="36000" tIns="36000" rIns="36000" bIns="36000" rtlCol="0">
              <a:noAutofit/>
            </a:bodyPr>
            <a:lstStyle/>
            <a:p>
              <a:pPr algn="ctr">
                <a:spcBef>
                  <a:spcPts val="600"/>
                </a:spcBef>
              </a:pPr>
              <a:r>
                <a:rPr lang="zh-CN" altLang="en-US" sz="1000" dirty="0" err="1">
                  <a:solidFill>
                    <a:schemeClr val="tx1"/>
                  </a:solidFill>
                  <a:latin typeface="+mj-lt"/>
                </a:rPr>
                <a:t>整合</a:t>
              </a:r>
              <a:endParaRPr lang="zh-CN" altLang="en-US" sz="1000" dirty="0" err="1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6"/>
              </p:custDataLst>
            </p:nvPr>
          </p:nvSpPr>
          <p:spPr>
            <a:xfrm>
              <a:off x="10121127" y="5375312"/>
              <a:ext cx="1175327" cy="606136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7318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3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zh-CN" altLang="en-US" sz="1200"/>
                <a:t>系统级</a:t>
              </a:r>
              <a:endParaRPr lang="zh-CN" altLang="en-US" sz="1200"/>
            </a:p>
            <a:p>
              <a:pPr algn="ctr"/>
              <a:r>
                <a:rPr lang="zh-CN" altLang="en-US" sz="1200"/>
                <a:t>在线测试</a:t>
              </a:r>
              <a:endParaRPr lang="zh-CN" altLang="en-US" sz="1200"/>
            </a:p>
          </p:txBody>
        </p:sp>
        <p:cxnSp>
          <p:nvCxnSpPr>
            <p:cNvPr id="40" name="直接箭头连接符 39"/>
            <p:cNvCxnSpPr/>
            <p:nvPr>
              <p:custDataLst>
                <p:tags r:id="rId17"/>
              </p:custDataLst>
            </p:nvPr>
          </p:nvCxnSpPr>
          <p:spPr>
            <a:xfrm flipH="1">
              <a:off x="10759591" y="4917535"/>
              <a:ext cx="0" cy="427759"/>
            </a:xfrm>
            <a:prstGeom prst="straightConnector1">
              <a:avLst/>
            </a:prstGeom>
            <a:ln w="11545" cmpd="sng">
              <a:solidFill>
                <a:schemeClr val="accent1">
                  <a:shade val="50000"/>
                </a:schemeClr>
              </a:solidFill>
              <a:prstDash val="solid"/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>
              <p:custDataLst>
                <p:tags r:id="rId18"/>
              </p:custDataLst>
            </p:nvPr>
          </p:nvCxnSpPr>
          <p:spPr>
            <a:xfrm flipH="1">
              <a:off x="10759591" y="3739322"/>
              <a:ext cx="0" cy="427759"/>
            </a:xfrm>
            <a:prstGeom prst="straightConnector1">
              <a:avLst/>
            </a:prstGeom>
            <a:ln w="11545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文本框 43"/>
            <p:cNvSpPr txBox="1"/>
            <p:nvPr>
              <p:custDataLst>
                <p:tags r:id="rId19"/>
              </p:custDataLst>
            </p:nvPr>
          </p:nvSpPr>
          <p:spPr>
            <a:xfrm>
              <a:off x="10812700" y="3815522"/>
              <a:ext cx="563995" cy="249959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t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zh-CN" altLang="en-US" sz="1000" dirty="0" err="1">
                  <a:latin typeface="+mj-lt"/>
                  <a:sym typeface="+mn-ea"/>
                </a:rPr>
                <a:t>调整</a:t>
              </a:r>
              <a:endParaRPr lang="zh-CN" altLang="en-US" sz="1000" dirty="0" err="1">
                <a:latin typeface="+mj-lt"/>
                <a:sym typeface="+mn-ea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20"/>
              </p:custDataLst>
            </p:nvPr>
          </p:nvSpPr>
          <p:spPr>
            <a:xfrm>
              <a:off x="10824822" y="5006435"/>
              <a:ext cx="739486" cy="249959"/>
            </a:xfrm>
            <a:prstGeom prst="rect">
              <a:avLst/>
            </a:prstGeom>
            <a:noFill/>
          </p:spPr>
          <p:txBody>
            <a:bodyPr wrap="square" lIns="36000" tIns="36000" rIns="36000" bIns="36000" rtlCol="0" anchor="t">
              <a:noAutofit/>
            </a:bodyPr>
            <a:lstStyle/>
            <a:p>
              <a:pPr algn="l">
                <a:spcBef>
                  <a:spcPts val="600"/>
                </a:spcBef>
              </a:pPr>
              <a:r>
                <a:rPr lang="zh-CN" altLang="en-US" sz="1000" dirty="0" err="1">
                  <a:latin typeface="+mj-lt"/>
                  <a:sym typeface="+mn-ea"/>
                </a:rPr>
                <a:t>验证</a:t>
              </a:r>
              <a:endParaRPr lang="zh-CN" altLang="en-US" sz="1000" dirty="0" err="1">
                <a:latin typeface="+mj-lt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744345" y="1243965"/>
          <a:ext cx="5502910" cy="5498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825"/>
                <a:gridCol w="4490085"/>
              </a:tblGrid>
              <a:tr h="3289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核心要素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详细说明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30556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阶段目标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5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验证台架脉冲加热性能，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-20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温升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≥15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 in 15min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完成耐久性考核，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500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次循环无失效，。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5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输出台架验收报告，问题闭环率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100%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7437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参与部门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整车部门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（主导）；新能源部门（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BMS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调试）；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前瞻部门（算法优化）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529715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资源需求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费用：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项目明细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- -20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冷启动脉冲加热测试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快充兼容性测试（脉冲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充电协同）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- EMC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抗扰度测试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91186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现有规范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《电池系统台架测试规程》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480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阶段输出物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/>
                      <a:b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</a:b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台架测试报告（含性能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耐久数据）、问题闭环清单、台架验收证书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zh-CN"/>
              <a:t>BACKUP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477520" y="883920"/>
            <a:ext cx="6159500" cy="3397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>
                <a:solidFill>
                  <a:srgbClr val="152A8C"/>
                </a:solidFill>
                <a:sym typeface="+mn-ea"/>
              </a:rPr>
              <a:t>脉冲加热技术研究路线</a:t>
            </a:r>
            <a:r>
              <a:rPr lang="en-US" altLang="zh-CN" sz="1600" b="1">
                <a:solidFill>
                  <a:srgbClr val="152A8C"/>
                </a:solidFill>
                <a:sym typeface="+mn-ea"/>
              </a:rPr>
              <a:t> </a:t>
            </a:r>
            <a:r>
              <a:rPr lang="zh-CN" altLang="en-US" sz="1600" b="1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阶段</a:t>
            </a:r>
            <a:r>
              <a:rPr lang="en-US" altLang="zh-CN" sz="1600" b="1" noProof="0" dirty="0" err="1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 </a:t>
            </a:r>
            <a:r>
              <a:rPr lang="zh-CN" altLang="en-US" sz="1600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台架集成验证</a:t>
            </a:r>
            <a:r>
              <a:rPr lang="zh-CN" altLang="en-US" sz="1600" b="1" dirty="0" err="1" smtClean="0">
                <a:solidFill>
                  <a:srgbClr val="152A8C"/>
                </a:solidFill>
                <a:latin typeface="+mj-lt"/>
                <a:sym typeface="+mn-ea"/>
              </a:rPr>
              <a:t>：</a:t>
            </a:r>
            <a:endParaRPr lang="zh-CN" altLang="en-US" sz="1600" b="1" dirty="0" err="1" smtClean="0">
              <a:solidFill>
                <a:srgbClr val="152A8C"/>
              </a:solidFill>
              <a:latin typeface="+mj-lt"/>
              <a:sym typeface="+mn-ea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585075" y="1707515"/>
            <a:ext cx="3013710" cy="3181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关键任务分解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 </a:t>
            </a:r>
            <a:endParaRPr lang="en-US" altLang="zh-CN" sz="1400" b="1" dirty="0" err="1" smtClean="0">
              <a:solidFill>
                <a:srgbClr val="003B90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2"/>
          </p:nvPr>
        </p:nvSpPr>
        <p:spPr/>
        <p:txBody>
          <a:bodyPr/>
          <a:p>
            <a:r>
              <a:rPr lang="en-US" altLang="zh-CN"/>
              <a:t>BACKUP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477520" y="883920"/>
            <a:ext cx="6159500" cy="33972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marL="285750" indent="-285750" algn="l">
              <a:lnSpc>
                <a:spcPct val="90000"/>
              </a:lnSpc>
              <a:spcBef>
                <a:spcPts val="600"/>
              </a:spcBef>
              <a:buFont typeface="Wingdings" panose="05000000000000000000" charset="0"/>
              <a:buChar char="p"/>
            </a:pPr>
            <a:r>
              <a:rPr lang="zh-CN" altLang="en-US" sz="1600" b="1">
                <a:solidFill>
                  <a:srgbClr val="152A8C"/>
                </a:solidFill>
                <a:sym typeface="+mn-ea"/>
              </a:rPr>
              <a:t>脉冲加热技术研究路线</a:t>
            </a:r>
            <a:r>
              <a:rPr lang="en-US" altLang="zh-CN" sz="1600" b="1">
                <a:solidFill>
                  <a:srgbClr val="152A8C"/>
                </a:solidFill>
                <a:sym typeface="+mn-ea"/>
              </a:rPr>
              <a:t> </a:t>
            </a:r>
            <a:r>
              <a:rPr lang="zh-CN" altLang="en-US" sz="1600" b="1" dirty="0" err="1" smtClean="0">
                <a:solidFill>
                  <a:srgbClr val="152A8C"/>
                </a:solidFill>
                <a:latin typeface="+mj-lt"/>
              </a:rPr>
              <a:t>阶段</a:t>
            </a:r>
            <a:r>
              <a:rPr lang="en-US" altLang="zh-CN" sz="1600" b="1" dirty="0" err="1" smtClean="0">
                <a:solidFill>
                  <a:srgbClr val="152A8C"/>
                </a:solidFill>
                <a:latin typeface="+mj-lt"/>
              </a:rPr>
              <a:t>4</a:t>
            </a:r>
            <a:r>
              <a:rPr lang="en-US" altLang="zh-CN" sz="1600" b="1" dirty="0" err="1" smtClean="0">
                <a:solidFill>
                  <a:srgbClr val="152A8C"/>
                </a:solidFill>
                <a:latin typeface="+mj-lt"/>
              </a:rPr>
              <a:t> </a:t>
            </a:r>
            <a:r>
              <a:rPr lang="zh-CN" altLang="en-US" sz="1600" b="1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整车集成测试</a:t>
            </a:r>
            <a:r>
              <a:rPr lang="zh-CN" altLang="en-US" sz="1600" b="1" dirty="0" err="1" smtClean="0">
                <a:solidFill>
                  <a:srgbClr val="152A8C"/>
                </a:solidFill>
                <a:latin typeface="+mj-lt"/>
                <a:sym typeface="+mn-ea"/>
              </a:rPr>
              <a:t>：</a:t>
            </a:r>
            <a:endParaRPr lang="zh-CN" altLang="en-US" sz="1600" b="1" dirty="0" err="1" smtClean="0">
              <a:solidFill>
                <a:srgbClr val="152A8C"/>
              </a:solidFill>
              <a:latin typeface="+mj-lt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775460" y="1232535"/>
          <a:ext cx="5502910" cy="5525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825"/>
                <a:gridCol w="4490085"/>
              </a:tblGrid>
              <a:tr h="32893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核心要素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详细说明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126365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阶段目标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1.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完成整车电气架构调整（兼容脉冲系统）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2.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通过寒区实车验证（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-30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续航衰减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≤15%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3.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项目验收并输出量产可行性报告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7437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参与部门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整车部门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（主导）；新能源部门（</a:t>
                      </a:r>
                      <a:r>
                        <a:rPr lang="en-US" altLang="zh-CN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BMS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软件更新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）；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前瞻部门（</a:t>
                      </a: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支持标定）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1861820">
                <a:tc>
                  <a:txBody>
                    <a:bodyPr/>
                    <a:p>
                      <a:pPr marL="0" indent="0" algn="ctr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资源需求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费用：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万元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寒区路试（含车辆改装）：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人员差旅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第三方支持：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万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+mn-ea"/>
                        </a:rPr>
                        <a:t>项目明细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：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- -30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冷启动续航测试（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0-50km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快充脉冲协同测试（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-20</a:t>
                      </a:r>
                      <a:r>
                        <a:rPr lang="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°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冬季标定（温度</a:t>
                      </a: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/SOC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补偿策略）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2994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现有规范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lnSpc>
                          <a:spcPct val="130000"/>
                        </a:lnSpc>
                      </a:pPr>
                      <a:r>
                        <a:rPr lang="en-US" altLang="zh-CN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 </a:t>
                      </a:r>
                      <a:r>
                        <a:rPr lang="zh-CN" altLang="en-US" sz="1200" b="0" i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《商用车冬季测试规程》</a:t>
                      </a:r>
                      <a:endParaRPr lang="zh-CN" altLang="en-US" sz="1200" b="0" i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200025" marR="200025" marT="100012" marB="100012"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6420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阶段输出物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12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整车验证报告（含寒区数据）、量产可行性建议书、项目验收证书</a:t>
                      </a:r>
                      <a:endParaRPr lang="zh-CN" altLang="en-US" sz="12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 anchorCtr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7469505" y="1052195"/>
            <a:ext cx="3013710" cy="318135"/>
          </a:xfrm>
          <a:prstGeom prst="rect">
            <a:avLst/>
          </a:prstGeom>
          <a:noFill/>
        </p:spPr>
        <p:txBody>
          <a:bodyPr wrap="square" lIns="36000" tIns="36000" rIns="36000" bIns="36000" rtlCol="0">
            <a:noAutofit/>
          </a:bodyPr>
          <a:p>
            <a:pPr algn="ctr">
              <a:spcBef>
                <a:spcPts val="600"/>
              </a:spcBef>
            </a:pPr>
            <a:r>
              <a:rPr lang="zh-CN" altLang="en-US" sz="1400" b="1" dirty="0" err="1" smtClean="0">
                <a:solidFill>
                  <a:srgbClr val="003B90"/>
                </a:solidFill>
                <a:latin typeface="+mj-lt"/>
              </a:rPr>
              <a:t>关键任务分解</a:t>
            </a:r>
            <a:r>
              <a:rPr lang="en-US" altLang="zh-CN" sz="1400" b="1" dirty="0" err="1" smtClean="0">
                <a:solidFill>
                  <a:srgbClr val="003B90"/>
                </a:solidFill>
                <a:latin typeface="+mj-lt"/>
              </a:rPr>
              <a:t> </a:t>
            </a:r>
            <a:endParaRPr lang="en-US" altLang="zh-CN" sz="1400" b="1" dirty="0" err="1" smtClean="0">
              <a:solidFill>
                <a:srgbClr val="003B90"/>
              </a:solidFill>
              <a:latin typeface="+mj-lt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6.9133858267716,&quot;left&quot;:77.38488188976378,&quot;top&quot;:94.23244094488189,&quot;width&quot;:817.1209448818897}"/>
</p:tagLst>
</file>

<file path=ppt/tags/tag2.xml><?xml version="1.0" encoding="utf-8"?>
<p:tagLst xmlns:p="http://schemas.openxmlformats.org/presentationml/2006/main">
  <p:tag name="KSO_WM_DIAGRAM_VIRTUALLY_FRAME" val="{&quot;height&quot;:256.9133858267716,&quot;left&quot;:77.38488188976378,&quot;top&quot;:94.23244094488189,&quot;width&quot;:817.1209448818897}"/>
</p:tagLst>
</file>

<file path=ppt/tags/tag3.xml><?xml version="1.0" encoding="utf-8"?>
<p:tagLst xmlns:p="http://schemas.openxmlformats.org/presentationml/2006/main">
  <p:tag name="KSO_WM_DIAGRAM_VIRTUALLY_FRAME" val="{&quot;height&quot;:256.9133858267716,&quot;left&quot;:77.38488188976378,&quot;top&quot;:94.23244094488189,&quot;width&quot;:817.1209448818897}"/>
</p:tagLst>
</file>

<file path=ppt/tags/tag4.xml><?xml version="1.0" encoding="utf-8"?>
<p:tagLst xmlns:p="http://schemas.openxmlformats.org/presentationml/2006/main">
  <p:tag name="KSO_WM_DIAGRAM_VIRTUALLY_FRAME" val="{&quot;height&quot;:256.9133858267716,&quot;left&quot;:77.38488188976378,&quot;top&quot;:94.23244094488189,&quot;width&quot;:817.1209448818897}"/>
</p:tagLst>
</file>

<file path=ppt/tags/tag5.xml><?xml version="1.0" encoding="utf-8"?>
<p:tagLst xmlns:p="http://schemas.openxmlformats.org/presentationml/2006/main">
  <p:tag name="KSO_WM_DIAGRAM_VIRTUALLY_FRAME" val="{&quot;height&quot;:256.9133858267716,&quot;left&quot;:77.38488188976378,&quot;top&quot;:94.23244094488189,&quot;width&quot;:817.1209448818897}"/>
</p:tagLst>
</file>

<file path=ppt/tags/tag6.xml><?xml version="1.0" encoding="utf-8"?>
<p:tagLst xmlns:p="http://schemas.openxmlformats.org/presentationml/2006/main">
  <p:tag name="KSO_WM_DIAGRAM_VIRTUALLY_FRAME" val="{&quot;height&quot;:256.9133858267716,&quot;left&quot;:77.38488188976378,&quot;top&quot;:94.23244094488189,&quot;width&quot;:817.1209448818897}"/>
</p:tagLst>
</file>

<file path=ppt/tags/tag7.xml><?xml version="1.0" encoding="utf-8"?>
<p:tagLst xmlns:p="http://schemas.openxmlformats.org/presentationml/2006/main">
  <p:tag name="KSO_WM_DIAGRAM_VIRTUALLY_FRAME" val="{&quot;height&quot;:256.9133858267716,&quot;left&quot;:77.38488188976378,&quot;top&quot;:94.23244094488189,&quot;width&quot;:817.1209448818897}"/>
</p:tagLst>
</file>

<file path=ppt/tags/tag8.xml><?xml version="1.0" encoding="utf-8"?>
<p:tagLst xmlns:p="http://schemas.openxmlformats.org/presentationml/2006/main">
  <p:tag name="KSO_WM_DIAGRAM_VIRTUALLY_FRAME" val="{&quot;height&quot;:256.9133858267716,&quot;left&quot;:77.38488188976378,&quot;top&quot;:94.23244094488189,&quot;width&quot;:817.1209448818897}"/>
</p:tagLst>
</file>

<file path=ppt/tags/tag9.xml><?xml version="1.0" encoding="utf-8"?>
<p:tagLst xmlns:p="http://schemas.openxmlformats.org/presentationml/2006/main">
  <p:tag name="TABLE_ENDDRAG_ORIGIN_RECT" val="236*46"/>
  <p:tag name="TABLE_ENDDRAG_RECT" val="49*162*236*46"/>
</p:tagLst>
</file>

<file path=ppt/tags/tag10.xml><?xml version="1.0" encoding="utf-8"?>
<p:tagLst xmlns:p="http://schemas.openxmlformats.org/presentationml/2006/main">
  <p:tag name="TABLE_ENDDRAG_ORIGIN_RECT" val="321*197"/>
  <p:tag name="TABLE_ENDDRAG_RECT" val="603*161*321*197"/>
</p:tagLst>
</file>

<file path=ppt/tags/tag11.xml><?xml version="1.0" encoding="utf-8"?>
<p:tagLst xmlns:p="http://schemas.openxmlformats.org/presentationml/2006/main">
  <p:tag name="TABLE_ENDDRAG_ORIGIN_RECT" val="281*89"/>
  <p:tag name="TABLE_ENDDRAG_RECT" val="26*295*281*89"/>
</p:tagLst>
</file>

<file path=ppt/tags/tag12.xml><?xml version="1.0" encoding="utf-8"?>
<p:tagLst xmlns:p="http://schemas.openxmlformats.org/presentationml/2006/main">
  <p:tag name="TABLE_ENDDRAG_ORIGIN_RECT" val="877*317"/>
  <p:tag name="TABLE_ENDDRAG_RECT" val="40*117*877*317"/>
</p:tagLst>
</file>

<file path=ppt/tags/tag13.xml><?xml version="1.0" encoding="utf-8"?>
<p:tagLst xmlns:p="http://schemas.openxmlformats.org/presentationml/2006/main">
  <p:tag name="TABLE_ENDDRAG_ORIGIN_RECT" val="433*351"/>
  <p:tag name="TABLE_ENDDRAG_RECT" val="92*99*433*351"/>
</p:tagLst>
</file>

<file path=ppt/tags/tag14.xml><?xml version="1.0" encoding="utf-8"?>
<p:tagLst xmlns:p="http://schemas.openxmlformats.org/presentationml/2006/main">
  <p:tag name="TABLE_ENDDRAG_ORIGIN_RECT" val="433*351"/>
  <p:tag name="TABLE_ENDDRAG_RECT" val="92*99*433*351"/>
</p:tagLst>
</file>

<file path=ppt/tags/tag15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16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17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18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19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0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1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2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3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4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5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6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7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8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29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30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31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32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33.xml><?xml version="1.0" encoding="utf-8"?>
<p:tagLst xmlns:p="http://schemas.openxmlformats.org/presentationml/2006/main">
  <p:tag name="KSO_WM_DIAGRAM_VIRTUALLY_FRAME" val="{&quot;height&quot;:288.2272440944882,&quot;left&quot;:584.6363779527559,&quot;top&quot;:170.38055118110233,&quot;width&quot;:272.7272440944882}"/>
</p:tagLst>
</file>

<file path=ppt/tags/tag34.xml><?xml version="1.0" encoding="utf-8"?>
<p:tagLst xmlns:p="http://schemas.openxmlformats.org/presentationml/2006/main">
  <p:tag name="TABLE_ENDDRAG_ORIGIN_RECT" val="433*427"/>
  <p:tag name="TABLE_ENDDRAG_RECT" val="137*97*433*427"/>
</p:tagLst>
</file>

<file path=ppt/tags/tag35.xml><?xml version="1.0" encoding="utf-8"?>
<p:tagLst xmlns:p="http://schemas.openxmlformats.org/presentationml/2006/main">
  <p:tag name="TABLE_ENDDRAG_ORIGIN_RECT" val="433*423"/>
  <p:tag name="TABLE_ENDDRAG_RECT" val="139*97*433*423"/>
</p:tagLst>
</file>

<file path=ppt/theme/theme1.xml><?xml version="1.0" encoding="utf-8"?>
<a:theme xmlns:a="http://schemas.openxmlformats.org/drawingml/2006/main" name="Office 主题​​">
  <a:themeElements>
    <a:clrScheme name="VI标准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152A8C"/>
      </a:accent1>
      <a:accent2>
        <a:srgbClr val="2796D4"/>
      </a:accent2>
      <a:accent3>
        <a:srgbClr val="EDEDED"/>
      </a:accent3>
      <a:accent4>
        <a:srgbClr val="B10011"/>
      </a:accent4>
      <a:accent5>
        <a:srgbClr val="FFFFFF"/>
      </a:accent5>
      <a:accent6>
        <a:srgbClr val="FFFFFF"/>
      </a:accent6>
      <a:hlink>
        <a:srgbClr val="FFFFFF"/>
      </a:hlink>
      <a:folHlink>
        <a:srgbClr val="FFFFFF"/>
      </a:folHlink>
    </a:clrScheme>
    <a:fontScheme name="默认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36000" tIns="36000" rIns="36000" bIns="36000" rtlCol="0">
        <a:noAutofit/>
      </a:bodyPr>
      <a:lstStyle>
        <a:defPPr algn="l">
          <a:spcBef>
            <a:spcPts val="600"/>
          </a:spcBef>
          <a:defRPr dirty="0" err="1" smtClean="0">
            <a:solidFill>
              <a:srgbClr val="003B90"/>
            </a:solidFill>
            <a:latin typeface="+mj-lt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3148</Words>
  <Application>WPS 演示</Application>
  <PresentationFormat>宽屏</PresentationFormat>
  <Paragraphs>523</Paragraphs>
  <Slides>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方正兰亭中黑_GBK</vt:lpstr>
      <vt:lpstr>黑体</vt:lpstr>
      <vt:lpstr>Wingdings</vt:lpstr>
      <vt:lpstr>Calibri</vt:lpstr>
      <vt:lpstr>Arial Unicode MS</vt:lpstr>
      <vt:lpstr>等线</vt:lpstr>
      <vt:lpstr>lato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一汽解放PPT模板</dc:title>
  <dc:creator>一汽解放</dc:creator>
  <cp:lastModifiedBy>WPS_1632448344</cp:lastModifiedBy>
  <cp:revision>498</cp:revision>
  <cp:lastPrinted>2023-05-19T05:02:00Z</cp:lastPrinted>
  <dcterms:created xsi:type="dcterms:W3CDTF">2015-12-28T03:19:00Z</dcterms:created>
  <dcterms:modified xsi:type="dcterms:W3CDTF">2025-12-18T02:33:51Z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C3AB94A2F336468199CC7CC5323B3AC8_13</vt:lpwstr>
  </property>
  <property fmtid="{D5CDD505-2E9C-101B-9397-08002B2CF9AE}" pid="3" name="KSOProductBuildVer">
    <vt:lpwstr>2052-12.1.0.24034</vt:lpwstr>
  </property>
</Properties>
</file>
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62" r:id="rId3"/>
    <p:sldId id="3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4E4"/>
    <a:srgbClr val="FF37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三、脉冲加热技术开发路线（</a:t>
            </a:r>
            <a:r>
              <a:rPr lang="zh-CN" altLang="en-US" dirty="0">
                <a:sym typeface="+mn-ea"/>
              </a:rPr>
              <a:t>改）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74675" y="2443480"/>
          <a:ext cx="11137900" cy="3956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370"/>
                <a:gridCol w="927735"/>
                <a:gridCol w="937895"/>
                <a:gridCol w="918845"/>
                <a:gridCol w="927735"/>
                <a:gridCol w="928370"/>
                <a:gridCol w="928370"/>
                <a:gridCol w="936625"/>
                <a:gridCol w="919480"/>
                <a:gridCol w="928370"/>
                <a:gridCol w="927735"/>
                <a:gridCol w="928370"/>
              </a:tblGrid>
              <a:tr h="13188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</a:tr>
              <a:tr h="13188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13188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圆角矩形 5"/>
          <p:cNvSpPr/>
          <p:nvPr/>
        </p:nvSpPr>
        <p:spPr>
          <a:xfrm>
            <a:off x="1021715" y="2602865"/>
            <a:ext cx="1404000" cy="216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电芯低温性能实验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6380" y="6400165"/>
            <a:ext cx="7067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327640" y="6400165"/>
            <a:ext cx="8210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924050" y="2893060"/>
            <a:ext cx="1410970" cy="215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电芯电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热耦合建模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82820" y="6400165"/>
            <a:ext cx="7067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361690" y="2893060"/>
            <a:ext cx="1427480" cy="215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三维热模型建模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889885" y="2603500"/>
            <a:ext cx="1898650" cy="215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/Pack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脉冲加热实验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361055" y="3169920"/>
            <a:ext cx="1836000" cy="215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脉冲加热方案设计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9030" y="4086575"/>
            <a:ext cx="362585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拓扑设计和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策略实现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63630" y="6400165"/>
            <a:ext cx="8210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27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257165" y="3169920"/>
            <a:ext cx="1332000" cy="216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脉冲加热寿命评估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361055" y="3982085"/>
            <a:ext cx="3228340" cy="215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simulink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脉冲加热仿真系统开发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309110" y="3463290"/>
            <a:ext cx="2280285" cy="216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脉冲加热算法开发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1507490" y="4309110"/>
            <a:ext cx="1854000" cy="215900"/>
          </a:xfrm>
          <a:prstGeom prst="roundRect">
            <a:avLst/>
          </a:prstGeom>
          <a:gradFill>
            <a:gsLst>
              <a:gs pos="0">
                <a:srgbClr val="4964E4"/>
              </a:gs>
              <a:gs pos="100000">
                <a:srgbClr val="FF374A"/>
              </a:gs>
            </a:gsLst>
            <a:lin ang="0" scaled="0"/>
          </a:gradFill>
          <a:ln w="635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拓扑结构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初步设计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0798810" y="6128385"/>
            <a:ext cx="913765" cy="216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实车测试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597775" y="5673090"/>
            <a:ext cx="1807845" cy="215900"/>
          </a:xfrm>
          <a:prstGeom prst="roundRect">
            <a:avLst/>
          </a:prstGeom>
          <a:gradFill flip="none" rotWithShape="1">
            <a:gsLst>
              <a:gs pos="0">
                <a:srgbClr val="4964E4"/>
              </a:gs>
              <a:gs pos="50000">
                <a:srgbClr val="FF374A"/>
              </a:gs>
              <a:gs pos="100000">
                <a:srgbClr val="00B050"/>
              </a:gs>
            </a:gsLst>
            <a:lin ang="0" scaled="1"/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台架耐久性测试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5202555" y="4776470"/>
            <a:ext cx="1854200" cy="2159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系统控制软件集成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589395" y="5161915"/>
            <a:ext cx="1008000" cy="216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台架原型准备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9879330" y="5673090"/>
            <a:ext cx="919480" cy="460375"/>
          </a:xfrm>
          <a:prstGeom prst="roundRect">
            <a:avLst/>
          </a:prstGeom>
          <a:gradFill>
            <a:gsLst>
              <a:gs pos="0">
                <a:srgbClr val="4964E4"/>
              </a:gs>
              <a:gs pos="50000">
                <a:srgbClr val="FF374A"/>
              </a:gs>
              <a:gs pos="100000">
                <a:srgbClr val="00B050"/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电气调整、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软件更新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7520" y="883920"/>
            <a:ext cx="11271885" cy="8629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策略与算法开发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完成从电芯到电池包的理论建模，设计高效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脉冲加热方案，开发自适应脉冲加热算法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拓扑设计与策略实现：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根据总体方案</a:t>
            </a:r>
            <a:r>
              <a:rPr lang="zh-CN" altLang="en-US" sz="14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设计加热拓扑结构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建立脉冲加热系统模型，输出可集成的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加热控制程序；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集成与测试验证：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通过系统台架实验完成性能和耐久性考核；最终</a:t>
            </a:r>
            <a:r>
              <a:rPr lang="zh-CN" altLang="en-US" sz="14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在实车上</a:t>
            </a:r>
            <a:r>
              <a:rPr lang="zh-CN" altLang="en-US" sz="140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完成集成、冬季标定和项目验收。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00380" y="1747520"/>
            <a:ext cx="1296035" cy="360000"/>
          </a:xfrm>
          <a:prstGeom prst="rect">
            <a:avLst/>
          </a:prstGeom>
          <a:solidFill>
            <a:srgbClr val="4964E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动力总成前瞻部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917700" y="1748155"/>
            <a:ext cx="1296000" cy="360000"/>
          </a:xfrm>
          <a:prstGeom prst="rect">
            <a:avLst/>
          </a:prstGeom>
          <a:solidFill>
            <a:srgbClr val="FF374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新能源开发部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335020" y="1747520"/>
            <a:ext cx="1296000" cy="360000"/>
          </a:xfrm>
          <a:prstGeom prst="rect">
            <a:avLst/>
          </a:prstGeom>
          <a:solidFill>
            <a:srgbClr val="00B050"/>
          </a:solidFill>
          <a:ln>
            <a:solidFill>
              <a:srgbClr val="0F298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中重型车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开发部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74675" y="3870960"/>
            <a:ext cx="932815" cy="43815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总体方案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选择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597140" y="5405755"/>
            <a:ext cx="1808480" cy="215900"/>
          </a:xfrm>
          <a:prstGeom prst="roundRect">
            <a:avLst/>
          </a:prstGeom>
          <a:gradFill flip="none" rotWithShape="1">
            <a:gsLst>
              <a:gs pos="0">
                <a:srgbClr val="4964E4"/>
              </a:gs>
              <a:gs pos="50000">
                <a:srgbClr val="FF374A"/>
              </a:gs>
              <a:gs pos="100000">
                <a:srgbClr val="00B050"/>
              </a:gs>
            </a:gsLst>
            <a:lin ang="0" scaled="1"/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台架脉冲加热性能测试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2" name="等腰三角形 11"/>
          <p:cNvSpPr/>
          <p:nvPr/>
        </p:nvSpPr>
        <p:spPr>
          <a:xfrm rot="10800000">
            <a:off x="2383790" y="2366645"/>
            <a:ext cx="89535" cy="7683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176145" y="2103120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b="1" dirty="0" err="1" smtClean="0">
                <a:solidFill>
                  <a:srgbClr val="003B90"/>
                </a:solidFill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TDR1</a:t>
            </a:r>
            <a:endParaRPr lang="en-US" altLang="zh-CN" sz="1200" b="1" dirty="0" err="1" smtClean="0">
              <a:solidFill>
                <a:srgbClr val="003B90"/>
              </a:solidFill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30" name="等腰三角形 29"/>
          <p:cNvSpPr/>
          <p:nvPr/>
        </p:nvSpPr>
        <p:spPr>
          <a:xfrm rot="10800000">
            <a:off x="4240530" y="2379980"/>
            <a:ext cx="89535" cy="7683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032885" y="2116455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b="1" dirty="0" err="1" smtClean="0">
                <a:solidFill>
                  <a:srgbClr val="003B90"/>
                </a:solidFill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TDR2</a:t>
            </a:r>
            <a:endParaRPr lang="en-US" altLang="zh-CN" sz="1200" b="1" dirty="0" err="1" smtClean="0">
              <a:solidFill>
                <a:srgbClr val="003B90"/>
              </a:solidFill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38" name="等腰三角形 37"/>
          <p:cNvSpPr/>
          <p:nvPr/>
        </p:nvSpPr>
        <p:spPr>
          <a:xfrm rot="10800000">
            <a:off x="7026275" y="2383790"/>
            <a:ext cx="89535" cy="7683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818630" y="2120265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b="1" dirty="0" err="1" smtClean="0">
                <a:solidFill>
                  <a:srgbClr val="003B90"/>
                </a:solidFill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TDR3</a:t>
            </a:r>
            <a:endParaRPr lang="en-US" altLang="zh-CN" sz="1200" b="1" dirty="0" err="1" smtClean="0">
              <a:solidFill>
                <a:srgbClr val="003B90"/>
              </a:solidFill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48" name="菱形 47"/>
          <p:cNvSpPr/>
          <p:nvPr/>
        </p:nvSpPr>
        <p:spPr>
          <a:xfrm flipV="1">
            <a:off x="5165725" y="235966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4984115" y="2120265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b="1" dirty="0" err="1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PDCP</a:t>
            </a:r>
            <a:endParaRPr lang="en-US" altLang="zh-CN" sz="1200" b="1" dirty="0" err="1" smtClean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51" name="菱形 50"/>
          <p:cNvSpPr/>
          <p:nvPr/>
        </p:nvSpPr>
        <p:spPr>
          <a:xfrm flipV="1">
            <a:off x="10741025" y="235585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10559415" y="2116455"/>
            <a:ext cx="50546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b="1" dirty="0" err="1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TDCP</a:t>
            </a:r>
            <a:endParaRPr lang="en-US" altLang="zh-CN" sz="1200" b="1" dirty="0" err="1" smtClean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53" name="菱形 52"/>
          <p:cNvSpPr/>
          <p:nvPr/>
        </p:nvSpPr>
        <p:spPr>
          <a:xfrm flipV="1">
            <a:off x="11670665" y="235966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1195685" y="2120265"/>
            <a:ext cx="101092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b="1" dirty="0" err="1" smtClean="0">
                <a:solidFill>
                  <a:schemeClr val="bg1">
                    <a:lumMod val="5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END-DCP</a:t>
            </a:r>
            <a:endParaRPr lang="en-US" altLang="zh-CN" sz="1200" b="1" dirty="0" err="1" smtClean="0">
              <a:solidFill>
                <a:schemeClr val="bg1">
                  <a:lumMod val="50000"/>
                </a:schemeClr>
              </a:solidFill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3402965" y="4560570"/>
            <a:ext cx="1800000" cy="215900"/>
          </a:xfrm>
          <a:prstGeom prst="roundRect">
            <a:avLst/>
          </a:prstGeom>
          <a:gradFill>
            <a:gsLst>
              <a:gs pos="0">
                <a:srgbClr val="4964E4"/>
              </a:gs>
              <a:gs pos="100000">
                <a:srgbClr val="FF374A"/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机械结构与电子元器件设计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589395" y="3982085"/>
            <a:ext cx="1008000" cy="216000"/>
          </a:xfrm>
          <a:prstGeom prst="roundRect">
            <a:avLst/>
          </a:prstGeom>
          <a:gradFill>
            <a:gsLst>
              <a:gs pos="0">
                <a:srgbClr val="4964E4"/>
              </a:gs>
              <a:gs pos="100000">
                <a:srgbClr val="FF374A"/>
              </a:gs>
            </a:gsLst>
            <a:lin ang="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快速原型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测试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8932545" y="5916930"/>
            <a:ext cx="913765" cy="216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性能验收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8" name="右大括号 57"/>
          <p:cNvSpPr/>
          <p:nvPr/>
        </p:nvSpPr>
        <p:spPr>
          <a:xfrm>
            <a:off x="6652895" y="2557145"/>
            <a:ext cx="165735" cy="1076960"/>
          </a:xfrm>
          <a:prstGeom prst="rightBrace">
            <a:avLst>
              <a:gd name="adj1" fmla="val 104526"/>
              <a:gd name="adj2" fmla="val 50000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7026275" y="2750820"/>
            <a:ext cx="4643755" cy="72009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交付：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①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实验测试报告；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②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仿真报告；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+mn-cs"/>
              </a:rPr>
              <a:t>③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脉冲加热策略方案（不同温度下的脉冲幅值、频率、占空比对照表）；④脉冲加热算法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右大括号 59"/>
          <p:cNvSpPr/>
          <p:nvPr/>
        </p:nvSpPr>
        <p:spPr>
          <a:xfrm>
            <a:off x="7691755" y="3915410"/>
            <a:ext cx="165735" cy="1076960"/>
          </a:xfrm>
          <a:prstGeom prst="rightBrace">
            <a:avLst>
              <a:gd name="adj1" fmla="val 104526"/>
              <a:gd name="adj2" fmla="val 50000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8030845" y="4086860"/>
            <a:ext cx="3639185" cy="720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l"/>
            <a:r>
              <a:rPr lang="zh-CN" altLang="en-US" sz="1000" b="1" dirty="0">
                <a:sym typeface="+mn-ea"/>
              </a:rPr>
              <a:t>衔接：</a:t>
            </a:r>
            <a:r>
              <a:rPr lang="zh-CN" altLang="en-US" sz="1000" dirty="0">
                <a:sym typeface="+mn-ea"/>
              </a:rPr>
              <a:t>脉冲加热方案和算法</a:t>
            </a:r>
            <a:endParaRPr lang="en-US" altLang="zh-CN" sz="1000" dirty="0"/>
          </a:p>
          <a:p>
            <a:pPr algn="l"/>
            <a:r>
              <a:rPr lang="zh-CN" altLang="en-US" sz="1000" b="1" dirty="0">
                <a:sym typeface="+mn-ea"/>
              </a:rPr>
              <a:t>交付：</a:t>
            </a:r>
            <a:r>
              <a:rPr lang="zh-CN" altLang="en-US" sz="1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①</a:t>
            </a:r>
            <a:r>
              <a:rPr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总体方案；②</a:t>
            </a:r>
            <a:r>
              <a:rPr lang="zh-CN" altLang="en-US" sz="1000" dirty="0">
                <a:sym typeface="+mn-ea"/>
              </a:rPr>
              <a:t>含拓扑设计和算法的系统模型；</a:t>
            </a:r>
            <a:r>
              <a:rPr lang="zh-CN" altLang="en-US" sz="1000" dirty="0">
                <a:latin typeface="Calibri" panose="020F0502020204030204" charset="0"/>
                <a:sym typeface="+mn-ea"/>
              </a:rPr>
              <a:t>③快速原型测试报告；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</a:t>
            </a:r>
            <a:r>
              <a:rPr lang="zh-CN" altLang="en-US" sz="1000" dirty="0">
                <a:latin typeface="Calibri" panose="020F0502020204030204" charset="0"/>
                <a:sym typeface="+mn-ea"/>
              </a:rPr>
              <a:t>集成后的软</a:t>
            </a:r>
            <a:r>
              <a:rPr lang="en-US" altLang="zh-CN" sz="1000" dirty="0">
                <a:latin typeface="Calibri" panose="020F0502020204030204" charset="0"/>
                <a:sym typeface="+mn-ea"/>
              </a:rPr>
              <a:t>/</a:t>
            </a:r>
            <a:r>
              <a:rPr lang="zh-CN" altLang="en-US" sz="1000" dirty="0">
                <a:latin typeface="Calibri" panose="020F0502020204030204" charset="0"/>
                <a:sym typeface="+mn-ea"/>
              </a:rPr>
              <a:t>硬件；</a:t>
            </a:r>
            <a:endParaRPr lang="zh-CN" altLang="en-US" sz="1000" dirty="0">
              <a:latin typeface="Calibri" panose="020F0502020204030204" charset="0"/>
              <a:sym typeface="+mn-ea"/>
            </a:endParaRPr>
          </a:p>
        </p:txBody>
      </p:sp>
      <p:sp>
        <p:nvSpPr>
          <p:cNvPr id="62" name="右大括号 61"/>
          <p:cNvSpPr/>
          <p:nvPr/>
        </p:nvSpPr>
        <p:spPr>
          <a:xfrm flipH="1">
            <a:off x="6270625" y="5173345"/>
            <a:ext cx="165600" cy="1076960"/>
          </a:xfrm>
          <a:prstGeom prst="rightBrace">
            <a:avLst>
              <a:gd name="adj1" fmla="val 104526"/>
              <a:gd name="adj2" fmla="val 50000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2473325" y="5316855"/>
            <a:ext cx="3639185" cy="720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l"/>
            <a:r>
              <a:rPr lang="zh-CN" altLang="en-US" sz="1000" b="1" dirty="0">
                <a:sym typeface="+mn-ea"/>
              </a:rPr>
              <a:t>衔接：</a:t>
            </a:r>
            <a:r>
              <a:rPr lang="zh-CN" altLang="en-US" sz="1000" dirty="0">
                <a:sym typeface="+mn-ea"/>
              </a:rPr>
              <a:t>集成算法与拓扑结构的软</a:t>
            </a:r>
            <a:r>
              <a:rPr lang="en-US" altLang="zh-CN" sz="1000" dirty="0">
                <a:sym typeface="+mn-ea"/>
              </a:rPr>
              <a:t>/</a:t>
            </a:r>
            <a:r>
              <a:rPr lang="zh-CN" altLang="en-US" sz="1000" dirty="0">
                <a:sym typeface="+mn-ea"/>
              </a:rPr>
              <a:t>硬件</a:t>
            </a:r>
            <a:endParaRPr lang="en-US" altLang="zh-CN" sz="1000" dirty="0"/>
          </a:p>
          <a:p>
            <a:pPr algn="l"/>
            <a:r>
              <a:rPr lang="zh-CN" altLang="en-US" sz="1000" b="1" dirty="0">
                <a:sym typeface="+mn-ea"/>
              </a:rPr>
              <a:t>交付：</a:t>
            </a:r>
            <a:r>
              <a:rPr lang="zh-CN" altLang="en-US" sz="1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①</a:t>
            </a:r>
            <a:r>
              <a:rPr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台架测试报告；②算法及拓扑的最终确认；③</a:t>
            </a:r>
            <a:r>
              <a:rPr lang="zh-CN" altLang="en-US" sz="1000" dirty="0">
                <a:sym typeface="+mn-ea"/>
              </a:rPr>
              <a:t>整车冬标及测试报告</a:t>
            </a:r>
            <a:r>
              <a:rPr lang="zh-CN" altLang="en-US" sz="1000" dirty="0">
                <a:latin typeface="Calibri" panose="020F0502020204030204" charset="0"/>
                <a:sym typeface="+mn-ea"/>
              </a:rPr>
              <a:t>；</a:t>
            </a:r>
            <a:endParaRPr lang="zh-CN" altLang="en-US" sz="1000" dirty="0">
              <a:latin typeface="Calibri" panose="020F0502020204030204" charset="0"/>
              <a:sym typeface="+mn-ea"/>
            </a:endParaRPr>
          </a:p>
        </p:txBody>
      </p:sp>
      <p:sp>
        <p:nvSpPr>
          <p:cNvPr id="64" name="菱形 63"/>
          <p:cNvSpPr/>
          <p:nvPr/>
        </p:nvSpPr>
        <p:spPr>
          <a:xfrm flipV="1">
            <a:off x="528320" y="235585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93040" y="2116455"/>
            <a:ext cx="829310" cy="30924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b="1" dirty="0" err="1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C</a:t>
            </a:r>
            <a:r>
              <a:rPr lang="en-US" altLang="zh-CN" sz="1200" b="1" dirty="0" err="1" smtClean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Times New Roman" panose="02020603050405020304" charset="0"/>
              </a:rPr>
              <a:t>harter</a:t>
            </a:r>
            <a:endParaRPr lang="en-US" altLang="zh-CN" sz="1200" b="1" dirty="0" err="1" smtClean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cs typeface="Times New Roman" panose="020206030504050203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72050" y="2773395"/>
            <a:ext cx="362585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72085" y="5377815"/>
            <a:ext cx="362585" cy="7150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集成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测试验证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4309110" y="4309110"/>
            <a:ext cx="1823720" cy="215900"/>
          </a:xfrm>
          <a:prstGeom prst="roundRect">
            <a:avLst/>
          </a:prstGeom>
          <a:gradFill>
            <a:gsLst>
              <a:gs pos="0">
                <a:srgbClr val="4964E4"/>
              </a:gs>
              <a:gs pos="100000">
                <a:srgbClr val="FF374A"/>
              </a:gs>
            </a:gsLst>
            <a:lin ang="0" scaled="0"/>
          </a:gradFill>
          <a:ln w="25400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拓扑结构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优化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三、脉冲加热技术开发路线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04825" y="2374900"/>
          <a:ext cx="1113790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158"/>
                <a:gridCol w="928159"/>
                <a:gridCol w="937736"/>
                <a:gridCol w="918580"/>
                <a:gridCol w="928159"/>
                <a:gridCol w="928158"/>
                <a:gridCol w="928159"/>
                <a:gridCol w="936624"/>
                <a:gridCol w="919692"/>
                <a:gridCol w="928159"/>
                <a:gridCol w="928158"/>
                <a:gridCol w="928158"/>
              </a:tblGrid>
              <a:tr h="10083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</a:tr>
              <a:tr h="10185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9500" y="2467929"/>
            <a:ext cx="362585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基础研究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25145" y="2439670"/>
            <a:ext cx="1250375" cy="1778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电芯低温性能实验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6850" y="6408420"/>
            <a:ext cx="7067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278110" y="6408420"/>
            <a:ext cx="8210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421744" y="2709873"/>
            <a:ext cx="1289880" cy="1768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电芯电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热耦合建模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33290" y="6408420"/>
            <a:ext cx="7067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770679" y="2708920"/>
            <a:ext cx="1453113" cy="1768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三维热模型建模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527886" y="2451373"/>
            <a:ext cx="1575981" cy="1565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电芯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/Pack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脉冲加热实验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770679" y="2961898"/>
            <a:ext cx="1453113" cy="1768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脉冲加热方案设计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500" y="3611595"/>
            <a:ext cx="362585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算法开发与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拓扑设计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171" y="4547530"/>
            <a:ext cx="395789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台架集成验证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14100" y="6408420"/>
            <a:ext cx="8210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27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zh-CN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280854" y="2961898"/>
            <a:ext cx="1498600" cy="1790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脉冲加热寿命影响评估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171" y="5506720"/>
            <a:ext cx="395789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整车集成测试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280855" y="3407203"/>
            <a:ext cx="203117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simulink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脉冲加热仿真系统开发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160010" y="3681048"/>
            <a:ext cx="216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脉冲加热算法开发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160010" y="3919855"/>
            <a:ext cx="2160000" cy="180000"/>
          </a:xfrm>
          <a:prstGeom prst="roundRect">
            <a:avLst/>
          </a:prstGeom>
          <a:solidFill>
            <a:srgbClr val="FF374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脉冲加热拓扑结构设计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0710545" y="5966460"/>
            <a:ext cx="913765" cy="172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整车测试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9009380" y="4712335"/>
            <a:ext cx="1701165" cy="180000"/>
          </a:xfrm>
          <a:prstGeom prst="roundRect">
            <a:avLst/>
          </a:prstGeom>
          <a:gradFill flip="none" rotWithShape="1">
            <a:gsLst>
              <a:gs pos="0">
                <a:srgbClr val="4964E4"/>
              </a:gs>
              <a:gs pos="50000">
                <a:srgbClr val="FF374A"/>
              </a:gs>
              <a:gs pos="100000">
                <a:srgbClr val="00B050"/>
              </a:gs>
            </a:gsLst>
            <a:lin ang="0" scaled="1"/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台架脉冲加热性能测试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9009380" y="4928870"/>
            <a:ext cx="1701165" cy="169545"/>
          </a:xfrm>
          <a:prstGeom prst="roundRect">
            <a:avLst/>
          </a:prstGeom>
          <a:gradFill flip="none" rotWithShape="1">
            <a:gsLst>
              <a:gs pos="0">
                <a:srgbClr val="4964E4"/>
              </a:gs>
              <a:gs pos="50000">
                <a:srgbClr val="FF374A"/>
              </a:gs>
              <a:gs pos="100000">
                <a:srgbClr val="00B050"/>
              </a:gs>
            </a:gsLst>
            <a:lin ang="0" scaled="1"/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台架耐久性测试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888088" y="4149090"/>
            <a:ext cx="1561222" cy="180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系统集成与测试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7896225" y="4509135"/>
            <a:ext cx="1080000" cy="17907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台架原型准备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796780" y="5174615"/>
            <a:ext cx="913765" cy="172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性能验收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0728960" y="5530850"/>
            <a:ext cx="919480" cy="32067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电气调整、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软件更新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7520" y="883920"/>
            <a:ext cx="11271885" cy="11309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基础研究：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完成从电芯到电池包的理论建模，设计高效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脉冲加热方案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算法开发与结构设计：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建立脉冲加热系统模型，确定加热拓扑和核心算法框架，输出可集成的控制程序；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台架集成验证：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在真实的硬件台架上验证脉冲加热策略，完成性能和耐久性考核；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阶段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4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整车集成测试：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在实车上的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最终集成、冬季标定和项目验收。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78790" y="1959610"/>
            <a:ext cx="706755" cy="353695"/>
          </a:xfrm>
          <a:prstGeom prst="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前瞻部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284789" y="1960245"/>
            <a:ext cx="706755" cy="356235"/>
          </a:xfrm>
          <a:prstGeom prst="rect">
            <a:avLst/>
          </a:prstGeom>
          <a:solidFill>
            <a:srgbClr val="FF374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新能源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074424" y="1960245"/>
            <a:ext cx="637200" cy="356870"/>
          </a:xfrm>
          <a:prstGeom prst="rect">
            <a:avLst/>
          </a:prstGeom>
          <a:solidFill>
            <a:srgbClr val="00B050"/>
          </a:solidFill>
          <a:ln>
            <a:solidFill>
              <a:srgbClr val="0F298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整车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右大括号 38"/>
          <p:cNvSpPr/>
          <p:nvPr/>
        </p:nvSpPr>
        <p:spPr>
          <a:xfrm>
            <a:off x="5793740" y="2420620"/>
            <a:ext cx="154305" cy="914400"/>
          </a:xfrm>
          <a:prstGeom prst="rightBrace">
            <a:avLst>
              <a:gd name="adj1" fmla="val 104526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167754" y="2493010"/>
            <a:ext cx="2862407" cy="72000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交付：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实验测试报告、仿真报告、脉冲加热策略方案（不同温度下应采用的脉冲幅值、频率、占空比对照表）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右大括号 40"/>
          <p:cNvSpPr/>
          <p:nvPr/>
        </p:nvSpPr>
        <p:spPr>
          <a:xfrm>
            <a:off x="8543925" y="3393440"/>
            <a:ext cx="154305" cy="914400"/>
          </a:xfrm>
          <a:prstGeom prst="rightBrace">
            <a:avLst>
              <a:gd name="adj1" fmla="val 104526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8903970" y="3500755"/>
            <a:ext cx="2520000" cy="72009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衔接：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脉冲加热方案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交付：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编译后的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含拓扑设计和算法的系统模型以及软硬件需求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右大括号 42"/>
          <p:cNvSpPr/>
          <p:nvPr/>
        </p:nvSpPr>
        <p:spPr>
          <a:xfrm flipH="1">
            <a:off x="7680325" y="4492625"/>
            <a:ext cx="154800" cy="914400"/>
          </a:xfrm>
          <a:prstGeom prst="rightBrace">
            <a:avLst>
              <a:gd name="adj1" fmla="val 104526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655820" y="4452620"/>
            <a:ext cx="2880000" cy="90000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衔接：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搭建包含真实电池包、电机、集成算法的控制器等硬件在环台架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交付：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台架测试报告、耐久性测试报告、标定初版数据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右大括号 45"/>
          <p:cNvSpPr/>
          <p:nvPr/>
        </p:nvSpPr>
        <p:spPr>
          <a:xfrm flipH="1">
            <a:off x="10344150" y="5445125"/>
            <a:ext cx="154800" cy="914400"/>
          </a:xfrm>
          <a:prstGeom prst="rightBrace">
            <a:avLst>
              <a:gd name="adj1" fmla="val 104526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680325" y="5520055"/>
            <a:ext cx="2544445" cy="72000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衔接：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算法模型和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软件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的最终修正、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拓扑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的正式确定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交付：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整车冬标与测试报告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77*311"/>
  <p:tag name="TABLE_ENDDRAG_RECT" val="45*192*877*311"/>
</p:tagLst>
</file>

<file path=ppt/tags/tag2.xml><?xml version="1.0" encoding="utf-8"?>
<p:tagLst xmlns:p="http://schemas.openxmlformats.org/presentationml/2006/main">
  <p:tag name="TABLE_ENDDRAG_ORIGIN_RECT" val="877*317"/>
  <p:tag name="TABLE_ENDDRAG_RECT" val="40*117*877*317"/>
</p:tagLst>
</file>

<file path=ppt/theme/theme1.xml><?xml version="1.0" encoding="utf-8"?>
<a:theme xmlns:a="http://schemas.openxmlformats.org/drawingml/2006/main" name="1_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</Words>
  <Application>WPS 演示</Application>
  <PresentationFormat>宽屏</PresentationFormat>
  <Paragraphs>167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等线</vt:lpstr>
      <vt:lpstr>Times New Roman</vt:lpstr>
      <vt:lpstr>Calibri</vt:lpstr>
      <vt:lpstr>Arial Unicode MS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myh</dc:creator>
  <cp:lastModifiedBy>WPS_1632448344</cp:lastModifiedBy>
  <cp:revision>7</cp:revision>
  <dcterms:created xsi:type="dcterms:W3CDTF">2025-12-18T01:15:00Z</dcterms:created>
  <dcterms:modified xsi:type="dcterms:W3CDTF">2025-12-18T09:47:34Z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3886771048B24E45A0DDA29341FA6D30_12</vt:lpwstr>
  </property>
</Properties>
</file>
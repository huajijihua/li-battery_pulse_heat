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62" r:id="rId3"/>
    <p:sldId id="346" r:id="rId4"/>
    <p:sldId id="354" r:id="rId6"/>
    <p:sldId id="352" r:id="rId7"/>
    <p:sldId id="355" r:id="rId8"/>
    <p:sldId id="353" r:id="rId9"/>
    <p:sldId id="347" r:id="rId10"/>
    <p:sldId id="360" r:id="rId11"/>
    <p:sldId id="349" r:id="rId12"/>
    <p:sldId id="356" r:id="rId13"/>
    <p:sldId id="351" r:id="rId14"/>
    <p:sldId id="357" r:id="rId15"/>
    <p:sldId id="359" r:id="rId16"/>
    <p:sldId id="358" r:id="rId17"/>
  </p:sldIdLst>
  <p:sldSz cx="12192000" cy="6858000"/>
  <p:notesSz cx="6797675" cy="992632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52A8C"/>
    <a:srgbClr val="EE29FF"/>
    <a:srgbClr val="F5B482"/>
    <a:srgbClr val="66FF66"/>
    <a:srgbClr val="B10011"/>
    <a:srgbClr val="A7A9AC"/>
    <a:srgbClr val="0F298E"/>
    <a:srgbClr val="EEEEEE"/>
    <a:srgbClr val="7F7F7F"/>
    <a:srgbClr val="003B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21" autoAdjust="0"/>
    <p:restoredTop sz="89763" autoAdjust="0"/>
  </p:normalViewPr>
  <p:slideViewPr>
    <p:cSldViewPr snapToObjects="1">
      <p:cViewPr varScale="1">
        <p:scale>
          <a:sx n="77" d="100"/>
          <a:sy n="77" d="100"/>
        </p:scale>
        <p:origin x="1205" y="43"/>
      </p:cViewPr>
      <p:guideLst/>
    </p:cSldViewPr>
  </p:slideViewPr>
  <p:notesTextViewPr>
    <p:cViewPr>
      <p:scale>
        <a:sx n="1" d="1"/>
        <a:sy n="1" d="1"/>
      </p:scale>
      <p:origin x="0" y="0"/>
    </p:cViewPr>
  </p:notesTextViewPr>
  <p:sorterViewPr>
    <p:cViewPr>
      <p:scale>
        <a:sx n="100" d="100"/>
        <a:sy n="100" d="100"/>
      </p:scale>
      <p:origin x="0" y="0"/>
    </p:cViewPr>
  </p:sorterViewPr>
  <p:notesViewPr>
    <p:cSldViewPr snapToObjects="1" showGuides="1">
      <p:cViewPr varScale="1">
        <p:scale>
          <a:sx n="42" d="100"/>
          <a:sy n="42" d="100"/>
        </p:scale>
        <p:origin x="-1757" y="-96"/>
      </p:cViewPr>
      <p:guideLst>
        <p:guide orient="horz" pos="3255"/>
        <p:guide pos="211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5.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47" cy="498328"/>
          </a:xfrm>
          <a:prstGeom prst="rect">
            <a:avLst/>
          </a:prstGeom>
        </p:spPr>
        <p:txBody>
          <a:bodyPr vert="horz" lIns="92108" tIns="46054" rIns="92108" bIns="46054"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26" y="0"/>
            <a:ext cx="2946246" cy="498328"/>
          </a:xfrm>
          <a:prstGeom prst="rect">
            <a:avLst/>
          </a:prstGeom>
        </p:spPr>
        <p:txBody>
          <a:bodyPr vert="horz" lIns="92108" tIns="46054" rIns="92108" bIns="46054" rtlCol="0"/>
          <a:lstStyle>
            <a:lvl1pPr algn="r" fontAlgn="auto">
              <a:spcBef>
                <a:spcPts val="0"/>
              </a:spcBef>
              <a:spcAft>
                <a:spcPts val="0"/>
              </a:spcAft>
              <a:defRPr sz="1200">
                <a:latin typeface="+mn-lt"/>
                <a:ea typeface="+mn-ea"/>
              </a:defRPr>
            </a:lvl1pPr>
          </a:lstStyle>
          <a:p>
            <a:pPr>
              <a:defRPr/>
            </a:pPr>
            <a:fld id="{F0259903-FC65-400A-9E76-C4C330AD3D6E}" type="datetimeFigureOut">
              <a:rPr lang="zh-CN" altLang="en-US"/>
            </a:fld>
            <a:endParaRPr lang="zh-CN" altLang="en-US"/>
          </a:p>
        </p:txBody>
      </p:sp>
      <p:sp>
        <p:nvSpPr>
          <p:cNvPr id="4" name="幻灯片图像占位符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2108" tIns="46054" rIns="92108" bIns="46054" rtlCol="0" anchor="ctr"/>
          <a:lstStyle/>
          <a:p>
            <a:pPr lvl="0"/>
            <a:endParaRPr lang="zh-CN" altLang="en-US" noProof="0"/>
          </a:p>
        </p:txBody>
      </p:sp>
      <p:sp>
        <p:nvSpPr>
          <p:cNvPr id="5" name="备注占位符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zh-CN" altLang="en-US" noProof="0"/>
              <a:t>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fontAlgn="auto">
              <a:spcBef>
                <a:spcPts val="0"/>
              </a:spcBef>
              <a:spcAft>
                <a:spcPts val="0"/>
              </a:spcAft>
              <a:defRPr sz="1200">
                <a:latin typeface="+mn-lt"/>
                <a:ea typeface="+mn-ea"/>
              </a:defRPr>
            </a:lvl1pPr>
          </a:lstStyle>
          <a:p>
            <a:pPr>
              <a:defRPr/>
            </a:pPr>
            <a:fld id="{A67DAE94-9449-4026-AC54-378A5A1A863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35" kern="1200">
        <a:solidFill>
          <a:schemeClr val="tx1"/>
        </a:solidFill>
        <a:latin typeface="+mn-lt"/>
        <a:ea typeface="+mn-ea"/>
        <a:cs typeface="+mn-cs"/>
      </a:defRPr>
    </a:lvl1pPr>
    <a:lvl2pPr marL="485775" algn="l" rtl="0" eaLnBrk="0" fontAlgn="base" hangingPunct="0">
      <a:spcBef>
        <a:spcPct val="30000"/>
      </a:spcBef>
      <a:spcAft>
        <a:spcPct val="0"/>
      </a:spcAft>
      <a:defRPr sz="1335" kern="1200">
        <a:solidFill>
          <a:schemeClr val="tx1"/>
        </a:solidFill>
        <a:latin typeface="+mn-lt"/>
        <a:ea typeface="+mn-ea"/>
        <a:cs typeface="+mn-cs"/>
      </a:defRPr>
    </a:lvl2pPr>
    <a:lvl3pPr marL="971550" algn="l" rtl="0" eaLnBrk="0" fontAlgn="base" hangingPunct="0">
      <a:spcBef>
        <a:spcPct val="30000"/>
      </a:spcBef>
      <a:spcAft>
        <a:spcPct val="0"/>
      </a:spcAft>
      <a:defRPr sz="1335" kern="1200">
        <a:solidFill>
          <a:schemeClr val="tx1"/>
        </a:solidFill>
        <a:latin typeface="+mn-lt"/>
        <a:ea typeface="+mn-ea"/>
        <a:cs typeface="+mn-cs"/>
      </a:defRPr>
    </a:lvl3pPr>
    <a:lvl4pPr marL="1457325" algn="l" rtl="0" eaLnBrk="0" fontAlgn="base" hangingPunct="0">
      <a:spcBef>
        <a:spcPct val="30000"/>
      </a:spcBef>
      <a:spcAft>
        <a:spcPct val="0"/>
      </a:spcAft>
      <a:defRPr sz="1335" kern="1200">
        <a:solidFill>
          <a:schemeClr val="tx1"/>
        </a:solidFill>
        <a:latin typeface="+mn-lt"/>
        <a:ea typeface="+mn-ea"/>
        <a:cs typeface="+mn-cs"/>
      </a:defRPr>
    </a:lvl4pPr>
    <a:lvl5pPr marL="1943100" algn="l" rtl="0" eaLnBrk="0" fontAlgn="base" hangingPunct="0">
      <a:spcBef>
        <a:spcPct val="30000"/>
      </a:spcBef>
      <a:spcAft>
        <a:spcPct val="0"/>
      </a:spcAft>
      <a:defRPr sz="1335" kern="1200">
        <a:solidFill>
          <a:schemeClr val="tx1"/>
        </a:solidFill>
        <a:latin typeface="+mn-lt"/>
        <a:ea typeface="+mn-ea"/>
        <a:cs typeface="+mn-cs"/>
      </a:defRPr>
    </a:lvl5pPr>
    <a:lvl6pPr marL="2429510" algn="l" defTabSz="971550" rtl="0" eaLnBrk="1" latinLnBrk="0" hangingPunct="1">
      <a:defRPr sz="1335" kern="1200">
        <a:solidFill>
          <a:schemeClr val="tx1"/>
        </a:solidFill>
        <a:latin typeface="+mn-lt"/>
        <a:ea typeface="+mn-ea"/>
        <a:cs typeface="+mn-cs"/>
      </a:defRPr>
    </a:lvl6pPr>
    <a:lvl7pPr marL="2915285" algn="l" defTabSz="971550" rtl="0" eaLnBrk="1" latinLnBrk="0" hangingPunct="1">
      <a:defRPr sz="1335" kern="1200">
        <a:solidFill>
          <a:schemeClr val="tx1"/>
        </a:solidFill>
        <a:latin typeface="+mn-lt"/>
        <a:ea typeface="+mn-ea"/>
        <a:cs typeface="+mn-cs"/>
      </a:defRPr>
    </a:lvl7pPr>
    <a:lvl8pPr marL="3401060" algn="l" defTabSz="971550" rtl="0" eaLnBrk="1" latinLnBrk="0" hangingPunct="1">
      <a:defRPr sz="1335" kern="1200">
        <a:solidFill>
          <a:schemeClr val="tx1"/>
        </a:solidFill>
        <a:latin typeface="+mn-lt"/>
        <a:ea typeface="+mn-ea"/>
        <a:cs typeface="+mn-cs"/>
      </a:defRPr>
    </a:lvl8pPr>
    <a:lvl9pPr marL="3886835" algn="l" defTabSz="971550" rtl="0" eaLnBrk="1" latinLnBrk="0" hangingPunct="1">
      <a:defRPr sz="133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23解放封面页">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0" y="2564904"/>
            <a:ext cx="12192000" cy="1775292"/>
          </a:xfrm>
          <a:prstGeom prst="rect">
            <a:avLst/>
          </a:prstGeom>
        </p:spPr>
        <p:txBody>
          <a:bodyPr anchor="ctr" anchorCtr="0"/>
          <a:lstStyle>
            <a:lvl1pPr algn="ctr">
              <a:lnSpc>
                <a:spcPct val="100000"/>
              </a:lnSpc>
              <a:defRPr sz="5400" b="1">
                <a:solidFill>
                  <a:srgbClr val="152A8C"/>
                </a:solidFill>
                <a:latin typeface="微软雅黑" panose="020B0503020204020204" pitchFamily="34" charset="-122"/>
                <a:ea typeface="微软雅黑" panose="020B0503020204020204" pitchFamily="34" charset="-122"/>
              </a:defRPr>
            </a:lvl1pPr>
          </a:lstStyle>
          <a:p>
            <a:r>
              <a:rPr lang="zh-CN" altLang="en-US" dirty="0"/>
              <a:t>标题</a:t>
            </a:r>
            <a:endParaRPr lang="en-US" dirty="0"/>
          </a:p>
        </p:txBody>
      </p:sp>
      <p:sp>
        <p:nvSpPr>
          <p:cNvPr id="9" name="Subtitle 2"/>
          <p:cNvSpPr>
            <a:spLocks noGrp="1"/>
          </p:cNvSpPr>
          <p:nvPr>
            <p:ph type="subTitle" idx="1" hasCustomPrompt="1"/>
          </p:nvPr>
        </p:nvSpPr>
        <p:spPr>
          <a:xfrm>
            <a:off x="1143000" y="4476097"/>
            <a:ext cx="9921552" cy="1655762"/>
          </a:xfrm>
          <a:prstGeom prst="rect">
            <a:avLst/>
          </a:prstGeom>
        </p:spPr>
        <p:txBody>
          <a:bodyPr anchor="ctr" anchorCtr="0"/>
          <a:lstStyle>
            <a:lvl1pPr marL="0" indent="0" algn="ctr">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a:t>
            </a:r>
            <a:endParaRPr lang="en-US" altLang="zh-CN" dirty="0"/>
          </a:p>
          <a:p>
            <a:endParaRPr lang="zh-CN" altLang="en-US" dirty="0"/>
          </a:p>
        </p:txBody>
      </p:sp>
      <p:grpSp>
        <p:nvGrpSpPr>
          <p:cNvPr id="2" name="组合 1"/>
          <p:cNvGrpSpPr/>
          <p:nvPr userDrawn="1"/>
        </p:nvGrpSpPr>
        <p:grpSpPr>
          <a:xfrm>
            <a:off x="0" y="6942142"/>
            <a:ext cx="12192000" cy="614361"/>
            <a:chOff x="0" y="6942142"/>
            <a:chExt cx="12192000" cy="614361"/>
          </a:xfrm>
        </p:grpSpPr>
        <p:sp>
          <p:nvSpPr>
            <p:cNvPr id="6" name="同侧圆角矩形 3"/>
            <p:cNvSpPr/>
            <p:nvPr userDrawn="1"/>
          </p:nvSpPr>
          <p:spPr>
            <a:xfrm rot="10800000">
              <a:off x="0" y="6942142"/>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7" name="矩形 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0" name="矩形 9"/>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11" name="矩形 10"/>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13" name="矩形 12"/>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封面页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765" y="-14605"/>
            <a:ext cx="12230735" cy="1291590"/>
          </a:xfrm>
          <a:prstGeom prst="rect">
            <a:avLst/>
          </a:prstGeom>
        </p:spPr>
      </p:pic>
      <p:pic>
        <p:nvPicPr>
          <p:cNvPr id="16" name="图形 39"/>
          <p:cNvPicPr>
            <a:picLocks noChangeAspect="1"/>
          </p:cNvPicPr>
          <p:nvPr userDrawn="1"/>
        </p:nvPicPr>
        <p:blipFill>
          <a:blip r:embed="rId3"/>
          <a:stretch>
            <a:fillRect/>
          </a:stretch>
        </p:blipFill>
        <p:spPr>
          <a:xfrm>
            <a:off x="982897" y="327314"/>
            <a:ext cx="2881252" cy="6372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23解放目录">
    <p:bg>
      <p:bgPr>
        <a:solidFill>
          <a:schemeClr val="bg1"/>
        </a:solidFill>
        <a:effectLst/>
      </p:bgPr>
    </p:bg>
    <p:spTree>
      <p:nvGrpSpPr>
        <p:cNvPr id="1" name=""/>
        <p:cNvGrpSpPr/>
        <p:nvPr/>
      </p:nvGrpSpPr>
      <p:grpSpPr>
        <a:xfrm>
          <a:off x="0" y="0"/>
          <a:ext cx="0" cy="0"/>
          <a:chOff x="0" y="0"/>
          <a:chExt cx="0" cy="0"/>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grpSp>
        <p:nvGrpSpPr>
          <p:cNvPr id="18" name="组合 17"/>
          <p:cNvGrpSpPr/>
          <p:nvPr userDrawn="1"/>
        </p:nvGrpSpPr>
        <p:grpSpPr>
          <a:xfrm>
            <a:off x="0" y="6942143"/>
            <a:ext cx="12192000" cy="614361"/>
            <a:chOff x="0" y="6942143"/>
            <a:chExt cx="12192000" cy="614361"/>
          </a:xfrm>
        </p:grpSpPr>
        <p:sp>
          <p:nvSpPr>
            <p:cNvPr id="19"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20" name="矩形 19"/>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目录页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22" name="矩形 21"/>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5" name="矩形 24"/>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cxnSp>
        <p:nvCxnSpPr>
          <p:cNvPr id="31" name="直接连接符 30"/>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2" name="图形 25"/>
          <p:cNvPicPr>
            <a:picLocks noChangeAspect="1"/>
          </p:cNvPicPr>
          <p:nvPr userDrawn="1"/>
        </p:nvPicPr>
        <p:blipFill>
          <a:blip r:embed="rId2"/>
          <a:stretch>
            <a:fillRect/>
          </a:stretch>
        </p:blipFill>
        <p:spPr>
          <a:xfrm>
            <a:off x="9961704" y="264695"/>
            <a:ext cx="1750871" cy="381600"/>
          </a:xfrm>
          <a:prstGeom prst="rect">
            <a:avLst/>
          </a:prstGeom>
        </p:spPr>
      </p:pic>
      <p:sp>
        <p:nvSpPr>
          <p:cNvPr id="11" name="文本占位符 6"/>
          <p:cNvSpPr>
            <a:spLocks noGrp="1"/>
          </p:cNvSpPr>
          <p:nvPr>
            <p:ph type="body" sz="quarter" idx="12" hasCustomPrompt="1"/>
          </p:nvPr>
        </p:nvSpPr>
        <p:spPr>
          <a:xfrm>
            <a:off x="477723" y="175966"/>
            <a:ext cx="9218727"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目录</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023解放正文页-1">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0" name="文本占位符 6"/>
          <p:cNvSpPr>
            <a:spLocks noGrp="1"/>
          </p:cNvSpPr>
          <p:nvPr>
            <p:ph type="body" sz="quarter" idx="13" hasCustomPrompt="1"/>
          </p:nvPr>
        </p:nvSpPr>
        <p:spPr>
          <a:xfrm>
            <a:off x="477723" y="1063639"/>
            <a:ext cx="11231448" cy="468452"/>
          </a:xfrm>
          <a:prstGeom prst="rect">
            <a:avLst/>
          </a:prstGeom>
        </p:spPr>
        <p:txBody>
          <a:bodyPr lIns="72886" tIns="36443" rIns="72886" bIns="36443" anchor="t" anchorCtr="0"/>
          <a:lstStyle>
            <a:lvl1pPr marL="0" indent="0">
              <a:lnSpc>
                <a:spcPct val="100000"/>
              </a:lnSpc>
              <a:spcBef>
                <a:spcPts val="0"/>
              </a:spcBef>
              <a:buNone/>
              <a:defRPr sz="24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单击此处编辑标题</a:t>
            </a:r>
            <a:endParaRPr lang="zh-CN" altLang="en-US" dirty="0"/>
          </a:p>
        </p:txBody>
      </p:sp>
      <p:sp>
        <p:nvSpPr>
          <p:cNvPr id="21" name="文本占位符 6"/>
          <p:cNvSpPr>
            <a:spLocks noGrp="1"/>
          </p:cNvSpPr>
          <p:nvPr>
            <p:ph type="body" sz="quarter" idx="14" hasCustomPrompt="1"/>
          </p:nvPr>
        </p:nvSpPr>
        <p:spPr>
          <a:xfrm>
            <a:off x="477723" y="1532091"/>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8" name="直接连接符 7"/>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2" name="矩形 21"/>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4" name="矩形 23"/>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6"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023解放正文页-2">
    <p:bg>
      <p:bgPr>
        <a:solidFill>
          <a:schemeClr val="bg1"/>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0" y="6942143"/>
            <a:ext cx="12192000" cy="614361"/>
            <a:chOff x="0" y="6942143"/>
            <a:chExt cx="12192000" cy="614361"/>
          </a:xfrm>
        </p:grpSpPr>
        <p:sp>
          <p:nvSpPr>
            <p:cNvPr id="4" name="同侧圆角矩形 3"/>
            <p:cNvSpPr/>
            <p:nvPr userDrawn="1"/>
          </p:nvSpPr>
          <p:spPr>
            <a:xfrm rot="10800000">
              <a:off x="0" y="6942143"/>
              <a:ext cx="12192000" cy="614361"/>
            </a:xfrm>
            <a:prstGeom prst="round2SameRect">
              <a:avLst>
                <a:gd name="adj1" fmla="val 21050"/>
                <a:gd name="adj2" fmla="val 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886" tIns="36443" rIns="72886" bIns="36443" anchor="ctr"/>
            <a:lstStyle/>
            <a:p>
              <a:pPr algn="ctr" fontAlgn="auto">
                <a:spcBef>
                  <a:spcPts val="0"/>
                </a:spcBef>
                <a:spcAft>
                  <a:spcPts val="0"/>
                </a:spcAft>
                <a:defRPr/>
              </a:pPr>
              <a:endParaRPr lang="zh-CN" altLang="en-US">
                <a:solidFill>
                  <a:schemeClr val="bg1"/>
                </a:solidFill>
              </a:endParaRPr>
            </a:p>
          </p:txBody>
        </p:sp>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正文页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grpSp>
      <p:sp>
        <p:nvSpPr>
          <p:cNvPr id="14" name="Rectangle 9"/>
          <p:cNvSpPr>
            <a:spLocks noChangeArrowheads="1"/>
          </p:cNvSpPr>
          <p:nvPr userDrawn="1"/>
        </p:nvSpPr>
        <p:spPr bwMode="auto">
          <a:xfrm>
            <a:off x="10992544" y="6412107"/>
            <a:ext cx="738477" cy="333594"/>
          </a:xfrm>
          <a:prstGeom prst="rect">
            <a:avLst/>
          </a:prstGeom>
          <a:noFill/>
          <a:ln>
            <a:noFill/>
          </a:ln>
          <a:effectLst>
            <a:prstShdw prst="shdw17" dist="17961" dir="2700000">
              <a:srgbClr val="2F4D71"/>
            </a:prstShdw>
          </a:effectLst>
        </p:spPr>
        <p:txBody>
          <a:bodyPr wrap="squar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r" eaLnBrk="1" hangingPunct="1">
              <a:defRPr/>
            </a:pPr>
            <a:fld id="{B2DE838B-0F12-4B31-B7D1-2D0F6538ECB8}" type="slidenum">
              <a:rPr lang="en-US" altLang="zh-CN" b="1" smtClean="0">
                <a:solidFill>
                  <a:schemeClr val="accent1"/>
                </a:solidFill>
                <a:latin typeface="微软雅黑" panose="020B0503020204020204" pitchFamily="34" charset="-122"/>
                <a:ea typeface="微软雅黑" panose="020B0503020204020204" pitchFamily="34" charset="-122"/>
              </a:rPr>
            </a:fld>
            <a:endParaRPr lang="en-US" altLang="zh-CN" b="1" dirty="0">
              <a:solidFill>
                <a:schemeClr val="accent1"/>
              </a:solidFill>
              <a:latin typeface="微软雅黑" panose="020B0503020204020204" pitchFamily="34" charset="-122"/>
              <a:ea typeface="微软雅黑" panose="020B0503020204020204" pitchFamily="34" charset="-122"/>
            </a:endParaRPr>
          </a:p>
        </p:txBody>
      </p:sp>
      <p:sp>
        <p:nvSpPr>
          <p:cNvPr id="18" name="文本占位符 6"/>
          <p:cNvSpPr>
            <a:spLocks noGrp="1"/>
          </p:cNvSpPr>
          <p:nvPr>
            <p:ph type="body" sz="quarter" idx="12" hasCustomPrompt="1"/>
          </p:nvPr>
        </p:nvSpPr>
        <p:spPr>
          <a:xfrm>
            <a:off x="477723" y="175966"/>
            <a:ext cx="9218726" cy="559059"/>
          </a:xfrm>
          <a:prstGeom prst="rect">
            <a:avLst/>
          </a:prstGeom>
        </p:spPr>
        <p:txBody>
          <a:bodyPr lIns="72886" tIns="36443" rIns="72886" bIns="36443" anchor="ctr" anchorCtr="0"/>
          <a:lstStyle>
            <a:lvl1pPr marL="0" indent="0">
              <a:lnSpc>
                <a:spcPct val="100000"/>
              </a:lnSpc>
              <a:spcBef>
                <a:spcPts val="0"/>
              </a:spcBef>
              <a:buNone/>
              <a:defRPr sz="2800" b="1">
                <a:solidFill>
                  <a:srgbClr val="152A8C"/>
                </a:solidFill>
                <a:latin typeface="微软雅黑" panose="020B0503020204020204" pitchFamily="34" charset="-122"/>
                <a:ea typeface="微软雅黑" panose="020B0503020204020204" pitchFamily="34" charset="-122"/>
              </a:defRPr>
            </a:lvl1pPr>
          </a:lstStyle>
          <a:p>
            <a:pPr lvl="0"/>
            <a:r>
              <a:rPr lang="zh-CN" altLang="en-US" dirty="0"/>
              <a:t>单击此处编辑大标题</a:t>
            </a:r>
            <a:endParaRPr lang="zh-CN" altLang="en-US" dirty="0"/>
          </a:p>
        </p:txBody>
      </p:sp>
      <p:sp>
        <p:nvSpPr>
          <p:cNvPr id="21" name="文本占位符 6"/>
          <p:cNvSpPr>
            <a:spLocks noGrp="1"/>
          </p:cNvSpPr>
          <p:nvPr>
            <p:ph type="body" sz="quarter" idx="14" hasCustomPrompt="1"/>
          </p:nvPr>
        </p:nvSpPr>
        <p:spPr>
          <a:xfrm>
            <a:off x="477723" y="1052513"/>
            <a:ext cx="11233150" cy="1176830"/>
          </a:xfrm>
          <a:prstGeom prst="rect">
            <a:avLst/>
          </a:prstGeom>
        </p:spPr>
        <p:txBody>
          <a:bodyPr lIns="72886" tIns="36443" rIns="72886" bIns="36443" anchor="t" anchorCtr="0"/>
          <a:lstStyle>
            <a:lvl1pPr marL="342900" indent="-342900" algn="just">
              <a:lnSpc>
                <a:spcPct val="100000"/>
              </a:lnSpc>
              <a:spcBef>
                <a:spcPts val="600"/>
              </a:spcBef>
              <a:buFont typeface="Wingdings" panose="05000000000000000000" pitchFamily="2" charset="2"/>
              <a:buChar char="p"/>
              <a:defRPr sz="2000" b="0">
                <a:solidFill>
                  <a:srgbClr val="152A8C"/>
                </a:solidFill>
                <a:latin typeface="微软雅黑" panose="020B0503020204020204" pitchFamily="34" charset="-122"/>
                <a:ea typeface="微软雅黑" panose="020B0503020204020204" pitchFamily="34" charset="-122"/>
              </a:defRPr>
            </a:lvl1pPr>
          </a:lstStyle>
          <a:p>
            <a:pPr lvl="0"/>
            <a:r>
              <a:rPr lang="en-US" altLang="zh-CN" dirty="0"/>
              <a:t>× × × ×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a:t>
            </a:r>
            <a:endParaRPr lang="en-US" altLang="zh-CN" dirty="0"/>
          </a:p>
          <a:p>
            <a:pPr marL="342900" marR="0" lvl="0" indent="-342900" algn="l" defTabSz="914400" rtl="0" eaLnBrk="1" fontAlgn="auto" latinLnBrk="0" hangingPunct="1">
              <a:lnSpc>
                <a:spcPct val="100000"/>
              </a:lnSpc>
              <a:spcBef>
                <a:spcPts val="600"/>
              </a:spcBef>
              <a:spcAft>
                <a:spcPts val="0"/>
              </a:spcAft>
              <a:buClrTx/>
              <a:buSzTx/>
              <a:buFont typeface="Wingdings" panose="05000000000000000000" pitchFamily="2" charset="2"/>
              <a:buChar char="p"/>
              <a:defRPr/>
            </a:pPr>
            <a:r>
              <a:rPr lang="en-US" altLang="zh-CN" dirty="0"/>
              <a:t>× × × × × × × × × × × × × × × × × × × × × × × × × × × × × × × × × × × × × ×</a:t>
            </a:r>
            <a:endParaRPr lang="zh-CN" altLang="en-US" dirty="0"/>
          </a:p>
        </p:txBody>
      </p:sp>
      <p:cxnSp>
        <p:nvCxnSpPr>
          <p:cNvPr id="6" name="直接连接符 5"/>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19" name="矩形 18"/>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0" name="矩形 19"/>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5" name="图形 25"/>
          <p:cNvPicPr>
            <a:picLocks noChangeAspect="1"/>
          </p:cNvPicPr>
          <p:nvPr userDrawn="1"/>
        </p:nvPicPr>
        <p:blipFill>
          <a:blip r:embed="rId2"/>
          <a:stretch>
            <a:fillRect/>
          </a:stretch>
        </p:blipFill>
        <p:spPr>
          <a:xfrm>
            <a:off x="9961704" y="264695"/>
            <a:ext cx="1750871" cy="381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023解放结尾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958270"/>
            <a:ext cx="12192000" cy="606458"/>
          </a:xfrm>
          <a:prstGeom prst="rect">
            <a:avLst/>
          </a:prstGeom>
          <a:effectLst>
            <a:outerShdw blurRad="50800" dist="38100" dir="2700000" algn="tl" rotWithShape="0">
              <a:prstClr val="black">
                <a:alpha val="40000"/>
              </a:prstClr>
            </a:outerShdw>
          </a:effectLst>
        </p:spPr>
      </p:pic>
      <p:sp>
        <p:nvSpPr>
          <p:cNvPr id="9" name="矩形 8"/>
          <p:cNvSpPr/>
          <p:nvPr userDrawn="1"/>
        </p:nvSpPr>
        <p:spPr>
          <a:xfrm>
            <a:off x="2406647" y="6964366"/>
            <a:ext cx="3344336"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b="1" dirty="0">
                <a:solidFill>
                  <a:schemeClr val="tx1"/>
                </a:solidFill>
                <a:latin typeface="微软雅黑" panose="020B0503020204020204" pitchFamily="34" charset="-122"/>
                <a:ea typeface="微软雅黑" panose="020B0503020204020204" pitchFamily="34" charset="-122"/>
              </a:rPr>
              <a:t>PPT</a:t>
            </a:r>
            <a:r>
              <a:rPr lang="zh-CN" altLang="en-US" b="1" dirty="0">
                <a:solidFill>
                  <a:schemeClr val="tx1"/>
                </a:solidFill>
                <a:latin typeface="微软雅黑" panose="020B0503020204020204" pitchFamily="34" charset="-122"/>
                <a:ea typeface="微软雅黑" panose="020B0503020204020204" pitchFamily="34" charset="-122"/>
              </a:rPr>
              <a:t>标准提示</a:t>
            </a:r>
            <a:r>
              <a:rPr lang="en-US" altLang="zh-CN" b="1" dirty="0">
                <a:solidFill>
                  <a:schemeClr val="tx1"/>
                </a:solidFill>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a:p>
            <a:pPr fontAlgn="auto">
              <a:spcBef>
                <a:spcPts val="0"/>
              </a:spcBef>
              <a:spcAft>
                <a:spcPts val="0"/>
              </a:spcAft>
              <a:defRPr/>
            </a:pPr>
            <a:r>
              <a:rPr lang="zh-CN" altLang="en-US" sz="1300" b="1" dirty="0">
                <a:solidFill>
                  <a:schemeClr val="tx1"/>
                </a:solidFill>
                <a:latin typeface="微软雅黑" panose="020B0503020204020204" pitchFamily="34" charset="-122"/>
                <a:ea typeface="微软雅黑" panose="020B0503020204020204" pitchFamily="34" charset="-122"/>
              </a:rPr>
              <a:t>字体：</a:t>
            </a:r>
            <a:r>
              <a:rPr lang="zh-CN" altLang="en-US" sz="1300" dirty="0">
                <a:solidFill>
                  <a:schemeClr val="tx1"/>
                </a:solidFill>
                <a:latin typeface="微软雅黑" panose="020B0503020204020204" pitchFamily="34" charset="-122"/>
                <a:ea typeface="微软雅黑" panose="020B0503020204020204" pitchFamily="34" charset="-122"/>
              </a:rPr>
              <a:t>微软雅黑     </a:t>
            </a:r>
            <a:r>
              <a:rPr lang="zh-CN" altLang="en-US" sz="1300" b="1" dirty="0">
                <a:solidFill>
                  <a:schemeClr val="tx1"/>
                </a:solidFill>
                <a:latin typeface="微软雅黑" panose="020B0503020204020204" pitchFamily="34" charset="-122"/>
                <a:ea typeface="微软雅黑" panose="020B0503020204020204" pitchFamily="34" charset="-122"/>
              </a:rPr>
              <a:t>颜色：</a:t>
            </a:r>
            <a:r>
              <a:rPr lang="zh-CN" altLang="en-US" sz="1300" dirty="0">
                <a:solidFill>
                  <a:schemeClr val="tx1"/>
                </a:solidFill>
                <a:latin typeface="微软雅黑" panose="020B0503020204020204" pitchFamily="34" charset="-122"/>
                <a:ea typeface="微软雅黑" panose="020B0503020204020204" pitchFamily="34" charset="-122"/>
              </a:rPr>
              <a:t>优先用右侧颜色</a:t>
            </a:r>
            <a:endParaRPr lang="zh-CN" altLang="en-US" sz="1300" dirty="0">
              <a:solidFill>
                <a:schemeClr val="tx1"/>
              </a:solidFill>
              <a:latin typeface="微软雅黑" panose="020B0503020204020204" pitchFamily="34" charset="-122"/>
              <a:ea typeface="微软雅黑" panose="020B0503020204020204" pitchFamily="34" charset="-122"/>
            </a:endParaRPr>
          </a:p>
        </p:txBody>
      </p:sp>
      <p:sp>
        <p:nvSpPr>
          <p:cNvPr id="10" name="矩形 9"/>
          <p:cNvSpPr/>
          <p:nvPr userDrawn="1"/>
        </p:nvSpPr>
        <p:spPr>
          <a:xfrm>
            <a:off x="231649" y="6964366"/>
            <a:ext cx="2077637" cy="539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fontAlgn="auto">
              <a:spcBef>
                <a:spcPts val="0"/>
              </a:spcBef>
              <a:spcAft>
                <a:spcPts val="0"/>
              </a:spcAft>
              <a:defRPr/>
            </a:pPr>
            <a:r>
              <a:rPr lang="en-US" altLang="zh-CN" sz="2800" b="1" dirty="0">
                <a:solidFill>
                  <a:schemeClr val="tx1"/>
                </a:solidFill>
                <a:latin typeface="微软雅黑" panose="020B0503020204020204" pitchFamily="34" charset="-122"/>
                <a:ea typeface="微软雅黑" panose="020B0503020204020204" pitchFamily="34" charset="-122"/>
              </a:rPr>
              <a:t>2023</a:t>
            </a:r>
            <a:r>
              <a:rPr lang="zh-CN" altLang="en-US" sz="2800" b="1" dirty="0">
                <a:solidFill>
                  <a:schemeClr val="tx1"/>
                </a:solidFill>
                <a:latin typeface="微软雅黑" panose="020B0503020204020204" pitchFamily="34" charset="-122"/>
                <a:ea typeface="微软雅黑" panose="020B0503020204020204" pitchFamily="34" charset="-122"/>
              </a:rPr>
              <a:t>结尾页</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a:xfrm flipH="1">
            <a:off x="479425" y="836712"/>
            <a:ext cx="112331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矩形 18"/>
          <p:cNvSpPr/>
          <p:nvPr userDrawn="1"/>
        </p:nvSpPr>
        <p:spPr>
          <a:xfrm>
            <a:off x="5903385" y="7004052"/>
            <a:ext cx="1512000" cy="4683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解放蓝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21/42/140</a:t>
            </a:r>
            <a:endParaRPr lang="zh-CN" altLang="en-US" sz="1100" dirty="0">
              <a:latin typeface="微软雅黑" panose="020B0503020204020204" pitchFamily="34" charset="-122"/>
              <a:ea typeface="微软雅黑" panose="020B0503020204020204" pitchFamily="34" charset="-122"/>
            </a:endParaRPr>
          </a:p>
        </p:txBody>
      </p:sp>
      <p:sp>
        <p:nvSpPr>
          <p:cNvPr id="20" name="矩形 19"/>
          <p:cNvSpPr/>
          <p:nvPr userDrawn="1"/>
        </p:nvSpPr>
        <p:spPr>
          <a:xfrm>
            <a:off x="7431809" y="7004052"/>
            <a:ext cx="1512000" cy="4683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辅助蓝</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sym typeface="+mn-ea"/>
              </a:rPr>
              <a:t>39/150/212</a:t>
            </a:r>
            <a:endParaRPr lang="zh-CN" altLang="en-US" sz="1100" dirty="0">
              <a:latin typeface="微软雅黑" panose="020B0503020204020204" pitchFamily="34" charset="-122"/>
              <a:ea typeface="微软雅黑" panose="020B0503020204020204" pitchFamily="34" charset="-122"/>
            </a:endParaRPr>
          </a:p>
        </p:txBody>
      </p:sp>
      <p:sp>
        <p:nvSpPr>
          <p:cNvPr id="21" name="矩形 20"/>
          <p:cNvSpPr/>
          <p:nvPr userDrawn="1"/>
        </p:nvSpPr>
        <p:spPr>
          <a:xfrm>
            <a:off x="10488656" y="7004052"/>
            <a:ext cx="1512000" cy="4683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latin typeface="微软雅黑" panose="020B0503020204020204" pitchFamily="34" charset="-122"/>
                <a:ea typeface="微软雅黑" panose="020B0503020204020204" pitchFamily="34" charset="-122"/>
              </a:rPr>
              <a:t>辅助红</a:t>
            </a:r>
            <a:endParaRPr lang="en-US" altLang="zh-CN" sz="1300" dirty="0">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latin typeface="微软雅黑" panose="020B0503020204020204" pitchFamily="34" charset="-122"/>
                <a:ea typeface="微软雅黑" panose="020B0503020204020204" pitchFamily="34" charset="-122"/>
              </a:rPr>
              <a:t>177/0/17</a:t>
            </a:r>
            <a:endParaRPr lang="zh-CN" altLang="en-US" sz="1100" dirty="0">
              <a:latin typeface="微软雅黑" panose="020B0503020204020204" pitchFamily="34" charset="-122"/>
              <a:ea typeface="微软雅黑" panose="020B0503020204020204" pitchFamily="34" charset="-122"/>
            </a:endParaRPr>
          </a:p>
        </p:txBody>
      </p:sp>
      <p:sp>
        <p:nvSpPr>
          <p:cNvPr id="23" name="矩形 22"/>
          <p:cNvSpPr/>
          <p:nvPr userDrawn="1"/>
        </p:nvSpPr>
        <p:spPr>
          <a:xfrm>
            <a:off x="8960233" y="7004052"/>
            <a:ext cx="1512000" cy="468311"/>
          </a:xfrm>
          <a:prstGeom prst="rect">
            <a:avLst/>
          </a:prstGeom>
          <a:solidFill>
            <a:srgbClr val="A7A9AC"/>
          </a:solidFill>
          <a:ln>
            <a:noFill/>
          </a:ln>
        </p:spPr>
        <p:style>
          <a:lnRef idx="2">
            <a:schemeClr val="accent1">
              <a:shade val="50000"/>
            </a:schemeClr>
          </a:lnRef>
          <a:fillRef idx="1">
            <a:schemeClr val="accent1"/>
          </a:fillRef>
          <a:effectRef idx="0">
            <a:schemeClr val="accent1"/>
          </a:effectRef>
          <a:fontRef idx="minor">
            <a:schemeClr val="lt1"/>
          </a:fontRef>
        </p:style>
        <p:txBody>
          <a:bodyPr lIns="28695" tIns="28695" rIns="28695" bIns="28695" anchor="ctr"/>
          <a:lstStyle/>
          <a:p>
            <a:pPr algn="ctr" fontAlgn="auto">
              <a:lnSpc>
                <a:spcPts val="1275"/>
              </a:lnSpc>
              <a:spcBef>
                <a:spcPts val="0"/>
              </a:spcBef>
              <a:spcAft>
                <a:spcPts val="0"/>
              </a:spcAft>
              <a:defRPr/>
            </a:pPr>
            <a:r>
              <a:rPr lang="zh-CN" altLang="en-US" sz="1300" dirty="0">
                <a:solidFill>
                  <a:schemeClr val="bg1"/>
                </a:solidFill>
                <a:latin typeface="微软雅黑" panose="020B0503020204020204" pitchFamily="34" charset="-122"/>
                <a:ea typeface="微软雅黑" panose="020B0503020204020204" pitchFamily="34" charset="-122"/>
              </a:rPr>
              <a:t>辅助灰</a:t>
            </a:r>
            <a:endParaRPr lang="en-US" altLang="zh-CN" sz="1300" dirty="0">
              <a:solidFill>
                <a:schemeClr val="bg1"/>
              </a:solidFill>
              <a:latin typeface="微软雅黑" panose="020B0503020204020204" pitchFamily="34" charset="-122"/>
              <a:ea typeface="微软雅黑" panose="020B0503020204020204" pitchFamily="34" charset="-122"/>
            </a:endParaRPr>
          </a:p>
          <a:p>
            <a:pPr algn="ctr" fontAlgn="auto">
              <a:lnSpc>
                <a:spcPts val="1275"/>
              </a:lnSpc>
              <a:spcBef>
                <a:spcPts val="0"/>
              </a:spcBef>
              <a:spcAft>
                <a:spcPts val="0"/>
              </a:spcAft>
              <a:defRPr/>
            </a:pPr>
            <a:r>
              <a:rPr lang="en-US" altLang="zh-CN" sz="1100" dirty="0">
                <a:solidFill>
                  <a:schemeClr val="bg1"/>
                </a:solidFill>
                <a:latin typeface="微软雅黑" panose="020B0503020204020204" pitchFamily="34" charset="-122"/>
                <a:ea typeface="微软雅黑" panose="020B0503020204020204" pitchFamily="34" charset="-122"/>
                <a:sym typeface="+mn-ea"/>
              </a:rPr>
              <a:t>167/169/172</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12" name="图形 25"/>
          <p:cNvPicPr>
            <a:picLocks noChangeAspect="1"/>
          </p:cNvPicPr>
          <p:nvPr userDrawn="1"/>
        </p:nvPicPr>
        <p:blipFill>
          <a:blip r:embed="rId3"/>
          <a:stretch>
            <a:fillRect/>
          </a:stretch>
        </p:blipFill>
        <p:spPr>
          <a:xfrm>
            <a:off x="9961704" y="264695"/>
            <a:ext cx="1750871" cy="381600"/>
          </a:xfrm>
          <a:prstGeom prst="rect">
            <a:avLst/>
          </a:prstGeom>
        </p:spPr>
      </p:pic>
      <p:sp>
        <p:nvSpPr>
          <p:cNvPr id="3" name="文本框 2"/>
          <p:cNvSpPr txBox="1"/>
          <p:nvPr userDrawn="1"/>
        </p:nvSpPr>
        <p:spPr>
          <a:xfrm>
            <a:off x="479425" y="2852936"/>
            <a:ext cx="11233150" cy="1152128"/>
          </a:xfrm>
          <a:prstGeom prst="rect">
            <a:avLst/>
          </a:prstGeom>
          <a:noFill/>
        </p:spPr>
        <p:txBody>
          <a:bodyPr wrap="none" lIns="36000" tIns="36000" rIns="36000" bIns="36000" rtlCol="0">
            <a:noAutofit/>
          </a:bodyPr>
          <a:lstStyle/>
          <a:p>
            <a:pPr algn="ctr">
              <a:spcBef>
                <a:spcPts val="600"/>
              </a:spcBef>
            </a:pPr>
            <a:r>
              <a:rPr lang="zh-CN" altLang="en-US" sz="6600" b="1" dirty="0">
                <a:solidFill>
                  <a:srgbClr val="152A8C"/>
                </a:solidFill>
                <a:latin typeface="+mj-lt"/>
              </a:rPr>
              <a:t>一汽解放    一路领航</a:t>
            </a:r>
            <a:endParaRPr lang="zh-CN" altLang="en-US" sz="6600" b="1" dirty="0">
              <a:solidFill>
                <a:srgbClr val="152A8C"/>
              </a:solidFill>
              <a:latin typeface="+mj-l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47648" y="7372945"/>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51648" y="7372945"/>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613248" y="7372945"/>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sz="3200"/>
              <a:t>面向商用车低温场景的</a:t>
            </a:r>
            <a:br>
              <a:rPr lang="zh-CN" altLang="en-US" sz="3200"/>
            </a:br>
            <a:r>
              <a:rPr lang="zh-CN" altLang="en-US" sz="3200"/>
              <a:t>动力电池脉冲加热技术</a:t>
            </a:r>
            <a:br>
              <a:rPr lang="zh-CN" altLang="en-US" sz="3200"/>
            </a:br>
            <a:br>
              <a:rPr lang="zh-CN" altLang="en-US" sz="3200"/>
            </a:br>
            <a:r>
              <a:rPr lang="zh-CN" altLang="en-US" sz="2400"/>
              <a:t>路线图</a:t>
            </a:r>
            <a:endParaRPr lang="zh-CN" altLang="en-US" sz="2400"/>
          </a:p>
        </p:txBody>
      </p:sp>
      <p:sp>
        <p:nvSpPr>
          <p:cNvPr id="7" name="副标题 6"/>
          <p:cNvSpPr>
            <a:spLocks noGrp="1"/>
          </p:cNvSpPr>
          <p:nvPr>
            <p:ph type="subTitle" idx="1"/>
          </p:nvPr>
        </p:nvSpPr>
        <p:spPr/>
        <p:txBody>
          <a:bodyPr/>
          <a:lstStyle/>
          <a:p>
            <a:r>
              <a:rPr lang="en-US" altLang="zh-CN"/>
              <a:t>2025.12</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9425" y="908685"/>
            <a:ext cx="11219180" cy="1231900"/>
          </a:xfrm>
          <a:prstGeom prst="rect">
            <a:avLst/>
          </a:prstGeom>
          <a:noFill/>
        </p:spPr>
        <p:txBody>
          <a:bodyPr wrap="square" lIns="36000" tIns="36000" rIns="36000" bIns="36000" rtlCol="0">
            <a:noAutofit/>
          </a:bodyPr>
          <a:p>
            <a:pPr algn="l">
              <a:spcBef>
                <a:spcPts val="600"/>
              </a:spcBef>
            </a:pPr>
            <a:r>
              <a:rPr lang="en-US" altLang="zh-CN" sz="1400" b="1" dirty="0" err="1" smtClean="0">
                <a:solidFill>
                  <a:srgbClr val="003B90"/>
                </a:solidFill>
                <a:latin typeface="+mj-lt"/>
              </a:rPr>
              <a:t>1.</a:t>
            </a:r>
            <a:r>
              <a:rPr lang="zh-CN" altLang="en-US" sz="1400" b="1" dirty="0" err="1" smtClean="0">
                <a:solidFill>
                  <a:srgbClr val="003B90"/>
                </a:solidFill>
                <a:latin typeface="+mj-lt"/>
              </a:rPr>
              <a:t>技术背景：</a:t>
            </a:r>
            <a:r>
              <a:rPr lang="zh-CN" altLang="en-US" sz="1400" dirty="0" err="1" smtClean="0">
                <a:solidFill>
                  <a:srgbClr val="003B90"/>
                </a:solidFill>
                <a:latin typeface="+mj-lt"/>
              </a:rPr>
              <a:t>冬季高寒地区新能源汽车通常面临续驶里程短、启动困难，充电难等问题。这是因为动力电池在低温环境下极化增大，可用容量会明显下降；充电易造成负极析锂，许用最大充电倍率小。</a:t>
            </a:r>
            <a:endParaRPr lang="zh-CN" altLang="en-US" sz="1400" b="1" dirty="0" err="1" smtClean="0">
              <a:solidFill>
                <a:srgbClr val="003B90"/>
              </a:solidFill>
              <a:latin typeface="+mj-lt"/>
            </a:endParaRPr>
          </a:p>
          <a:p>
            <a:pPr algn="l">
              <a:spcBef>
                <a:spcPts val="600"/>
              </a:spcBef>
            </a:pPr>
            <a:r>
              <a:rPr lang="en-US" altLang="zh-CN" sz="1400" b="1" dirty="0" err="1" smtClean="0">
                <a:solidFill>
                  <a:srgbClr val="003B90"/>
                </a:solidFill>
                <a:latin typeface="+mj-lt"/>
              </a:rPr>
              <a:t>2.</a:t>
            </a:r>
            <a:r>
              <a:rPr lang="zh-CN" altLang="en-US" sz="1400" b="1" dirty="0" err="1" smtClean="0">
                <a:solidFill>
                  <a:srgbClr val="003B90"/>
                </a:solidFill>
                <a:latin typeface="+mj-lt"/>
              </a:rPr>
              <a:t>技术应用：</a:t>
            </a:r>
            <a:r>
              <a:rPr lang="zh-CN" altLang="en-US" sz="1400" dirty="0" err="1" smtClean="0">
                <a:solidFill>
                  <a:srgbClr val="003B90"/>
                </a:solidFill>
                <a:latin typeface="+mj-lt"/>
              </a:rPr>
              <a:t>保障新能源汽车全气候（尤其是低温环境）、全工况正常运行。</a:t>
            </a:r>
            <a:endParaRPr lang="zh-CN" altLang="en-US" sz="1400" b="1" dirty="0" err="1" smtClean="0">
              <a:solidFill>
                <a:srgbClr val="003B90"/>
              </a:solidFill>
              <a:latin typeface="+mj-lt"/>
            </a:endParaRPr>
          </a:p>
          <a:p>
            <a:pPr algn="l">
              <a:spcBef>
                <a:spcPts val="600"/>
              </a:spcBef>
            </a:pPr>
            <a:r>
              <a:rPr lang="en-US" altLang="zh-CN" sz="1400" b="1" dirty="0" err="1" smtClean="0">
                <a:solidFill>
                  <a:srgbClr val="003B90"/>
                </a:solidFill>
                <a:latin typeface="+mj-lt"/>
              </a:rPr>
              <a:t>3.</a:t>
            </a:r>
            <a:r>
              <a:rPr lang="zh-CN" altLang="en-US" sz="1400" b="1" dirty="0" err="1" smtClean="0">
                <a:solidFill>
                  <a:srgbClr val="003B90"/>
                </a:solidFill>
                <a:latin typeface="+mj-lt"/>
              </a:rPr>
              <a:t>技术分类：</a:t>
            </a:r>
            <a:r>
              <a:rPr lang="en-US" altLang="zh-CN" sz="1400" b="1" dirty="0" err="1" smtClean="0">
                <a:solidFill>
                  <a:srgbClr val="003B90"/>
                </a:solidFill>
                <a:latin typeface="+mj-lt"/>
              </a:rPr>
              <a:t>                                                                            5.</a:t>
            </a:r>
            <a:r>
              <a:rPr lang="zh-CN" altLang="en-US" sz="1400" b="1" dirty="0" err="1" smtClean="0">
                <a:solidFill>
                  <a:srgbClr val="003B90"/>
                </a:solidFill>
                <a:latin typeface="+mj-lt"/>
              </a:rPr>
              <a:t>加热技术对比</a:t>
            </a:r>
            <a:r>
              <a:rPr lang="en-US" altLang="zh-CN" sz="1400" b="1" dirty="0" err="1" smtClean="0">
                <a:solidFill>
                  <a:srgbClr val="003B90"/>
                </a:solidFill>
                <a:latin typeface="+mj-lt"/>
              </a:rPr>
              <a:t>/</a:t>
            </a:r>
            <a:r>
              <a:rPr lang="zh-CN" altLang="en-US" sz="1400" b="1" dirty="0" err="1" smtClean="0">
                <a:solidFill>
                  <a:srgbClr val="003B90"/>
                </a:solidFill>
                <a:latin typeface="+mj-lt"/>
              </a:rPr>
              <a:t>实例</a:t>
            </a:r>
            <a:r>
              <a:rPr lang="zh-CN" altLang="en-US" sz="1400" b="1" dirty="0" err="1" smtClean="0">
                <a:solidFill>
                  <a:srgbClr val="003B90"/>
                </a:solidFill>
                <a:latin typeface="+mj-lt"/>
                <a:sym typeface="+mn-ea"/>
              </a:rPr>
              <a:t>：</a:t>
            </a: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endParaRPr lang="zh-CN" altLang="en-US" sz="1400" b="1" dirty="0" err="1" smtClean="0">
              <a:solidFill>
                <a:srgbClr val="003B90"/>
              </a:solidFill>
              <a:latin typeface="+mj-lt"/>
              <a:sym typeface="+mn-ea"/>
            </a:endParaRPr>
          </a:p>
          <a:p>
            <a:pPr algn="l">
              <a:spcBef>
                <a:spcPts val="600"/>
              </a:spcBef>
            </a:pPr>
            <a:r>
              <a:rPr lang="en-US" altLang="zh-CN" sz="1400" b="1" dirty="0" err="1" smtClean="0">
                <a:solidFill>
                  <a:srgbClr val="152A8C"/>
                </a:solidFill>
                <a:latin typeface="+mj-lt"/>
                <a:sym typeface="+mn-ea"/>
              </a:rPr>
              <a:t>4.</a:t>
            </a:r>
            <a:r>
              <a:rPr lang="zh-CN" altLang="en-US" sz="1400" b="1">
                <a:solidFill>
                  <a:srgbClr val="152A8C"/>
                </a:solidFill>
                <a:sym typeface="+mn-ea"/>
              </a:rPr>
              <a:t>内部加热技术分析</a:t>
            </a:r>
            <a:r>
              <a:rPr lang="zh-CN" altLang="en-US" sz="1400" b="1" dirty="0" err="1" smtClean="0">
                <a:solidFill>
                  <a:srgbClr val="152A8C"/>
                </a:solidFill>
                <a:latin typeface="+mj-lt"/>
                <a:sym typeface="+mn-ea"/>
              </a:rPr>
              <a:t>：</a:t>
            </a:r>
            <a:endParaRPr lang="zh-CN" altLang="en-US" sz="1400" b="1" dirty="0" err="1" smtClean="0">
              <a:solidFill>
                <a:srgbClr val="152A8C"/>
              </a:solidFill>
              <a:latin typeface="+mj-lt"/>
            </a:endParaRPr>
          </a:p>
          <a:p>
            <a:pPr algn="l">
              <a:spcBef>
                <a:spcPts val="600"/>
              </a:spcBef>
            </a:pPr>
            <a:endParaRPr lang="zh-CN" altLang="en-US" sz="1400" b="1" dirty="0" err="1" smtClean="0">
              <a:solidFill>
                <a:srgbClr val="152A8C"/>
              </a:solidFill>
              <a:latin typeface="+mj-lt"/>
            </a:endParaRPr>
          </a:p>
        </p:txBody>
      </p:sp>
      <p:sp>
        <p:nvSpPr>
          <p:cNvPr id="3" name="文本占位符 2"/>
          <p:cNvSpPr>
            <a:spLocks noGrp="1"/>
          </p:cNvSpPr>
          <p:nvPr>
            <p:ph type="body" sz="quarter" idx="12"/>
          </p:nvPr>
        </p:nvSpPr>
        <p:spPr/>
        <p:txBody>
          <a:bodyPr/>
          <a:p>
            <a:r>
              <a:rPr lang="zh-CN" altLang="en-US">
                <a:sym typeface="+mn-ea"/>
              </a:rPr>
              <a:t>低温加热</a:t>
            </a:r>
            <a:r>
              <a:rPr lang="zh-CN" altLang="en-US">
                <a:sym typeface="+mn-ea"/>
              </a:rPr>
              <a:t>技术概览</a:t>
            </a:r>
            <a:endParaRPr lang="zh-CN" altLang="en-US">
              <a:sym typeface="+mn-ea"/>
            </a:endParaRPr>
          </a:p>
        </p:txBody>
      </p:sp>
      <p:sp>
        <p:nvSpPr>
          <p:cNvPr id="5" name="圆角矩形 4"/>
          <p:cNvSpPr/>
          <p:nvPr/>
        </p:nvSpPr>
        <p:spPr>
          <a:xfrm>
            <a:off x="1913890" y="2060575"/>
            <a:ext cx="1575435" cy="4235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低温加热</a:t>
            </a:r>
            <a:r>
              <a:rPr lang="zh-CN" altLang="en-US" sz="1400"/>
              <a:t>技术</a:t>
            </a:r>
            <a:endParaRPr lang="zh-CN" altLang="en-US" sz="1400"/>
          </a:p>
        </p:txBody>
      </p:sp>
      <p:sp>
        <p:nvSpPr>
          <p:cNvPr id="11" name="文本框 10"/>
          <p:cNvSpPr txBox="1"/>
          <p:nvPr/>
        </p:nvSpPr>
        <p:spPr>
          <a:xfrm>
            <a:off x="951230" y="3140710"/>
            <a:ext cx="1218565" cy="1342390"/>
          </a:xfrm>
          <a:prstGeom prst="rect">
            <a:avLst/>
          </a:prstGeom>
          <a:noFill/>
        </p:spPr>
        <p:txBody>
          <a:bodyPr wrap="square" lIns="36000" tIns="36000" rIns="36000" bIns="36000" rtlCol="0">
            <a:noAutofit/>
          </a:bodyPr>
          <a:p>
            <a:pPr algn="l">
              <a:spcBef>
                <a:spcPts val="600"/>
              </a:spcBef>
            </a:pPr>
            <a:r>
              <a:rPr lang="en-US" altLang="zh-CN" sz="1200" dirty="0" err="1" smtClean="0">
                <a:solidFill>
                  <a:srgbClr val="003B90"/>
                </a:solidFill>
                <a:latin typeface="+mj-lt"/>
              </a:rPr>
              <a:t>1.</a:t>
            </a:r>
            <a:r>
              <a:rPr lang="zh-CN" altLang="en-US" sz="1200" dirty="0" err="1" smtClean="0">
                <a:solidFill>
                  <a:srgbClr val="003B90"/>
                </a:solidFill>
                <a:latin typeface="+mj-lt"/>
              </a:rPr>
              <a:t>空气对流加热</a:t>
            </a:r>
            <a:endParaRPr lang="zh-CN" altLang="en-US" sz="1200" dirty="0" err="1" smtClean="0">
              <a:solidFill>
                <a:srgbClr val="003B90"/>
              </a:solidFill>
              <a:latin typeface="+mj-lt"/>
            </a:endParaRPr>
          </a:p>
          <a:p>
            <a:pPr algn="l">
              <a:spcBef>
                <a:spcPts val="600"/>
              </a:spcBef>
            </a:pPr>
            <a:r>
              <a:rPr lang="en-US" altLang="zh-CN" sz="1200" dirty="0" err="1" smtClean="0">
                <a:solidFill>
                  <a:srgbClr val="003B90"/>
                </a:solidFill>
                <a:latin typeface="+mj-lt"/>
              </a:rPr>
              <a:t>2.</a:t>
            </a:r>
            <a:r>
              <a:rPr lang="zh-CN" altLang="en-US" sz="1200" dirty="0" err="1" smtClean="0">
                <a:solidFill>
                  <a:srgbClr val="003B90"/>
                </a:solidFill>
                <a:latin typeface="+mj-lt"/>
              </a:rPr>
              <a:t>液体对流加热</a:t>
            </a:r>
            <a:endParaRPr lang="zh-CN" altLang="en-US" sz="1200" dirty="0" err="1" smtClean="0">
              <a:solidFill>
                <a:srgbClr val="003B90"/>
              </a:solidFill>
              <a:latin typeface="+mj-lt"/>
            </a:endParaRPr>
          </a:p>
          <a:p>
            <a:pPr algn="l">
              <a:spcBef>
                <a:spcPts val="600"/>
              </a:spcBef>
            </a:pPr>
            <a:r>
              <a:rPr lang="en-US" altLang="zh-CN" sz="1200" dirty="0" err="1" smtClean="0">
                <a:solidFill>
                  <a:srgbClr val="003B90"/>
                </a:solidFill>
                <a:latin typeface="+mj-lt"/>
              </a:rPr>
              <a:t>3.</a:t>
            </a:r>
            <a:r>
              <a:rPr lang="zh-CN" altLang="en-US" sz="1200" dirty="0" err="1" smtClean="0">
                <a:solidFill>
                  <a:srgbClr val="003B90"/>
                </a:solidFill>
                <a:latin typeface="+mj-lt"/>
              </a:rPr>
              <a:t>相变材料加热</a:t>
            </a:r>
            <a:endParaRPr lang="zh-CN" altLang="en-US" sz="1200" dirty="0" err="1" smtClean="0">
              <a:solidFill>
                <a:srgbClr val="003B90"/>
              </a:solidFill>
              <a:latin typeface="+mj-lt"/>
            </a:endParaRPr>
          </a:p>
          <a:p>
            <a:pPr algn="l">
              <a:spcBef>
                <a:spcPts val="600"/>
              </a:spcBef>
            </a:pPr>
            <a:r>
              <a:rPr lang="en-US" altLang="zh-CN" sz="1200" dirty="0" err="1" smtClean="0">
                <a:solidFill>
                  <a:srgbClr val="003B90"/>
                </a:solidFill>
                <a:latin typeface="+mj-lt"/>
              </a:rPr>
              <a:t>4.</a:t>
            </a:r>
            <a:r>
              <a:rPr lang="zh-CN" altLang="en-US" sz="1200" dirty="0" err="1" smtClean="0">
                <a:solidFill>
                  <a:srgbClr val="003B90"/>
                </a:solidFill>
                <a:latin typeface="+mj-lt"/>
              </a:rPr>
              <a:t>电热元件加热</a:t>
            </a:r>
            <a:endParaRPr lang="zh-CN" altLang="en-US" sz="1200" dirty="0" err="1" smtClean="0">
              <a:solidFill>
                <a:srgbClr val="003B90"/>
              </a:solidFill>
              <a:latin typeface="+mj-lt"/>
            </a:endParaRPr>
          </a:p>
          <a:p>
            <a:pPr algn="l">
              <a:spcBef>
                <a:spcPts val="600"/>
              </a:spcBef>
            </a:pPr>
            <a:r>
              <a:rPr lang="en-US" altLang="zh-CN" sz="1200" dirty="0" err="1" smtClean="0">
                <a:solidFill>
                  <a:srgbClr val="003B90"/>
                </a:solidFill>
                <a:latin typeface="+mj-lt"/>
              </a:rPr>
              <a:t>5.</a:t>
            </a:r>
            <a:r>
              <a:rPr lang="zh-CN" altLang="en-US" sz="1200" dirty="0" err="1" smtClean="0">
                <a:solidFill>
                  <a:srgbClr val="003B90"/>
                </a:solidFill>
                <a:latin typeface="+mj-lt"/>
              </a:rPr>
              <a:t>其他器件</a:t>
            </a:r>
            <a:endParaRPr lang="zh-CN" altLang="en-US" sz="1200" dirty="0" err="1" smtClean="0">
              <a:solidFill>
                <a:srgbClr val="003B90"/>
              </a:solidFill>
              <a:latin typeface="+mj-lt"/>
            </a:endParaRPr>
          </a:p>
        </p:txBody>
      </p:sp>
      <p:sp>
        <p:nvSpPr>
          <p:cNvPr id="12" name="文本框 11"/>
          <p:cNvSpPr txBox="1"/>
          <p:nvPr/>
        </p:nvSpPr>
        <p:spPr>
          <a:xfrm>
            <a:off x="3148965" y="3140710"/>
            <a:ext cx="1504315" cy="1342390"/>
          </a:xfrm>
          <a:prstGeom prst="rect">
            <a:avLst/>
          </a:prstGeom>
          <a:noFill/>
        </p:spPr>
        <p:txBody>
          <a:bodyPr wrap="square" lIns="36000" tIns="36000" rIns="36000" bIns="36000" rtlCol="0">
            <a:noAutofit/>
          </a:bodyPr>
          <a:p>
            <a:pPr algn="l">
              <a:spcBef>
                <a:spcPts val="600"/>
              </a:spcBef>
            </a:pPr>
            <a:r>
              <a:rPr lang="en-US" sz="1200" dirty="0" err="1" smtClean="0">
                <a:solidFill>
                  <a:srgbClr val="003B90"/>
                </a:solidFill>
                <a:latin typeface="+mj-lt"/>
              </a:rPr>
              <a:t>1.</a:t>
            </a:r>
            <a:r>
              <a:rPr lang="zh-CN" altLang="en-US" sz="1200" dirty="0" err="1" smtClean="0">
                <a:solidFill>
                  <a:srgbClr val="003B90"/>
                </a:solidFill>
                <a:latin typeface="+mj-lt"/>
              </a:rPr>
              <a:t>交流电加热</a:t>
            </a:r>
            <a:endParaRPr lang="zh-CN" altLang="en-US" sz="1200" dirty="0" err="1" smtClean="0">
              <a:solidFill>
                <a:srgbClr val="003B90"/>
              </a:solidFill>
              <a:latin typeface="+mj-lt"/>
            </a:endParaRPr>
          </a:p>
          <a:p>
            <a:pPr algn="l">
              <a:spcBef>
                <a:spcPts val="600"/>
              </a:spcBef>
            </a:pPr>
            <a:r>
              <a:rPr lang="en-US" altLang="zh-CN" sz="1200" b="1" dirty="0" err="1" smtClean="0">
                <a:solidFill>
                  <a:srgbClr val="003B90"/>
                </a:solidFill>
                <a:latin typeface="+mj-lt"/>
              </a:rPr>
              <a:t>2.</a:t>
            </a:r>
            <a:r>
              <a:rPr lang="zh-CN" altLang="en-US" sz="1200" b="1" dirty="0" err="1" smtClean="0">
                <a:solidFill>
                  <a:srgbClr val="003B90"/>
                </a:solidFill>
                <a:latin typeface="+mj-lt"/>
              </a:rPr>
              <a:t>脉冲电流加热</a:t>
            </a:r>
            <a:endParaRPr lang="zh-CN" altLang="en-US" sz="1200" b="1" dirty="0" err="1" smtClean="0">
              <a:solidFill>
                <a:srgbClr val="003B90"/>
              </a:solidFill>
              <a:latin typeface="+mj-lt"/>
            </a:endParaRPr>
          </a:p>
          <a:p>
            <a:pPr algn="l">
              <a:spcBef>
                <a:spcPts val="600"/>
              </a:spcBef>
            </a:pPr>
            <a:r>
              <a:rPr lang="en-US" altLang="zh-CN" sz="1200" dirty="0" err="1" smtClean="0">
                <a:solidFill>
                  <a:srgbClr val="003B90"/>
                </a:solidFill>
                <a:latin typeface="+mj-lt"/>
              </a:rPr>
              <a:t>3.</a:t>
            </a:r>
            <a:r>
              <a:rPr lang="zh-CN" altLang="en-US" sz="1200" dirty="0" err="1" smtClean="0">
                <a:solidFill>
                  <a:srgbClr val="003B90"/>
                </a:solidFill>
                <a:latin typeface="+mj-lt"/>
              </a:rPr>
              <a:t>全气候电池</a:t>
            </a:r>
            <a:endParaRPr lang="zh-CN" altLang="en-US" sz="1200" dirty="0" err="1" smtClean="0">
              <a:solidFill>
                <a:srgbClr val="003B90"/>
              </a:solidFill>
              <a:latin typeface="+mj-lt"/>
            </a:endParaRPr>
          </a:p>
          <a:p>
            <a:pPr algn="l">
              <a:spcBef>
                <a:spcPts val="600"/>
              </a:spcBef>
            </a:pPr>
            <a:r>
              <a:rPr lang="en-US" altLang="zh-CN" sz="1200" dirty="0" err="1" smtClean="0">
                <a:solidFill>
                  <a:srgbClr val="003B90"/>
                </a:solidFill>
                <a:latin typeface="+mj-lt"/>
              </a:rPr>
              <a:t>4.</a:t>
            </a:r>
            <a:r>
              <a:rPr lang="zh-CN" altLang="en-US" sz="1200" dirty="0" err="1" smtClean="0">
                <a:solidFill>
                  <a:srgbClr val="003B90"/>
                </a:solidFill>
                <a:latin typeface="+mj-lt"/>
              </a:rPr>
              <a:t>电触发自加热</a:t>
            </a:r>
            <a:endParaRPr lang="zh-CN" altLang="en-US" sz="1200" dirty="0" err="1" smtClean="0">
              <a:solidFill>
                <a:srgbClr val="003B90"/>
              </a:solidFill>
              <a:latin typeface="+mj-lt"/>
            </a:endParaRPr>
          </a:p>
        </p:txBody>
      </p:sp>
      <p:graphicFrame>
        <p:nvGraphicFramePr>
          <p:cNvPr id="19" name="表格 18"/>
          <p:cNvGraphicFramePr/>
          <p:nvPr>
            <p:custDataLst>
              <p:tags r:id="rId1"/>
            </p:custDataLst>
          </p:nvPr>
        </p:nvGraphicFramePr>
        <p:xfrm>
          <a:off x="5626735" y="2120900"/>
          <a:ext cx="1889125" cy="2560320"/>
        </p:xfrm>
        <a:graphic>
          <a:graphicData uri="http://schemas.openxmlformats.org/drawingml/2006/table">
            <a:tbl>
              <a:tblPr firstRow="1" bandRow="1">
                <a:tableStyleId>{5C22544A-7EE6-4342-B048-85BDC9FD1C3A}</a:tableStyleId>
              </a:tblPr>
              <a:tblGrid>
                <a:gridCol w="1889125"/>
              </a:tblGrid>
              <a:tr h="365760">
                <a:tc>
                  <a:txBody>
                    <a:bodyPr/>
                    <a:p>
                      <a:pPr algn="ctr">
                        <a:lnSpc>
                          <a:spcPct val="100000"/>
                        </a:lnSpc>
                        <a:buNone/>
                      </a:pPr>
                      <a:r>
                        <a:rPr lang="zh-CN" altLang="en-US" sz="1200">
                          <a:solidFill>
                            <a:schemeClr val="accent1"/>
                          </a:solidFill>
                        </a:rPr>
                        <a:t>外部加热法</a:t>
                      </a:r>
                      <a:endParaRPr lang="zh-CN" altLang="en-US" sz="1200">
                        <a:solidFill>
                          <a:schemeClr val="accent1"/>
                        </a:solidFill>
                      </a:endParaRPr>
                    </a:p>
                  </a:txBody>
                  <a:tcPr anchor="ctr" anchorCtr="0">
                    <a:lnL w="12700" cmpd="sng">
                      <a:solidFill>
                        <a:srgbClr val="152A8C"/>
                      </a:solidFill>
                      <a:prstDash val="solid"/>
                    </a:lnL>
                    <a:lnR w="12700" cmpd="sng">
                      <a:solidFill>
                        <a:srgbClr val="152A8C"/>
                      </a:solidFill>
                      <a:prstDash val="solid"/>
                    </a:lnR>
                    <a:lnT w="12700" cmpd="sng">
                      <a:solidFill>
                        <a:srgbClr val="152A8C"/>
                      </a:solidFill>
                      <a:prstDash val="solid"/>
                    </a:lnT>
                    <a:lnB w="12700" cmpd="sng">
                      <a:solidFill>
                        <a:srgbClr val="152A8C"/>
                      </a:solidFill>
                      <a:prstDash val="solid"/>
                    </a:lnB>
                    <a:noFill/>
                  </a:tcPr>
                </a:tc>
              </a:tr>
              <a:tr h="914400">
                <a:tc>
                  <a:txBody>
                    <a:bodyPr/>
                    <a:p>
                      <a:pPr algn="ctr">
                        <a:lnSpc>
                          <a:spcPct val="100000"/>
                        </a:lnSpc>
                        <a:buNone/>
                      </a:pPr>
                      <a:r>
                        <a:rPr lang="en-US" altLang="zh-CN" sz="1200">
                          <a:solidFill>
                            <a:schemeClr val="accent1"/>
                          </a:solidFill>
                        </a:rPr>
                        <a:t>1.</a:t>
                      </a:r>
                      <a:r>
                        <a:rPr lang="zh-CN" altLang="en-US" sz="1200">
                          <a:solidFill>
                            <a:schemeClr val="accent1"/>
                          </a:solidFill>
                        </a:rPr>
                        <a:t>能耗高、效率低</a:t>
                      </a:r>
                      <a:endParaRPr lang="zh-CN" altLang="en-US" sz="1200">
                        <a:solidFill>
                          <a:schemeClr val="accent1"/>
                        </a:solidFill>
                      </a:endParaRPr>
                    </a:p>
                    <a:p>
                      <a:pPr algn="ctr">
                        <a:lnSpc>
                          <a:spcPct val="100000"/>
                        </a:lnSpc>
                        <a:buNone/>
                      </a:pPr>
                      <a:r>
                        <a:rPr lang="zh-CN" altLang="en-US" sz="1200">
                          <a:solidFill>
                            <a:schemeClr val="accent1"/>
                          </a:solidFill>
                        </a:rPr>
                        <a:t>（电芯单体</a:t>
                      </a:r>
                      <a:r>
                        <a:rPr lang="en-US" altLang="zh-CN" sz="1200">
                          <a:solidFill>
                            <a:schemeClr val="accent1"/>
                          </a:solidFill>
                        </a:rPr>
                        <a:t>&lt;1℃/min</a:t>
                      </a:r>
                      <a:r>
                        <a:rPr lang="zh-CN" altLang="en-US" sz="1200">
                          <a:solidFill>
                            <a:schemeClr val="accent1"/>
                          </a:solidFill>
                        </a:rPr>
                        <a:t>）</a:t>
                      </a:r>
                      <a:endParaRPr lang="zh-CN" altLang="en-US" sz="1200">
                        <a:solidFill>
                          <a:schemeClr val="accent1"/>
                        </a:solidFill>
                      </a:endParaRPr>
                    </a:p>
                    <a:p>
                      <a:pPr algn="ctr">
                        <a:lnSpc>
                          <a:spcPct val="100000"/>
                        </a:lnSpc>
                        <a:buNone/>
                      </a:pPr>
                      <a:r>
                        <a:rPr lang="en-US" altLang="zh-CN" sz="1200">
                          <a:solidFill>
                            <a:schemeClr val="accent1"/>
                          </a:solidFill>
                        </a:rPr>
                        <a:t>2.</a:t>
                      </a:r>
                      <a:r>
                        <a:rPr lang="zh-CN" altLang="en-US" sz="1200">
                          <a:solidFill>
                            <a:schemeClr val="accent1"/>
                          </a:solidFill>
                        </a:rPr>
                        <a:t>系统的体积和重量增加</a:t>
                      </a:r>
                      <a:endParaRPr lang="zh-CN" altLang="en-US" sz="1200">
                        <a:solidFill>
                          <a:schemeClr val="accent1"/>
                        </a:solidFill>
                      </a:endParaRPr>
                    </a:p>
                    <a:p>
                      <a:pPr algn="ctr">
                        <a:lnSpc>
                          <a:spcPct val="100000"/>
                        </a:lnSpc>
                        <a:buNone/>
                      </a:pPr>
                      <a:r>
                        <a:rPr lang="en-US" altLang="zh-CN" sz="1200">
                          <a:solidFill>
                            <a:schemeClr val="accent1"/>
                          </a:solidFill>
                        </a:rPr>
                        <a:t>3.</a:t>
                      </a:r>
                      <a:r>
                        <a:rPr lang="zh-CN" altLang="en-US" sz="1200">
                          <a:solidFill>
                            <a:schemeClr val="accent1"/>
                          </a:solidFill>
                        </a:rPr>
                        <a:t>成本</a:t>
                      </a:r>
                      <a:r>
                        <a:rPr lang="zh-CN" altLang="en-US" sz="1200">
                          <a:solidFill>
                            <a:schemeClr val="accent1"/>
                          </a:solidFill>
                        </a:rPr>
                        <a:t>更高</a:t>
                      </a:r>
                      <a:endParaRPr lang="zh-CN" altLang="en-US" sz="1200">
                        <a:solidFill>
                          <a:schemeClr val="accent1"/>
                        </a:solidFill>
                      </a:endParaRPr>
                    </a:p>
                  </a:txBody>
                  <a:tcPr anchor="ctr" anchorCtr="0">
                    <a:lnL w="12700" cmpd="sng">
                      <a:solidFill>
                        <a:srgbClr val="152A8C"/>
                      </a:solidFill>
                      <a:prstDash val="solid"/>
                    </a:lnL>
                    <a:lnR w="12700" cmpd="sng">
                      <a:solidFill>
                        <a:srgbClr val="152A8C"/>
                      </a:solidFill>
                      <a:prstDash val="solid"/>
                    </a:lnR>
                    <a:lnT w="12700" cmpd="sng">
                      <a:solidFill>
                        <a:srgbClr val="152A8C"/>
                      </a:solidFill>
                      <a:prstDash val="solid"/>
                    </a:lnT>
                    <a:lnB w="12700" cmpd="sng">
                      <a:solidFill>
                        <a:srgbClr val="152A8C"/>
                      </a:solidFill>
                      <a:prstDash val="solid"/>
                    </a:lnB>
                    <a:noFill/>
                  </a:tcPr>
                </a:tc>
              </a:tr>
              <a:tr h="365760">
                <a:tc>
                  <a:txBody>
                    <a:bodyPr/>
                    <a:p>
                      <a:pPr algn="ctr">
                        <a:lnSpc>
                          <a:spcPct val="100000"/>
                        </a:lnSpc>
                        <a:buNone/>
                      </a:pPr>
                      <a:r>
                        <a:rPr lang="zh-CN" altLang="en-US" sz="1200" b="1">
                          <a:solidFill>
                            <a:schemeClr val="accent1"/>
                          </a:solidFill>
                        </a:rPr>
                        <a:t>内部加热法</a:t>
                      </a:r>
                      <a:endParaRPr lang="zh-CN" altLang="en-US" sz="1200" b="1">
                        <a:solidFill>
                          <a:schemeClr val="accent1"/>
                        </a:solidFill>
                      </a:endParaRPr>
                    </a:p>
                  </a:txBody>
                  <a:tcPr anchor="ctr" anchorCtr="0">
                    <a:lnL w="12700" cmpd="sng">
                      <a:solidFill>
                        <a:srgbClr val="152A8C"/>
                      </a:solidFill>
                      <a:prstDash val="solid"/>
                    </a:lnL>
                    <a:lnR w="12700" cmpd="sng">
                      <a:solidFill>
                        <a:srgbClr val="152A8C"/>
                      </a:solidFill>
                      <a:prstDash val="solid"/>
                    </a:lnR>
                    <a:lnT w="12700" cmpd="sng">
                      <a:solidFill>
                        <a:srgbClr val="152A8C"/>
                      </a:solidFill>
                      <a:prstDash val="solid"/>
                    </a:lnT>
                    <a:lnB w="12700" cmpd="sng">
                      <a:solidFill>
                        <a:srgbClr val="152A8C"/>
                      </a:solidFill>
                      <a:prstDash val="solid"/>
                    </a:lnB>
                    <a:noFill/>
                  </a:tcPr>
                </a:tc>
              </a:tr>
              <a:tr h="914400">
                <a:tc>
                  <a:txBody>
                    <a:bodyPr/>
                    <a:p>
                      <a:pPr algn="ctr">
                        <a:lnSpc>
                          <a:spcPct val="100000"/>
                        </a:lnSpc>
                        <a:buNone/>
                      </a:pPr>
                      <a:r>
                        <a:rPr lang="en-US" altLang="zh-CN" sz="1200">
                          <a:solidFill>
                            <a:schemeClr val="accent1"/>
                          </a:solidFill>
                        </a:rPr>
                        <a:t>1.</a:t>
                      </a:r>
                      <a:r>
                        <a:rPr lang="zh-CN" altLang="en-US" sz="1200">
                          <a:solidFill>
                            <a:schemeClr val="accent1"/>
                          </a:solidFill>
                        </a:rPr>
                        <a:t>加热更快更均匀</a:t>
                      </a:r>
                      <a:endParaRPr lang="zh-CN" altLang="en-US" sz="1200">
                        <a:solidFill>
                          <a:schemeClr val="accent1"/>
                        </a:solidFill>
                      </a:endParaRPr>
                    </a:p>
                    <a:p>
                      <a:pPr algn="ctr">
                        <a:lnSpc>
                          <a:spcPct val="100000"/>
                        </a:lnSpc>
                        <a:buNone/>
                      </a:pPr>
                      <a:r>
                        <a:rPr lang="zh-CN" altLang="en-US" sz="1200">
                          <a:solidFill>
                            <a:schemeClr val="accent1"/>
                          </a:solidFill>
                        </a:rPr>
                        <a:t>（电芯单体</a:t>
                      </a:r>
                      <a:r>
                        <a:rPr lang="en-US" altLang="zh-CN" sz="1200">
                          <a:solidFill>
                            <a:schemeClr val="accent1"/>
                          </a:solidFill>
                        </a:rPr>
                        <a:t>&gt;3</a:t>
                      </a:r>
                      <a:r>
                        <a:rPr lang="en-US" altLang="en-US" sz="1200">
                          <a:solidFill>
                            <a:schemeClr val="accent1"/>
                          </a:solidFill>
                        </a:rPr>
                        <a:t>℃</a:t>
                      </a:r>
                      <a:r>
                        <a:rPr lang="en-US" altLang="zh-CN" sz="1200">
                          <a:solidFill>
                            <a:schemeClr val="accent1"/>
                          </a:solidFill>
                        </a:rPr>
                        <a:t>/min</a:t>
                      </a:r>
                      <a:r>
                        <a:rPr lang="zh-CN" altLang="en-US" sz="1200">
                          <a:solidFill>
                            <a:schemeClr val="accent1"/>
                          </a:solidFill>
                        </a:rPr>
                        <a:t>）</a:t>
                      </a:r>
                      <a:endParaRPr lang="zh-CN" altLang="en-US" sz="1200">
                        <a:solidFill>
                          <a:schemeClr val="accent1"/>
                        </a:solidFill>
                      </a:endParaRPr>
                    </a:p>
                    <a:p>
                      <a:pPr algn="ctr">
                        <a:lnSpc>
                          <a:spcPct val="100000"/>
                        </a:lnSpc>
                        <a:buNone/>
                      </a:pPr>
                      <a:r>
                        <a:rPr lang="en-US" altLang="zh-CN" sz="1200">
                          <a:solidFill>
                            <a:schemeClr val="accent1"/>
                          </a:solidFill>
                        </a:rPr>
                        <a:t>2.</a:t>
                      </a:r>
                      <a:r>
                        <a:rPr lang="zh-CN" altLang="en-US" sz="1200">
                          <a:solidFill>
                            <a:schemeClr val="accent1"/>
                          </a:solidFill>
                        </a:rPr>
                        <a:t>效率显著</a:t>
                      </a:r>
                      <a:r>
                        <a:rPr lang="zh-CN" altLang="en-US" sz="1200">
                          <a:solidFill>
                            <a:schemeClr val="accent1"/>
                          </a:solidFill>
                        </a:rPr>
                        <a:t>提高</a:t>
                      </a:r>
                      <a:endParaRPr lang="zh-CN" altLang="en-US" sz="1200">
                        <a:solidFill>
                          <a:schemeClr val="accent1"/>
                        </a:solidFill>
                      </a:endParaRPr>
                    </a:p>
                    <a:p>
                      <a:pPr algn="ctr">
                        <a:lnSpc>
                          <a:spcPct val="100000"/>
                        </a:lnSpc>
                        <a:buNone/>
                      </a:pPr>
                      <a:r>
                        <a:rPr lang="zh-CN" altLang="en-US" sz="1200">
                          <a:solidFill>
                            <a:schemeClr val="accent1"/>
                          </a:solidFill>
                        </a:rPr>
                        <a:t>（相比外部提高</a:t>
                      </a:r>
                      <a:r>
                        <a:rPr lang="en-US" altLang="zh-CN" sz="1200">
                          <a:solidFill>
                            <a:schemeClr val="accent1"/>
                          </a:solidFill>
                        </a:rPr>
                        <a:t>40%</a:t>
                      </a:r>
                      <a:r>
                        <a:rPr lang="zh-CN" altLang="en-US" sz="1200">
                          <a:solidFill>
                            <a:schemeClr val="accent1"/>
                          </a:solidFill>
                        </a:rPr>
                        <a:t>以上）</a:t>
                      </a:r>
                      <a:endParaRPr lang="zh-CN" altLang="en-US" sz="1200">
                        <a:solidFill>
                          <a:schemeClr val="accent1"/>
                        </a:solidFill>
                      </a:endParaRPr>
                    </a:p>
                    <a:p>
                      <a:pPr algn="ctr">
                        <a:lnSpc>
                          <a:spcPct val="100000"/>
                        </a:lnSpc>
                        <a:buNone/>
                      </a:pPr>
                      <a:r>
                        <a:rPr lang="en-US" altLang="zh-CN" sz="1200">
                          <a:solidFill>
                            <a:schemeClr val="accent1"/>
                          </a:solidFill>
                        </a:rPr>
                        <a:t>3.</a:t>
                      </a:r>
                      <a:r>
                        <a:rPr lang="zh-CN" altLang="en-US" sz="1200">
                          <a:solidFill>
                            <a:schemeClr val="accent1"/>
                          </a:solidFill>
                        </a:rPr>
                        <a:t>技术设计的门槛高</a:t>
                      </a:r>
                      <a:endParaRPr lang="zh-CN" altLang="en-US" sz="1200">
                        <a:solidFill>
                          <a:schemeClr val="accent1"/>
                        </a:solidFill>
                      </a:endParaRPr>
                    </a:p>
                  </a:txBody>
                  <a:tcPr anchor="ctr" anchorCtr="0">
                    <a:lnL w="12700" cmpd="sng">
                      <a:solidFill>
                        <a:srgbClr val="152A8C"/>
                      </a:solidFill>
                      <a:prstDash val="solid"/>
                    </a:lnL>
                    <a:lnR w="12700" cmpd="sng">
                      <a:solidFill>
                        <a:srgbClr val="152A8C"/>
                      </a:solidFill>
                      <a:prstDash val="solid"/>
                    </a:lnR>
                    <a:lnT w="12700" cmpd="sng">
                      <a:solidFill>
                        <a:srgbClr val="152A8C"/>
                      </a:solidFill>
                      <a:prstDash val="solid"/>
                    </a:lnT>
                    <a:lnB w="12700" cmpd="sng">
                      <a:solidFill>
                        <a:srgbClr val="152A8C"/>
                      </a:solidFill>
                      <a:prstDash val="solid"/>
                    </a:lnB>
                    <a:noFill/>
                  </a:tcPr>
                </a:tc>
              </a:tr>
            </a:tbl>
          </a:graphicData>
        </a:graphic>
      </p:graphicFrame>
      <p:graphicFrame>
        <p:nvGraphicFramePr>
          <p:cNvPr id="21" name="表格 20"/>
          <p:cNvGraphicFramePr/>
          <p:nvPr/>
        </p:nvGraphicFramePr>
        <p:xfrm>
          <a:off x="623570" y="5012690"/>
          <a:ext cx="4389120" cy="1642745"/>
        </p:xfrm>
        <a:graphic>
          <a:graphicData uri="http://schemas.openxmlformats.org/drawingml/2006/table">
            <a:tbl>
              <a:tblPr firstRow="1" bandRow="1">
                <a:tableStyleId>{5C22544A-7EE6-4342-B048-85BDC9FD1C3A}</a:tableStyleId>
              </a:tblPr>
              <a:tblGrid>
                <a:gridCol w="1259840"/>
                <a:gridCol w="3129280"/>
              </a:tblGrid>
              <a:tr h="343535">
                <a:tc>
                  <a:txBody>
                    <a:bodyPr/>
                    <a:p>
                      <a:pPr algn="ctr">
                        <a:buNone/>
                      </a:pPr>
                      <a:r>
                        <a:rPr lang="zh-CN" altLang="en-US" sz="1200" b="0">
                          <a:solidFill>
                            <a:schemeClr val="accent1"/>
                          </a:solidFill>
                        </a:rPr>
                        <a:t>交流电加热</a:t>
                      </a:r>
                      <a:endParaRPr lang="zh-CN" altLang="en-US" sz="1200" b="0">
                        <a:solidFill>
                          <a:schemeClr val="accent1"/>
                        </a:solidFill>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b="0">
                          <a:solidFill>
                            <a:schemeClr val="accent1"/>
                          </a:solidFill>
                        </a:rPr>
                        <a:t>加热效率偏弱，</a:t>
                      </a:r>
                      <a:r>
                        <a:rPr lang="zh-CN" altLang="en-US" sz="1200" b="0">
                          <a:solidFill>
                            <a:schemeClr val="accent1"/>
                          </a:solidFill>
                          <a:sym typeface="+mn-ea"/>
                        </a:rPr>
                        <a:t>电池老化问题</a:t>
                      </a:r>
                      <a:endParaRPr lang="zh-CN" altLang="en-US" sz="1200" b="0">
                        <a:solidFill>
                          <a:schemeClr val="accent1"/>
                        </a:solidFill>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611505">
                <a:tc>
                  <a:txBody>
                    <a:bodyPr/>
                    <a:p>
                      <a:pPr algn="ctr">
                        <a:buNone/>
                      </a:pPr>
                      <a:r>
                        <a:rPr lang="zh-CN" altLang="en-US" sz="1200" b="1" dirty="0" err="1" smtClean="0">
                          <a:solidFill>
                            <a:srgbClr val="C00000"/>
                          </a:solidFill>
                          <a:latin typeface="+mj-lt"/>
                          <a:sym typeface="+mn-ea"/>
                        </a:rPr>
                        <a:t>脉冲电流加热</a:t>
                      </a:r>
                      <a:endParaRPr lang="zh-CN" altLang="en-US" sz="1200" b="1" dirty="0" err="1" smtClean="0">
                        <a:solidFill>
                          <a:srgbClr val="C00000"/>
                        </a:solidFill>
                        <a:latin typeface="+mj-lt"/>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b="0">
                          <a:solidFill>
                            <a:schemeClr val="accent1"/>
                          </a:solidFill>
                        </a:rPr>
                        <a:t>加热效率高，温度分布均匀，能耗较低，</a:t>
                      </a:r>
                      <a:endParaRPr lang="zh-CN" altLang="en-US" sz="1200" b="0">
                        <a:solidFill>
                          <a:schemeClr val="accent1"/>
                        </a:solidFill>
                      </a:endParaRPr>
                    </a:p>
                    <a:p>
                      <a:pPr>
                        <a:buNone/>
                      </a:pPr>
                      <a:r>
                        <a:rPr lang="zh-CN" altLang="en-US" sz="1200" b="0">
                          <a:solidFill>
                            <a:schemeClr val="accent1"/>
                          </a:solidFill>
                        </a:rPr>
                        <a:t>但是加热（脉冲）策略复杂，未大规模</a:t>
                      </a:r>
                      <a:r>
                        <a:rPr lang="zh-CN" altLang="en-US" sz="1200" b="0">
                          <a:solidFill>
                            <a:schemeClr val="accent1"/>
                          </a:solidFill>
                        </a:rPr>
                        <a:t>应用</a:t>
                      </a:r>
                      <a:endParaRPr lang="zh-CN" altLang="en-US" sz="1200" b="0">
                        <a:solidFill>
                          <a:schemeClr val="accent1"/>
                        </a:solidFill>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4170">
                <a:tc>
                  <a:txBody>
                    <a:bodyPr/>
                    <a:p>
                      <a:pPr algn="ctr">
                        <a:buNone/>
                      </a:pPr>
                      <a:r>
                        <a:rPr lang="zh-CN" altLang="en-US" sz="1200" b="0" dirty="0" err="1" smtClean="0">
                          <a:solidFill>
                            <a:schemeClr val="accent1"/>
                          </a:solidFill>
                          <a:latin typeface="+mj-lt"/>
                          <a:sym typeface="+mn-ea"/>
                        </a:rPr>
                        <a:t>全气候电池</a:t>
                      </a:r>
                      <a:endParaRPr lang="zh-CN" altLang="en-US" sz="1200" b="0" dirty="0" err="1" smtClean="0">
                        <a:solidFill>
                          <a:schemeClr val="accent1"/>
                        </a:solidFill>
                        <a:latin typeface="+mj-lt"/>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b="0">
                          <a:solidFill>
                            <a:schemeClr val="accent1"/>
                          </a:solidFill>
                          <a:sym typeface="+mn-ea"/>
                        </a:rPr>
                        <a:t>改变</a:t>
                      </a:r>
                      <a:r>
                        <a:rPr lang="zh-CN" altLang="en-US" sz="1200" b="0">
                          <a:solidFill>
                            <a:schemeClr val="accent1"/>
                          </a:solidFill>
                        </a:rPr>
                        <a:t>电池内部结构，设计复杂</a:t>
                      </a:r>
                      <a:endParaRPr lang="zh-CN" altLang="en-US" sz="1200" b="0">
                        <a:solidFill>
                          <a:schemeClr val="accent1"/>
                        </a:solidFill>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43535">
                <a:tc>
                  <a:txBody>
                    <a:bodyPr/>
                    <a:p>
                      <a:pPr algn="ctr">
                        <a:buNone/>
                      </a:pPr>
                      <a:r>
                        <a:rPr lang="zh-CN" altLang="en-US" sz="1200" b="0" dirty="0" err="1" smtClean="0">
                          <a:solidFill>
                            <a:schemeClr val="accent1"/>
                          </a:solidFill>
                          <a:latin typeface="+mj-lt"/>
                          <a:sym typeface="+mn-ea"/>
                        </a:rPr>
                        <a:t>电触发自加热</a:t>
                      </a:r>
                      <a:endParaRPr lang="zh-CN" altLang="en-US" sz="1200" b="0" dirty="0" err="1" smtClean="0">
                        <a:solidFill>
                          <a:schemeClr val="accent1"/>
                        </a:solidFill>
                        <a:latin typeface="+mj-lt"/>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buNone/>
                      </a:pPr>
                      <a:r>
                        <a:rPr lang="zh-CN" altLang="en-US" sz="1200" b="0">
                          <a:solidFill>
                            <a:schemeClr val="accent1"/>
                          </a:solidFill>
                        </a:rPr>
                        <a:t>需要额外控制设备，</a:t>
                      </a:r>
                      <a:r>
                        <a:rPr lang="zh-CN" altLang="en-US" sz="1200" b="0">
                          <a:solidFill>
                            <a:schemeClr val="accent1"/>
                          </a:solidFill>
                          <a:sym typeface="+mn-ea"/>
                        </a:rPr>
                        <a:t>设计复杂</a:t>
                      </a:r>
                      <a:endParaRPr lang="zh-CN" altLang="en-US" sz="1200" b="0">
                        <a:solidFill>
                          <a:schemeClr val="accent1"/>
                        </a:solidFill>
                        <a:sym typeface="+mn-ea"/>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26" name="文本框 25"/>
          <p:cNvSpPr txBox="1"/>
          <p:nvPr/>
        </p:nvSpPr>
        <p:spPr>
          <a:xfrm>
            <a:off x="5600700" y="5053965"/>
            <a:ext cx="6096000" cy="1378585"/>
          </a:xfrm>
          <a:prstGeom prst="rect">
            <a:avLst/>
          </a:prstGeom>
          <a:noFill/>
        </p:spPr>
        <p:txBody>
          <a:bodyPr wrap="square" lIns="36000" tIns="36000" rIns="36000" bIns="36000" rtlCol="0" anchor="t">
            <a:spAutoFit/>
          </a:bodyPr>
          <a:p>
            <a:pPr algn="l">
              <a:spcBef>
                <a:spcPts val="600"/>
              </a:spcBef>
            </a:pPr>
            <a:r>
              <a:rPr lang="en-US" altLang="zh-CN" sz="1400" b="1" dirty="0" err="1" smtClean="0">
                <a:solidFill>
                  <a:srgbClr val="003B90"/>
                </a:solidFill>
                <a:latin typeface="+mj-lt"/>
                <a:sym typeface="+mn-ea"/>
              </a:rPr>
              <a:t>6.</a:t>
            </a:r>
            <a:r>
              <a:rPr lang="zh-CN" altLang="en-US" sz="1400" b="1" dirty="0" err="1" smtClean="0">
                <a:solidFill>
                  <a:srgbClr val="003B90"/>
                </a:solidFill>
                <a:latin typeface="+mj-lt"/>
                <a:sym typeface="+mn-ea"/>
              </a:rPr>
              <a:t>脉冲电流加热原理：</a:t>
            </a:r>
            <a:endParaRPr lang="zh-CN" altLang="en-US" sz="1400" b="1" dirty="0" err="1" smtClean="0">
              <a:solidFill>
                <a:srgbClr val="003B90"/>
              </a:solidFill>
              <a:latin typeface="+mj-lt"/>
              <a:sym typeface="+mn-ea"/>
            </a:endParaRPr>
          </a:p>
          <a:p>
            <a:pPr algn="l">
              <a:spcBef>
                <a:spcPts val="600"/>
              </a:spcBef>
            </a:pPr>
            <a:r>
              <a:rPr lang="zh-CN" altLang="en-US" sz="1400" dirty="0" err="1" smtClean="0">
                <a:solidFill>
                  <a:srgbClr val="003B90"/>
                </a:solidFill>
                <a:latin typeface="+mj-lt"/>
                <a:sym typeface="+mn-ea"/>
              </a:rPr>
              <a:t>利用脉冲电流经电池内部阻抗产生的热量对动力电池进行加热。</a:t>
            </a:r>
            <a:endParaRPr lang="zh-CN" altLang="en-US" sz="1400" dirty="0" err="1" smtClean="0">
              <a:solidFill>
                <a:srgbClr val="003B90"/>
              </a:solidFill>
              <a:latin typeface="+mj-lt"/>
            </a:endParaRPr>
          </a:p>
          <a:p>
            <a:pPr algn="l">
              <a:spcBef>
                <a:spcPts val="600"/>
              </a:spcBef>
            </a:pPr>
            <a:r>
              <a:rPr lang="zh-CN" altLang="en-US" sz="1400" b="1" dirty="0" err="1" smtClean="0">
                <a:solidFill>
                  <a:srgbClr val="003B90"/>
                </a:solidFill>
                <a:latin typeface="+mj-lt"/>
                <a:sym typeface="+mn-ea"/>
              </a:rPr>
              <a:t>（</a:t>
            </a:r>
            <a:r>
              <a:rPr lang="en-US" altLang="zh-CN" sz="1400" b="1" dirty="0" err="1" smtClean="0">
                <a:solidFill>
                  <a:srgbClr val="003B90"/>
                </a:solidFill>
                <a:latin typeface="+mj-lt"/>
                <a:sym typeface="+mn-ea"/>
              </a:rPr>
              <a:t>1</a:t>
            </a:r>
            <a:r>
              <a:rPr lang="zh-CN" altLang="en-US" sz="1400" b="1" dirty="0" err="1" smtClean="0">
                <a:solidFill>
                  <a:srgbClr val="003B90"/>
                </a:solidFill>
                <a:latin typeface="+mj-lt"/>
                <a:sym typeface="+mn-ea"/>
              </a:rPr>
              <a:t>）热量来源：</a:t>
            </a:r>
            <a:r>
              <a:rPr lang="zh-CN" altLang="en-US" sz="1400" dirty="0" err="1" smtClean="0">
                <a:solidFill>
                  <a:srgbClr val="003B90"/>
                </a:solidFill>
                <a:latin typeface="+mj-lt"/>
                <a:sym typeface="+mn-ea"/>
              </a:rPr>
              <a:t>电池的反应热、欧姆热、极化热。</a:t>
            </a:r>
            <a:endParaRPr lang="zh-CN" altLang="en-US" sz="1400" dirty="0" err="1" smtClean="0">
              <a:solidFill>
                <a:srgbClr val="003B90"/>
              </a:solidFill>
              <a:latin typeface="+mj-lt"/>
              <a:sym typeface="+mn-ea"/>
            </a:endParaRPr>
          </a:p>
          <a:p>
            <a:pPr algn="l">
              <a:spcBef>
                <a:spcPts val="600"/>
              </a:spcBef>
            </a:pPr>
            <a:r>
              <a:rPr lang="zh-CN" altLang="en-US" sz="1400" b="1" dirty="0" err="1" smtClean="0">
                <a:solidFill>
                  <a:srgbClr val="003B90"/>
                </a:solidFill>
                <a:latin typeface="+mj-lt"/>
                <a:sym typeface="+mn-ea"/>
              </a:rPr>
              <a:t>（</a:t>
            </a:r>
            <a:r>
              <a:rPr lang="en-US" altLang="zh-CN" sz="1400" b="1" dirty="0" err="1" smtClean="0">
                <a:solidFill>
                  <a:srgbClr val="003B90"/>
                </a:solidFill>
                <a:latin typeface="+mj-lt"/>
                <a:sym typeface="+mn-ea"/>
              </a:rPr>
              <a:t>2</a:t>
            </a:r>
            <a:r>
              <a:rPr lang="zh-CN" altLang="en-US" sz="1400" b="1" dirty="0" err="1" smtClean="0">
                <a:solidFill>
                  <a:srgbClr val="003B90"/>
                </a:solidFill>
                <a:latin typeface="+mj-lt"/>
                <a:sym typeface="+mn-ea"/>
              </a:rPr>
              <a:t>）脉冲电流形式：</a:t>
            </a:r>
            <a:r>
              <a:rPr lang="zh-CN" altLang="en-US" sz="1400" dirty="0" err="1" smtClean="0">
                <a:solidFill>
                  <a:srgbClr val="003B90"/>
                </a:solidFill>
                <a:latin typeface="+mj-lt"/>
                <a:sym typeface="+mn-ea"/>
              </a:rPr>
              <a:t>由充电或放电电流</a:t>
            </a:r>
            <a:r>
              <a:rPr lang="en-US" altLang="zh-CN" sz="1400" dirty="0" err="1" smtClean="0">
                <a:solidFill>
                  <a:srgbClr val="003B90"/>
                </a:solidFill>
                <a:latin typeface="+mj-lt"/>
                <a:sym typeface="+mn-ea"/>
              </a:rPr>
              <a:t>+</a:t>
            </a:r>
            <a:r>
              <a:rPr lang="zh-CN" altLang="en-US" sz="1400" dirty="0" err="1" smtClean="0">
                <a:solidFill>
                  <a:srgbClr val="003B90"/>
                </a:solidFill>
                <a:latin typeface="+mj-lt"/>
                <a:sym typeface="+mn-ea"/>
              </a:rPr>
              <a:t>空隙时间组成，参数包括幅值、频率、占空比。</a:t>
            </a:r>
            <a:endParaRPr lang="zh-CN" altLang="en-US" sz="1400" dirty="0" err="1" smtClean="0">
              <a:solidFill>
                <a:srgbClr val="003B90"/>
              </a:solidFill>
              <a:latin typeface="+mj-lt"/>
              <a:sym typeface="+mn-ea"/>
            </a:endParaRPr>
          </a:p>
        </p:txBody>
      </p:sp>
      <p:pic>
        <p:nvPicPr>
          <p:cNvPr id="27" name="图片 26"/>
          <p:cNvPicPr/>
          <p:nvPr/>
        </p:nvPicPr>
        <p:blipFill>
          <a:blip r:embed="rId2"/>
          <a:stretch>
            <a:fillRect/>
          </a:stretch>
        </p:blipFill>
        <p:spPr>
          <a:xfrm>
            <a:off x="10056495" y="2552700"/>
            <a:ext cx="1915160" cy="1195070"/>
          </a:xfrm>
          <a:prstGeom prst="rect">
            <a:avLst/>
          </a:prstGeom>
        </p:spPr>
      </p:pic>
      <p:sp>
        <p:nvSpPr>
          <p:cNvPr id="28" name="文本框 27"/>
          <p:cNvSpPr txBox="1"/>
          <p:nvPr/>
        </p:nvSpPr>
        <p:spPr>
          <a:xfrm>
            <a:off x="10128250" y="3840480"/>
            <a:ext cx="1803400" cy="275590"/>
          </a:xfrm>
          <a:prstGeom prst="rect">
            <a:avLst/>
          </a:prstGeom>
        </p:spPr>
        <p:txBody>
          <a:bodyPr wrap="square">
            <a:spAutoFit/>
          </a:bodyPr>
          <a:p>
            <a:pPr marL="0" indent="0" algn="l">
              <a:spcBef>
                <a:spcPct val="0"/>
              </a:spcBef>
              <a:spcAft>
                <a:spcPct val="0"/>
              </a:spcAft>
            </a:pP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深蓝</a:t>
            </a:r>
            <a:r>
              <a:rPr lang="en-US" altLang="zh-CN"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微核高频脉冲加热</a:t>
            </a:r>
            <a:endPar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9" name="图片 28"/>
          <p:cNvPicPr/>
          <p:nvPr/>
        </p:nvPicPr>
        <p:blipFill>
          <a:blip r:embed="rId3"/>
          <a:stretch>
            <a:fillRect/>
          </a:stretch>
        </p:blipFill>
        <p:spPr>
          <a:xfrm>
            <a:off x="8040370" y="1766570"/>
            <a:ext cx="1786890" cy="1281430"/>
          </a:xfrm>
          <a:prstGeom prst="rect">
            <a:avLst/>
          </a:prstGeom>
        </p:spPr>
      </p:pic>
      <p:sp>
        <p:nvSpPr>
          <p:cNvPr id="30" name="文本框 29"/>
          <p:cNvSpPr txBox="1"/>
          <p:nvPr/>
        </p:nvSpPr>
        <p:spPr>
          <a:xfrm>
            <a:off x="8112125" y="3094990"/>
            <a:ext cx="1646555" cy="275590"/>
          </a:xfrm>
          <a:prstGeom prst="rect">
            <a:avLst/>
          </a:prstGeom>
        </p:spPr>
        <p:txBody>
          <a:bodyPr wrap="square">
            <a:spAutoFit/>
          </a:bodyPr>
          <a:p>
            <a:pPr marL="0" indent="0" algn="ctr">
              <a:spcBef>
                <a:spcPct val="0"/>
              </a:spcBef>
              <a:spcAft>
                <a:spcPct val="0"/>
              </a:spcAft>
            </a:pP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理想</a:t>
            </a:r>
            <a:r>
              <a:rPr lang="en-US" altLang="zh-CN"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风加热</a:t>
            </a:r>
            <a:endPar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3" name="图片 32"/>
          <p:cNvPicPr/>
          <p:nvPr/>
        </p:nvPicPr>
        <p:blipFill>
          <a:blip r:embed="rId4"/>
          <a:stretch>
            <a:fillRect/>
          </a:stretch>
        </p:blipFill>
        <p:spPr>
          <a:xfrm>
            <a:off x="8037195" y="3416935"/>
            <a:ext cx="1770380" cy="1203960"/>
          </a:xfrm>
          <a:prstGeom prst="rect">
            <a:avLst/>
          </a:prstGeom>
        </p:spPr>
      </p:pic>
      <p:sp>
        <p:nvSpPr>
          <p:cNvPr id="34" name="文本框 33"/>
          <p:cNvSpPr txBox="1"/>
          <p:nvPr/>
        </p:nvSpPr>
        <p:spPr>
          <a:xfrm>
            <a:off x="8112760" y="4641215"/>
            <a:ext cx="1646555" cy="275590"/>
          </a:xfrm>
          <a:prstGeom prst="rect">
            <a:avLst/>
          </a:prstGeom>
        </p:spPr>
        <p:txBody>
          <a:bodyPr wrap="square">
            <a:spAutoFit/>
          </a:bodyPr>
          <a:p>
            <a:pPr marL="0" indent="0" algn="ctr">
              <a:spcBef>
                <a:spcPct val="0"/>
              </a:spcBef>
              <a:spcAft>
                <a:spcPct val="0"/>
              </a:spcAft>
            </a:pP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奔驰</a:t>
            </a:r>
            <a:r>
              <a:rPr lang="en-US" altLang="zh-CN"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rPr>
              <a:t>水加热</a:t>
            </a:r>
            <a:endParaRPr lang="zh-CN" altLang="en-US" sz="1200" i="0">
              <a:solidFill>
                <a:srgbClr val="152A8C"/>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 name="直接连接符 1"/>
          <p:cNvCxnSpPr/>
          <p:nvPr/>
        </p:nvCxnSpPr>
        <p:spPr>
          <a:xfrm>
            <a:off x="5303520" y="1922780"/>
            <a:ext cx="6350" cy="4756150"/>
          </a:xfrm>
          <a:prstGeom prst="line">
            <a:avLst/>
          </a:prstGeom>
          <a:ln w="9525" cmpd="sng">
            <a:solidFill>
              <a:schemeClr val="accent1">
                <a:shade val="50000"/>
              </a:schemeClr>
            </a:solidFill>
            <a:prstDash val="lgDash"/>
          </a:ln>
        </p:spPr>
        <p:style>
          <a:lnRef idx="2">
            <a:schemeClr val="accent1"/>
          </a:lnRef>
          <a:fillRef idx="0">
            <a:srgbClr val="FFFFFF"/>
          </a:fillRef>
          <a:effectRef idx="0">
            <a:srgbClr val="FFFFFF"/>
          </a:effectRef>
          <a:fontRef idx="minor">
            <a:schemeClr val="tx1"/>
          </a:fontRef>
        </p:style>
      </p:cxnSp>
      <p:sp>
        <p:nvSpPr>
          <p:cNvPr id="9" name="圆角矩形 8"/>
          <p:cNvSpPr/>
          <p:nvPr/>
        </p:nvSpPr>
        <p:spPr>
          <a:xfrm>
            <a:off x="772795" y="2636520"/>
            <a:ext cx="1575435" cy="184658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400"/>
          </a:p>
        </p:txBody>
      </p:sp>
      <p:sp>
        <p:nvSpPr>
          <p:cNvPr id="7" name="圆角矩形 6"/>
          <p:cNvSpPr/>
          <p:nvPr/>
        </p:nvSpPr>
        <p:spPr>
          <a:xfrm>
            <a:off x="772795" y="2636520"/>
            <a:ext cx="1575435" cy="4235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外部加热</a:t>
            </a:r>
            <a:r>
              <a:rPr lang="zh-CN" altLang="en-US" sz="1400"/>
              <a:t>法</a:t>
            </a:r>
            <a:endParaRPr lang="zh-CN" altLang="en-US" sz="1400"/>
          </a:p>
        </p:txBody>
      </p:sp>
      <p:sp>
        <p:nvSpPr>
          <p:cNvPr id="8" name="圆角矩形 7"/>
          <p:cNvSpPr/>
          <p:nvPr/>
        </p:nvSpPr>
        <p:spPr>
          <a:xfrm>
            <a:off x="3005455" y="2636520"/>
            <a:ext cx="1575435" cy="4235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内部加热</a:t>
            </a:r>
            <a:r>
              <a:rPr lang="zh-CN" altLang="en-US" sz="1400"/>
              <a:t>法</a:t>
            </a:r>
            <a:endParaRPr lang="zh-CN" altLang="en-US" sz="1400"/>
          </a:p>
        </p:txBody>
      </p:sp>
      <p:sp>
        <p:nvSpPr>
          <p:cNvPr id="14" name="圆角矩形 13"/>
          <p:cNvSpPr/>
          <p:nvPr/>
        </p:nvSpPr>
        <p:spPr>
          <a:xfrm>
            <a:off x="3005455" y="2636520"/>
            <a:ext cx="1575435" cy="184658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2"/>
          </p:nvPr>
        </p:nvSpPr>
        <p:spPr/>
        <p:txBody>
          <a:bodyPr/>
          <a:p>
            <a:r>
              <a:rPr lang="zh-CN" altLang="en-US">
                <a:sym typeface="+mn-ea"/>
              </a:rPr>
              <a:t>面向商用车低温场景的动力电池脉冲加热技术</a:t>
            </a:r>
            <a:endParaRPr lang="zh-CN" altLang="en-US">
              <a:sym typeface="+mn-ea"/>
            </a:endParaRPr>
          </a:p>
        </p:txBody>
      </p:sp>
      <p:sp>
        <p:nvSpPr>
          <p:cNvPr id="16" name="文本框 15"/>
          <p:cNvSpPr txBox="1"/>
          <p:nvPr/>
        </p:nvSpPr>
        <p:spPr>
          <a:xfrm>
            <a:off x="-960120" y="8789670"/>
            <a:ext cx="5080000" cy="635000"/>
          </a:xfrm>
          <a:prstGeom prst="rect">
            <a:avLst/>
          </a:prstGeom>
        </p:spPr>
        <p:txBody>
          <a:bodyPr/>
          <a:p>
            <a:endParaRPr sz="1600"/>
          </a:p>
        </p:txBody>
      </p:sp>
      <p:sp>
        <p:nvSpPr>
          <p:cNvPr id="12" name="文本框 11"/>
          <p:cNvSpPr txBox="1"/>
          <p:nvPr/>
        </p:nvSpPr>
        <p:spPr>
          <a:xfrm>
            <a:off x="479425" y="908685"/>
            <a:ext cx="11438890" cy="1009015"/>
          </a:xfrm>
          <a:prstGeom prst="rect">
            <a:avLst/>
          </a:prstGeom>
          <a:noFill/>
        </p:spPr>
        <p:txBody>
          <a:bodyPr wrap="square" lIns="36000" tIns="36000" rIns="36000" bIns="36000" rtlCol="0">
            <a:noAutofit/>
          </a:bodyPr>
          <a:p>
            <a:pPr algn="l">
              <a:spcBef>
                <a:spcPts val="600"/>
              </a:spcBef>
            </a:pPr>
            <a:r>
              <a:rPr lang="en-US" altLang="zh-CN" sz="1400" b="1" dirty="0" err="1" smtClean="0">
                <a:solidFill>
                  <a:srgbClr val="003B90"/>
                </a:solidFill>
                <a:latin typeface="+mj-lt"/>
                <a:sym typeface="+mn-ea"/>
              </a:rPr>
              <a:t>1.</a:t>
            </a:r>
            <a:r>
              <a:rPr lang="zh-CN" altLang="en-US" sz="1400" b="1" dirty="0" err="1" smtClean="0">
                <a:solidFill>
                  <a:srgbClr val="003B90"/>
                </a:solidFill>
                <a:latin typeface="+mj-lt"/>
                <a:sym typeface="+mn-ea"/>
              </a:rPr>
              <a:t>技术目标：</a:t>
            </a:r>
            <a:r>
              <a:rPr lang="zh-CN" altLang="en-US" sz="1400" dirty="0" err="1" smtClean="0">
                <a:solidFill>
                  <a:srgbClr val="003B90"/>
                </a:solidFill>
                <a:latin typeface="+mj-lt"/>
                <a:sym typeface="+mn-ea"/>
              </a:rPr>
              <a:t>完成脉冲加热自主控制策略及算法的开发，电池组脉冲加热拓扑结构的设计，完成面向整车应用的技术迁移，</a:t>
            </a:r>
            <a:r>
              <a:rPr lang="zh-CN" altLang="en-US" sz="1400" dirty="0" err="1" smtClean="0">
                <a:solidFill>
                  <a:srgbClr val="003B90"/>
                </a:solidFill>
                <a:latin typeface="+mj-lt"/>
                <a:sym typeface="+mn-ea"/>
              </a:rPr>
              <a:t>温升速率</a:t>
            </a:r>
            <a:r>
              <a:rPr lang="en-US" altLang="zh-CN" sz="1400" dirty="0" err="1" smtClean="0">
                <a:solidFill>
                  <a:srgbClr val="003B90"/>
                </a:solidFill>
                <a:latin typeface="+mj-lt"/>
                <a:sym typeface="+mn-ea"/>
              </a:rPr>
              <a:t>&gt;0.6℃/min</a:t>
            </a:r>
            <a:r>
              <a:rPr lang="zh-CN" altLang="en-US" sz="1400" dirty="0" err="1" smtClean="0">
                <a:solidFill>
                  <a:srgbClr val="003B90"/>
                </a:solidFill>
                <a:latin typeface="+mj-lt"/>
                <a:sym typeface="+mn-ea"/>
              </a:rPr>
              <a:t>。</a:t>
            </a:r>
            <a:endParaRPr lang="zh-CN" altLang="en-US" sz="1400" dirty="0" err="1" smtClean="0">
              <a:solidFill>
                <a:srgbClr val="003B90"/>
              </a:solidFill>
              <a:latin typeface="+mj-lt"/>
            </a:endParaRPr>
          </a:p>
          <a:p>
            <a:pPr algn="l">
              <a:spcBef>
                <a:spcPts val="600"/>
              </a:spcBef>
            </a:pPr>
            <a:r>
              <a:rPr lang="en-US" altLang="zh-CN" sz="1400" b="1" dirty="0" err="1" smtClean="0">
                <a:solidFill>
                  <a:srgbClr val="152A8C"/>
                </a:solidFill>
                <a:latin typeface="+mj-lt"/>
              </a:rPr>
              <a:t>2.</a:t>
            </a:r>
            <a:r>
              <a:rPr lang="zh-CN" altLang="en-US" sz="1400" b="1" dirty="0" err="1" smtClean="0">
                <a:solidFill>
                  <a:srgbClr val="152A8C"/>
                </a:solidFill>
                <a:latin typeface="+mj-lt"/>
              </a:rPr>
              <a:t>研究思路：</a:t>
            </a:r>
            <a:r>
              <a:rPr lang="zh-CN" altLang="en-US" sz="1400" dirty="0" err="1" smtClean="0">
                <a:solidFill>
                  <a:srgbClr val="152A8C"/>
                </a:solidFill>
                <a:latin typeface="+mj-lt"/>
              </a:rPr>
              <a:t>建立不同尺度的电池仿真</a:t>
            </a:r>
            <a:r>
              <a:rPr lang="zh-CN" altLang="en-US" sz="1400" b="1" dirty="0" err="1" smtClean="0">
                <a:solidFill>
                  <a:srgbClr val="C00000"/>
                </a:solidFill>
                <a:latin typeface="+mj-lt"/>
              </a:rPr>
              <a:t>模型</a:t>
            </a:r>
            <a:r>
              <a:rPr lang="zh-CN" altLang="en-US" sz="1400" dirty="0" err="1" smtClean="0">
                <a:solidFill>
                  <a:srgbClr val="152A8C"/>
                </a:solidFill>
                <a:latin typeface="+mj-lt"/>
              </a:rPr>
              <a:t>，结合</a:t>
            </a:r>
            <a:r>
              <a:rPr lang="zh-CN" altLang="en-US" sz="1400" b="1" dirty="0" err="1" smtClean="0">
                <a:solidFill>
                  <a:srgbClr val="C00000"/>
                </a:solidFill>
                <a:latin typeface="+mj-lt"/>
              </a:rPr>
              <a:t>实验</a:t>
            </a:r>
            <a:r>
              <a:rPr lang="zh-CN" altLang="en-US" sz="1400" dirty="0" err="1" smtClean="0">
                <a:solidFill>
                  <a:srgbClr val="152A8C"/>
                </a:solidFill>
                <a:latin typeface="+mj-lt"/>
              </a:rPr>
              <a:t>完成验证。基于模型的</a:t>
            </a:r>
            <a:r>
              <a:rPr lang="zh-CN" altLang="en-US" sz="1400">
                <a:solidFill>
                  <a:srgbClr val="152A8C"/>
                </a:solidFill>
                <a:sym typeface="+mn-ea"/>
              </a:rPr>
              <a:t>脉冲加热性能进行迭代优化，</a:t>
            </a:r>
            <a:r>
              <a:rPr lang="zh-CN" altLang="en-US" sz="1400" b="1">
                <a:solidFill>
                  <a:srgbClr val="C00000"/>
                </a:solidFill>
                <a:sym typeface="+mn-ea"/>
              </a:rPr>
              <a:t>设计</a:t>
            </a:r>
            <a:r>
              <a:rPr lang="zh-CN" altLang="en-US" sz="1400">
                <a:solidFill>
                  <a:srgbClr val="152A8C"/>
                </a:solidFill>
                <a:sym typeface="+mn-ea"/>
              </a:rPr>
              <a:t>合理</a:t>
            </a:r>
            <a:r>
              <a:rPr lang="zh-CN" altLang="en-US" sz="1400">
                <a:solidFill>
                  <a:srgbClr val="152A8C"/>
                </a:solidFill>
                <a:sym typeface="+mn-ea"/>
              </a:rPr>
              <a:t>策略。</a:t>
            </a:r>
            <a:endParaRPr lang="zh-CN" altLang="en-US" sz="1400" dirty="0" err="1" smtClean="0">
              <a:solidFill>
                <a:srgbClr val="152A8C"/>
              </a:solidFill>
              <a:latin typeface="+mj-lt"/>
            </a:endParaRPr>
          </a:p>
          <a:p>
            <a:pPr algn="l">
              <a:spcBef>
                <a:spcPts val="600"/>
              </a:spcBef>
            </a:pPr>
            <a:r>
              <a:rPr lang="en-US" altLang="zh-CN" sz="1400" b="1" dirty="0" err="1" smtClean="0">
                <a:solidFill>
                  <a:srgbClr val="003B90"/>
                </a:solidFill>
                <a:latin typeface="+mj-lt"/>
              </a:rPr>
              <a:t>3.</a:t>
            </a:r>
            <a:r>
              <a:rPr lang="zh-CN" altLang="en-US" sz="1400" b="1" dirty="0" err="1" smtClean="0">
                <a:solidFill>
                  <a:srgbClr val="003B90"/>
                </a:solidFill>
                <a:latin typeface="+mj-lt"/>
              </a:rPr>
              <a:t>研究流程（设想）：</a:t>
            </a:r>
            <a:endParaRPr lang="zh-CN" altLang="en-US" sz="1400" dirty="0" err="1" smtClean="0">
              <a:solidFill>
                <a:srgbClr val="003B90"/>
              </a:solidFill>
              <a:latin typeface="+mj-lt"/>
            </a:endParaRPr>
          </a:p>
        </p:txBody>
      </p:sp>
      <p:sp>
        <p:nvSpPr>
          <p:cNvPr id="19" name="矩形 18"/>
          <p:cNvSpPr/>
          <p:nvPr/>
        </p:nvSpPr>
        <p:spPr>
          <a:xfrm>
            <a:off x="494665" y="4117975"/>
            <a:ext cx="1296000" cy="666000"/>
          </a:xfrm>
          <a:prstGeom prst="rect">
            <a:avLst/>
          </a:prstGeom>
          <a:solidFill>
            <a:srgbClr val="00B050"/>
          </a:solidFill>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1.</a:t>
            </a:r>
            <a:r>
              <a:rPr lang="zh-CN" altLang="en-US" sz="1400"/>
              <a:t>电芯</a:t>
            </a:r>
            <a:r>
              <a:rPr lang="zh-CN" altLang="en-US" sz="1400"/>
              <a:t>高精度</a:t>
            </a:r>
            <a:endParaRPr lang="zh-CN" altLang="en-US" sz="1400"/>
          </a:p>
          <a:p>
            <a:pPr algn="ctr"/>
            <a:r>
              <a:rPr lang="zh-CN" altLang="en-US" sz="1400"/>
              <a:t>电</a:t>
            </a:r>
            <a:r>
              <a:rPr lang="en-US" altLang="zh-CN" sz="1400"/>
              <a:t>-</a:t>
            </a:r>
            <a:r>
              <a:rPr lang="zh-CN" altLang="en-US" sz="1400"/>
              <a:t>热模型</a:t>
            </a:r>
            <a:endParaRPr lang="zh-CN" altLang="en-US" sz="1400"/>
          </a:p>
        </p:txBody>
      </p:sp>
      <p:sp>
        <p:nvSpPr>
          <p:cNvPr id="20" name="矩形 19"/>
          <p:cNvSpPr/>
          <p:nvPr/>
        </p:nvSpPr>
        <p:spPr>
          <a:xfrm>
            <a:off x="492125" y="2831465"/>
            <a:ext cx="1296000" cy="666000"/>
          </a:xfrm>
          <a:prstGeom prst="rect">
            <a:avLst/>
          </a:prstGeom>
          <a:solidFill>
            <a:schemeClr val="accent2">
              <a:lumMod val="60000"/>
              <a:lumOff val="40000"/>
            </a:schemeClr>
          </a:solidFill>
          <a:ln>
            <a:solidFill>
              <a:schemeClr val="accent2">
                <a:lumMod val="60000"/>
                <a:lumOff val="40000"/>
              </a:schemeClr>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1.</a:t>
            </a:r>
            <a:r>
              <a:rPr lang="zh-CN" altLang="en-US" sz="1400"/>
              <a:t>低温</a:t>
            </a:r>
            <a:r>
              <a:rPr lang="zh-CN" altLang="en-US" sz="1400"/>
              <a:t>充放电</a:t>
            </a:r>
            <a:endParaRPr lang="zh-CN" altLang="en-US" sz="1400"/>
          </a:p>
          <a:p>
            <a:pPr algn="ctr"/>
            <a:r>
              <a:rPr lang="zh-CN" altLang="en-US" sz="1400"/>
              <a:t>实验</a:t>
            </a:r>
            <a:endParaRPr lang="zh-CN" altLang="en-US" sz="1400"/>
          </a:p>
        </p:txBody>
      </p:sp>
      <p:sp>
        <p:nvSpPr>
          <p:cNvPr id="21" name="矩形 20"/>
          <p:cNvSpPr/>
          <p:nvPr/>
        </p:nvSpPr>
        <p:spPr>
          <a:xfrm>
            <a:off x="163195" y="2275840"/>
            <a:ext cx="3810000" cy="4024630"/>
          </a:xfrm>
          <a:prstGeom prst="rect">
            <a:avLst/>
          </a:prstGeom>
          <a:ln w="12700">
            <a:prstDash val="lg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523240" y="2291715"/>
            <a:ext cx="3242945" cy="393065"/>
          </a:xfrm>
          <a:prstGeom prst="rect">
            <a:avLst/>
          </a:prstGeom>
          <a:noFill/>
        </p:spPr>
        <p:txBody>
          <a:bodyPr wrap="square" lIns="36000" tIns="36000" rIns="36000" bIns="36000" rtlCol="0" anchor="ctr" anchorCtr="0">
            <a:noAutofit/>
          </a:bodyPr>
          <a:p>
            <a:pPr algn="ctr">
              <a:spcBef>
                <a:spcPts val="600"/>
              </a:spcBef>
            </a:pPr>
            <a:r>
              <a:rPr lang="zh-CN" altLang="en-US" sz="1400" b="1" dirty="0" err="1" smtClean="0">
                <a:solidFill>
                  <a:srgbClr val="003B90"/>
                </a:solidFill>
                <a:latin typeface="+mj-lt"/>
              </a:rPr>
              <a:t>单体</a:t>
            </a:r>
            <a:r>
              <a:rPr lang="en-US" altLang="zh-CN" sz="1400" b="1" dirty="0" err="1" smtClean="0">
                <a:solidFill>
                  <a:srgbClr val="003B90"/>
                </a:solidFill>
                <a:latin typeface="+mj-lt"/>
              </a:rPr>
              <a:t>/</a:t>
            </a:r>
            <a:r>
              <a:rPr lang="zh-CN" altLang="en-US" sz="1400" b="1" dirty="0" err="1" smtClean="0">
                <a:solidFill>
                  <a:srgbClr val="003B90"/>
                </a:solidFill>
                <a:latin typeface="+mj-lt"/>
                <a:sym typeface="+mn-ea"/>
              </a:rPr>
              <a:t>模组</a:t>
            </a:r>
            <a:r>
              <a:rPr lang="zh-CN" altLang="en-US" sz="1400" b="1" dirty="0" err="1" smtClean="0">
                <a:solidFill>
                  <a:srgbClr val="003B90"/>
                </a:solidFill>
                <a:latin typeface="+mj-lt"/>
              </a:rPr>
              <a:t>级</a:t>
            </a:r>
            <a:endParaRPr lang="zh-CN" altLang="en-US" sz="1400" b="1" dirty="0" err="1" smtClean="0">
              <a:solidFill>
                <a:srgbClr val="003B90"/>
              </a:solidFill>
              <a:latin typeface="+mj-lt"/>
            </a:endParaRPr>
          </a:p>
        </p:txBody>
      </p:sp>
      <p:cxnSp>
        <p:nvCxnSpPr>
          <p:cNvPr id="23" name="直接箭头连接符 22"/>
          <p:cNvCxnSpPr/>
          <p:nvPr/>
        </p:nvCxnSpPr>
        <p:spPr>
          <a:xfrm flipH="1">
            <a:off x="1171575" y="3572510"/>
            <a:ext cx="0" cy="470535"/>
          </a:xfrm>
          <a:prstGeom prst="straightConnector1">
            <a:avLst/>
          </a:prstGeom>
          <a:ln w="19050">
            <a:headEnd type="triangle"/>
            <a:tailEnd type="triangle"/>
          </a:ln>
        </p:spPr>
        <p:style>
          <a:lnRef idx="2">
            <a:schemeClr val="accent1"/>
          </a:lnRef>
          <a:fillRef idx="0">
            <a:srgbClr val="FFFFFF"/>
          </a:fillRef>
          <a:effectRef idx="0">
            <a:srgbClr val="FFFFFF"/>
          </a:effectRef>
          <a:fontRef idx="minor">
            <a:schemeClr val="tx1"/>
          </a:fontRef>
        </p:style>
      </p:cxnSp>
      <p:sp>
        <p:nvSpPr>
          <p:cNvPr id="26" name="矩形 25"/>
          <p:cNvSpPr/>
          <p:nvPr/>
        </p:nvSpPr>
        <p:spPr>
          <a:xfrm>
            <a:off x="2374900" y="2852420"/>
            <a:ext cx="1296000" cy="666750"/>
          </a:xfrm>
          <a:prstGeom prst="rect">
            <a:avLst/>
          </a:prstGeom>
          <a:solidFill>
            <a:schemeClr val="accent2">
              <a:lumMod val="60000"/>
              <a:lumOff val="40000"/>
            </a:schemeClr>
          </a:solidFill>
          <a:ln>
            <a:solidFill>
              <a:schemeClr val="accent2">
                <a:lumMod val="60000"/>
                <a:lumOff val="40000"/>
              </a:schemeClr>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3.</a:t>
            </a:r>
            <a:r>
              <a:rPr lang="zh-CN" altLang="en-US" sz="1400"/>
              <a:t>脉冲加热</a:t>
            </a:r>
            <a:endParaRPr lang="zh-CN" altLang="en-US" sz="1400"/>
          </a:p>
          <a:p>
            <a:pPr algn="ctr"/>
            <a:r>
              <a:rPr lang="zh-CN" altLang="en-US" sz="1400"/>
              <a:t>实验</a:t>
            </a:r>
            <a:endParaRPr lang="zh-CN" altLang="en-US" sz="1400"/>
          </a:p>
        </p:txBody>
      </p:sp>
      <p:sp>
        <p:nvSpPr>
          <p:cNvPr id="29" name="文本框 28"/>
          <p:cNvSpPr txBox="1"/>
          <p:nvPr/>
        </p:nvSpPr>
        <p:spPr>
          <a:xfrm>
            <a:off x="1099185" y="3644265"/>
            <a:ext cx="1050925" cy="24701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标定与</a:t>
            </a:r>
            <a:r>
              <a:rPr lang="zh-CN" altLang="en-US" sz="1200" dirty="0" err="1" smtClean="0">
                <a:solidFill>
                  <a:schemeClr val="tx1"/>
                </a:solidFill>
                <a:latin typeface="+mj-lt"/>
              </a:rPr>
              <a:t>验证</a:t>
            </a:r>
            <a:endParaRPr lang="zh-CN" altLang="en-US" sz="1200" dirty="0" err="1" smtClean="0">
              <a:solidFill>
                <a:schemeClr val="tx1"/>
              </a:solidFill>
              <a:latin typeface="+mj-lt"/>
            </a:endParaRPr>
          </a:p>
        </p:txBody>
      </p:sp>
      <p:cxnSp>
        <p:nvCxnSpPr>
          <p:cNvPr id="31" name="直接箭头连接符 30"/>
          <p:cNvCxnSpPr/>
          <p:nvPr/>
        </p:nvCxnSpPr>
        <p:spPr>
          <a:xfrm>
            <a:off x="1835785" y="4436110"/>
            <a:ext cx="504190" cy="0"/>
          </a:xfrm>
          <a:prstGeom prst="straightConnector1">
            <a:avLst/>
          </a:prstGeom>
          <a:ln w="19050">
            <a:tailEnd type="triangle"/>
          </a:ln>
        </p:spPr>
        <p:style>
          <a:lnRef idx="2">
            <a:schemeClr val="accent1"/>
          </a:lnRef>
          <a:fillRef idx="0">
            <a:srgbClr val="FFFFFF"/>
          </a:fillRef>
          <a:effectRef idx="0">
            <a:srgbClr val="FFFFFF"/>
          </a:effectRef>
          <a:fontRef idx="minor">
            <a:schemeClr val="tx1"/>
          </a:fontRef>
        </p:style>
      </p:cxnSp>
      <p:sp>
        <p:nvSpPr>
          <p:cNvPr id="32" name="矩形 31"/>
          <p:cNvSpPr/>
          <p:nvPr/>
        </p:nvSpPr>
        <p:spPr>
          <a:xfrm>
            <a:off x="2385060" y="4117340"/>
            <a:ext cx="1292860" cy="66675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r>
              <a:rPr lang="zh-CN" altLang="en-US" sz="1400"/>
              <a:t>电池</a:t>
            </a:r>
            <a:endParaRPr lang="zh-CN" altLang="en-US" sz="1400"/>
          </a:p>
          <a:p>
            <a:pPr algn="ctr"/>
            <a:r>
              <a:rPr lang="zh-CN" altLang="en-US" sz="1400"/>
              <a:t>脉冲加热</a:t>
            </a:r>
            <a:r>
              <a:rPr lang="zh-CN" altLang="en-US" sz="1400"/>
              <a:t>性能</a:t>
            </a:r>
            <a:endParaRPr lang="zh-CN" altLang="en-US" sz="1400"/>
          </a:p>
        </p:txBody>
      </p:sp>
      <p:sp>
        <p:nvSpPr>
          <p:cNvPr id="33" name="矩形 32"/>
          <p:cNvSpPr/>
          <p:nvPr/>
        </p:nvSpPr>
        <p:spPr>
          <a:xfrm>
            <a:off x="4555490" y="4117340"/>
            <a:ext cx="1296000" cy="666000"/>
          </a:xfrm>
          <a:prstGeom prst="rect">
            <a:avLst/>
          </a:prstGeom>
          <a:solidFill>
            <a:srgbClr val="00B050"/>
          </a:solidFill>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2.</a:t>
            </a:r>
            <a:r>
              <a:rPr lang="zh-CN" altLang="en-US" sz="1400"/>
              <a:t>电池包</a:t>
            </a:r>
            <a:r>
              <a:rPr lang="zh-CN" altLang="en-US" sz="1400"/>
              <a:t>级</a:t>
            </a:r>
            <a:endParaRPr lang="zh-CN" altLang="en-US" sz="1400"/>
          </a:p>
          <a:p>
            <a:pPr algn="ctr"/>
            <a:r>
              <a:rPr lang="zh-CN" altLang="en-US" sz="1400"/>
              <a:t>三维热模型</a:t>
            </a:r>
            <a:endParaRPr lang="zh-CN" altLang="en-US" sz="1400"/>
          </a:p>
        </p:txBody>
      </p:sp>
      <p:sp>
        <p:nvSpPr>
          <p:cNvPr id="34" name="矩形 33"/>
          <p:cNvSpPr/>
          <p:nvPr/>
        </p:nvSpPr>
        <p:spPr>
          <a:xfrm>
            <a:off x="4552950" y="2830830"/>
            <a:ext cx="1296000" cy="666000"/>
          </a:xfrm>
          <a:prstGeom prst="rect">
            <a:avLst/>
          </a:prstGeom>
          <a:solidFill>
            <a:srgbClr val="FFC000"/>
          </a:solidFill>
          <a:ln>
            <a:solidFill>
              <a:srgbClr val="FFC00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sym typeface="+mn-ea"/>
              </a:rPr>
              <a:t>1.</a:t>
            </a:r>
            <a:r>
              <a:rPr lang="zh-CN" altLang="en-US" sz="1400">
                <a:sym typeface="+mn-ea"/>
              </a:rPr>
              <a:t>高效脉冲</a:t>
            </a:r>
            <a:endParaRPr lang="zh-CN" altLang="en-US" sz="1400">
              <a:sym typeface="+mn-ea"/>
            </a:endParaRPr>
          </a:p>
          <a:p>
            <a:pPr algn="ctr"/>
            <a:r>
              <a:rPr lang="zh-CN" altLang="en-US" sz="1400">
                <a:sym typeface="+mn-ea"/>
              </a:rPr>
              <a:t>加热方案</a:t>
            </a:r>
            <a:endParaRPr lang="zh-CN" altLang="en-US" sz="1400"/>
          </a:p>
        </p:txBody>
      </p:sp>
      <p:sp>
        <p:nvSpPr>
          <p:cNvPr id="35" name="矩形 34"/>
          <p:cNvSpPr/>
          <p:nvPr/>
        </p:nvSpPr>
        <p:spPr>
          <a:xfrm>
            <a:off x="4224020" y="2275205"/>
            <a:ext cx="3810000" cy="4017645"/>
          </a:xfrm>
          <a:prstGeom prst="rect">
            <a:avLst/>
          </a:prstGeom>
          <a:ln w="12700">
            <a:prstDash val="lg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6" name="文本框 35"/>
          <p:cNvSpPr txBox="1"/>
          <p:nvPr/>
        </p:nvSpPr>
        <p:spPr>
          <a:xfrm>
            <a:off x="4584065" y="2291080"/>
            <a:ext cx="3242945" cy="393065"/>
          </a:xfrm>
          <a:prstGeom prst="rect">
            <a:avLst/>
          </a:prstGeom>
          <a:noFill/>
        </p:spPr>
        <p:txBody>
          <a:bodyPr wrap="square" lIns="36000" tIns="36000" rIns="36000" bIns="36000" rtlCol="0" anchor="ctr" anchorCtr="0">
            <a:noAutofit/>
          </a:bodyPr>
          <a:p>
            <a:pPr algn="ctr">
              <a:spcBef>
                <a:spcPts val="600"/>
              </a:spcBef>
            </a:pPr>
            <a:r>
              <a:rPr lang="zh-CN" altLang="en-US" sz="1400" b="1" dirty="0" err="1" smtClean="0">
                <a:solidFill>
                  <a:srgbClr val="003B90"/>
                </a:solidFill>
                <a:latin typeface="+mj-lt"/>
              </a:rPr>
              <a:t>电池</a:t>
            </a:r>
            <a:r>
              <a:rPr lang="zh-CN" altLang="en-US" sz="1400" b="1" dirty="0" err="1" smtClean="0">
                <a:solidFill>
                  <a:srgbClr val="003B90"/>
                </a:solidFill>
                <a:latin typeface="+mj-lt"/>
              </a:rPr>
              <a:t>包级</a:t>
            </a:r>
            <a:endParaRPr lang="zh-CN" altLang="en-US" sz="1400" b="1" dirty="0" err="1" smtClean="0">
              <a:solidFill>
                <a:srgbClr val="003B90"/>
              </a:solidFill>
              <a:latin typeface="+mj-lt"/>
            </a:endParaRPr>
          </a:p>
        </p:txBody>
      </p:sp>
      <p:cxnSp>
        <p:nvCxnSpPr>
          <p:cNvPr id="37" name="直接箭头连接符 36"/>
          <p:cNvCxnSpPr/>
          <p:nvPr/>
        </p:nvCxnSpPr>
        <p:spPr>
          <a:xfrm flipH="1">
            <a:off x="5232400" y="3571875"/>
            <a:ext cx="0" cy="470535"/>
          </a:xfrm>
          <a:prstGeom prst="straightConnector1">
            <a:avLst/>
          </a:prstGeom>
          <a:ln w="19050">
            <a:headEnd type="none"/>
            <a:tailEnd type="triangle"/>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4552950" y="5371465"/>
            <a:ext cx="2246630" cy="66675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r>
              <a:rPr lang="zh-CN" altLang="en-US" sz="1400" dirty="0" err="1" smtClean="0">
                <a:solidFill>
                  <a:schemeClr val="tx1"/>
                </a:solidFill>
                <a:latin typeface="+mj-lt"/>
                <a:sym typeface="+mn-ea"/>
              </a:rPr>
              <a:t>模组</a:t>
            </a:r>
            <a:r>
              <a:rPr lang="en-US" altLang="zh-CN" sz="1400" dirty="0" err="1" smtClean="0">
                <a:solidFill>
                  <a:schemeClr val="tx1"/>
                </a:solidFill>
                <a:latin typeface="+mj-lt"/>
                <a:sym typeface="+mn-ea"/>
              </a:rPr>
              <a:t>/</a:t>
            </a:r>
            <a:r>
              <a:rPr lang="zh-CN" altLang="en-US" sz="1400" dirty="0" err="1" smtClean="0">
                <a:solidFill>
                  <a:schemeClr val="tx1"/>
                </a:solidFill>
                <a:latin typeface="+mj-lt"/>
                <a:sym typeface="+mn-ea"/>
              </a:rPr>
              <a:t>电池包</a:t>
            </a:r>
            <a:r>
              <a:rPr lang="zh-CN" altLang="en-US" sz="1400">
                <a:solidFill>
                  <a:schemeClr val="tx1"/>
                </a:solidFill>
              </a:rPr>
              <a:t>排布结构</a:t>
            </a:r>
            <a:endParaRPr lang="zh-CN" altLang="en-US" sz="1400">
              <a:solidFill>
                <a:schemeClr val="tx1"/>
              </a:solidFill>
            </a:endParaRPr>
          </a:p>
          <a:p>
            <a:pPr algn="ctr"/>
            <a:r>
              <a:rPr lang="en-US" altLang="zh-CN" sz="1400">
                <a:solidFill>
                  <a:schemeClr val="tx1"/>
                </a:solidFill>
              </a:rPr>
              <a:t>+</a:t>
            </a:r>
            <a:endParaRPr lang="en-US" altLang="zh-CN" sz="1400">
              <a:solidFill>
                <a:schemeClr val="tx1"/>
              </a:solidFill>
            </a:endParaRPr>
          </a:p>
          <a:p>
            <a:pPr algn="ctr"/>
            <a:r>
              <a:rPr lang="zh-CN" altLang="en-US" sz="1400">
                <a:sym typeface="+mn-ea"/>
              </a:rPr>
              <a:t>电芯电</a:t>
            </a:r>
            <a:r>
              <a:rPr lang="en-US" altLang="zh-CN" sz="1400">
                <a:sym typeface="+mn-ea"/>
              </a:rPr>
              <a:t>-</a:t>
            </a:r>
            <a:r>
              <a:rPr lang="zh-CN" altLang="en-US" sz="1400">
                <a:sym typeface="+mn-ea"/>
              </a:rPr>
              <a:t>热模型简化</a:t>
            </a:r>
            <a:endParaRPr lang="zh-CN" altLang="en-US" sz="1400">
              <a:sym typeface="+mn-ea"/>
            </a:endParaRPr>
          </a:p>
        </p:txBody>
      </p:sp>
      <p:sp>
        <p:nvSpPr>
          <p:cNvPr id="40" name="文本框 39"/>
          <p:cNvSpPr txBox="1"/>
          <p:nvPr/>
        </p:nvSpPr>
        <p:spPr>
          <a:xfrm>
            <a:off x="5160010" y="3643630"/>
            <a:ext cx="651510" cy="23558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cxnSp>
        <p:nvCxnSpPr>
          <p:cNvPr id="41" name="直接箭头连接符 40"/>
          <p:cNvCxnSpPr/>
          <p:nvPr/>
        </p:nvCxnSpPr>
        <p:spPr>
          <a:xfrm>
            <a:off x="5896610" y="4435475"/>
            <a:ext cx="504190" cy="0"/>
          </a:xfrm>
          <a:prstGeom prst="straightConnector1">
            <a:avLst/>
          </a:prstGeom>
          <a:ln w="19050">
            <a:tailEnd type="triangle"/>
          </a:ln>
        </p:spPr>
        <p:style>
          <a:lnRef idx="2">
            <a:schemeClr val="accent1"/>
          </a:lnRef>
          <a:fillRef idx="0">
            <a:srgbClr val="FFFFFF"/>
          </a:fillRef>
          <a:effectRef idx="0">
            <a:srgbClr val="FFFFFF"/>
          </a:effectRef>
          <a:fontRef idx="minor">
            <a:schemeClr val="tx1"/>
          </a:fontRef>
        </p:style>
      </p:cxnSp>
      <p:sp>
        <p:nvSpPr>
          <p:cNvPr id="42" name="矩形 41"/>
          <p:cNvSpPr/>
          <p:nvPr/>
        </p:nvSpPr>
        <p:spPr>
          <a:xfrm>
            <a:off x="6445885" y="4116705"/>
            <a:ext cx="1292860" cy="66675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r>
              <a:rPr lang="zh-CN" altLang="en-US" sz="1400" dirty="0" err="1" smtClean="0">
                <a:solidFill>
                  <a:schemeClr val="tx1"/>
                </a:solidFill>
                <a:latin typeface="+mj-lt"/>
                <a:sym typeface="+mn-ea"/>
              </a:rPr>
              <a:t>电池包</a:t>
            </a:r>
            <a:endParaRPr lang="zh-CN" altLang="en-US" sz="1400">
              <a:solidFill>
                <a:schemeClr val="tx1"/>
              </a:solidFill>
            </a:endParaRPr>
          </a:p>
          <a:p>
            <a:pPr algn="ctr"/>
            <a:r>
              <a:rPr lang="zh-CN" altLang="en-US" sz="1400">
                <a:solidFill>
                  <a:schemeClr val="tx1"/>
                </a:solidFill>
              </a:rPr>
              <a:t>脉冲加热性能</a:t>
            </a:r>
            <a:endParaRPr lang="zh-CN" altLang="en-US" sz="1400">
              <a:solidFill>
                <a:schemeClr val="tx1"/>
              </a:solidFill>
            </a:endParaRPr>
          </a:p>
        </p:txBody>
      </p:sp>
      <p:sp>
        <p:nvSpPr>
          <p:cNvPr id="43" name="矩形 42"/>
          <p:cNvSpPr/>
          <p:nvPr/>
        </p:nvSpPr>
        <p:spPr>
          <a:xfrm>
            <a:off x="8616315" y="4116705"/>
            <a:ext cx="1296000" cy="666000"/>
          </a:xfrm>
          <a:prstGeom prst="rect">
            <a:avLst/>
          </a:prstGeom>
          <a:solidFill>
            <a:srgbClr val="00B050"/>
          </a:solidFill>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3.</a:t>
            </a:r>
            <a:r>
              <a:rPr lang="zh-CN" altLang="en-US" sz="1400"/>
              <a:t>系统级</a:t>
            </a:r>
            <a:r>
              <a:rPr lang="zh-CN" altLang="en-US" sz="1400"/>
              <a:t>低维</a:t>
            </a:r>
            <a:endParaRPr lang="zh-CN" altLang="en-US" sz="1400"/>
          </a:p>
          <a:p>
            <a:pPr algn="ctr"/>
            <a:r>
              <a:rPr lang="zh-CN" altLang="en-US" sz="1400"/>
              <a:t>电</a:t>
            </a:r>
            <a:r>
              <a:rPr lang="en-US" altLang="zh-CN" sz="1400"/>
              <a:t>-</a:t>
            </a:r>
            <a:r>
              <a:rPr lang="zh-CN" altLang="en-US" sz="1400"/>
              <a:t>热模型</a:t>
            </a:r>
            <a:endParaRPr lang="zh-CN" altLang="en-US" sz="1400"/>
          </a:p>
        </p:txBody>
      </p:sp>
      <p:sp>
        <p:nvSpPr>
          <p:cNvPr id="44" name="矩形 43"/>
          <p:cNvSpPr/>
          <p:nvPr/>
        </p:nvSpPr>
        <p:spPr>
          <a:xfrm>
            <a:off x="8613775" y="2830195"/>
            <a:ext cx="1296000" cy="666000"/>
          </a:xfrm>
          <a:prstGeom prst="rect">
            <a:avLst/>
          </a:prstGeom>
          <a:solidFill>
            <a:srgbClr val="FFC000"/>
          </a:solidFill>
          <a:ln>
            <a:solidFill>
              <a:srgbClr val="FFC00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2.</a:t>
            </a:r>
            <a:r>
              <a:rPr lang="zh-CN" altLang="en-US" sz="1400"/>
              <a:t>脉冲加热</a:t>
            </a:r>
            <a:endParaRPr lang="zh-CN" altLang="en-US" sz="1400"/>
          </a:p>
          <a:p>
            <a:pPr algn="ctr"/>
            <a:r>
              <a:rPr lang="zh-CN" altLang="en-US" sz="1400"/>
              <a:t>控制算法</a:t>
            </a:r>
            <a:r>
              <a:rPr lang="zh-CN" altLang="en-US" sz="1400"/>
              <a:t>开发</a:t>
            </a:r>
            <a:endParaRPr lang="zh-CN" altLang="en-US" sz="1400"/>
          </a:p>
        </p:txBody>
      </p:sp>
      <p:sp>
        <p:nvSpPr>
          <p:cNvPr id="45" name="矩形 44"/>
          <p:cNvSpPr/>
          <p:nvPr/>
        </p:nvSpPr>
        <p:spPr>
          <a:xfrm>
            <a:off x="8284845" y="2274570"/>
            <a:ext cx="3810000" cy="4026535"/>
          </a:xfrm>
          <a:prstGeom prst="rect">
            <a:avLst/>
          </a:prstGeom>
          <a:ln w="12700">
            <a:prstDash val="lg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6" name="文本框 45"/>
          <p:cNvSpPr txBox="1"/>
          <p:nvPr/>
        </p:nvSpPr>
        <p:spPr>
          <a:xfrm>
            <a:off x="8644890" y="2290445"/>
            <a:ext cx="3242945" cy="393065"/>
          </a:xfrm>
          <a:prstGeom prst="rect">
            <a:avLst/>
          </a:prstGeom>
          <a:noFill/>
        </p:spPr>
        <p:txBody>
          <a:bodyPr wrap="square" lIns="36000" tIns="36000" rIns="36000" bIns="36000" rtlCol="0" anchor="ctr" anchorCtr="0">
            <a:noAutofit/>
          </a:bodyPr>
          <a:p>
            <a:pPr algn="ctr">
              <a:spcBef>
                <a:spcPts val="600"/>
              </a:spcBef>
            </a:pPr>
            <a:r>
              <a:rPr lang="zh-CN" altLang="en-US" sz="1400" b="1" dirty="0" err="1" smtClean="0">
                <a:solidFill>
                  <a:srgbClr val="003B90"/>
                </a:solidFill>
                <a:latin typeface="+mj-lt"/>
              </a:rPr>
              <a:t>系统级</a:t>
            </a:r>
            <a:endParaRPr lang="zh-CN" altLang="en-US" sz="1400" b="1" dirty="0" err="1" smtClean="0">
              <a:solidFill>
                <a:srgbClr val="003B90"/>
              </a:solidFill>
              <a:latin typeface="+mj-lt"/>
            </a:endParaRPr>
          </a:p>
        </p:txBody>
      </p:sp>
      <p:cxnSp>
        <p:nvCxnSpPr>
          <p:cNvPr id="47" name="直接箭头连接符 46"/>
          <p:cNvCxnSpPr/>
          <p:nvPr/>
        </p:nvCxnSpPr>
        <p:spPr>
          <a:xfrm flipH="1">
            <a:off x="9293225" y="3571240"/>
            <a:ext cx="0" cy="470535"/>
          </a:xfrm>
          <a:prstGeom prst="straightConnector1">
            <a:avLst/>
          </a:prstGeom>
          <a:ln>
            <a:headEnd type="none"/>
            <a:tailEnd type="triangle"/>
          </a:ln>
        </p:spPr>
        <p:style>
          <a:lnRef idx="2">
            <a:schemeClr val="accent1"/>
          </a:lnRef>
          <a:fillRef idx="0">
            <a:srgbClr val="FFFFFF"/>
          </a:fillRef>
          <a:effectRef idx="0">
            <a:srgbClr val="FFFFFF"/>
          </a:effectRef>
          <a:fontRef idx="minor">
            <a:schemeClr val="tx1"/>
          </a:fontRef>
        </p:style>
      </p:cxnSp>
      <p:sp>
        <p:nvSpPr>
          <p:cNvPr id="48" name="矩形 47"/>
          <p:cNvSpPr/>
          <p:nvPr/>
        </p:nvSpPr>
        <p:spPr>
          <a:xfrm>
            <a:off x="10496550" y="2851150"/>
            <a:ext cx="1296000" cy="666750"/>
          </a:xfrm>
          <a:prstGeom prst="rect">
            <a:avLst/>
          </a:prstGeom>
          <a:solidFill>
            <a:srgbClr val="FFC000"/>
          </a:solidFill>
          <a:ln>
            <a:solidFill>
              <a:srgbClr val="FFC00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3.</a:t>
            </a:r>
            <a:r>
              <a:rPr lang="zh-CN" altLang="en-US" sz="1400"/>
              <a:t>电池系统</a:t>
            </a:r>
            <a:endParaRPr lang="zh-CN" altLang="en-US" sz="1400"/>
          </a:p>
          <a:p>
            <a:pPr algn="ctr"/>
            <a:r>
              <a:rPr lang="zh-CN" altLang="en-US" sz="1400"/>
              <a:t>拓扑结构</a:t>
            </a:r>
            <a:r>
              <a:rPr lang="zh-CN" altLang="en-US" sz="1400"/>
              <a:t>设计</a:t>
            </a:r>
            <a:endParaRPr lang="zh-CN" altLang="en-US" sz="1400"/>
          </a:p>
        </p:txBody>
      </p:sp>
      <p:cxnSp>
        <p:nvCxnSpPr>
          <p:cNvPr id="49" name="直接箭头连接符 48"/>
          <p:cNvCxnSpPr/>
          <p:nvPr/>
        </p:nvCxnSpPr>
        <p:spPr>
          <a:xfrm flipV="1">
            <a:off x="9940925" y="3496945"/>
            <a:ext cx="504190" cy="683260"/>
          </a:xfrm>
          <a:prstGeom prst="straightConnector1">
            <a:avLst/>
          </a:prstGeom>
          <a:ln>
            <a:headEnd type="triangle"/>
            <a:tailEnd type="none"/>
          </a:ln>
        </p:spPr>
        <p:style>
          <a:lnRef idx="2">
            <a:schemeClr val="accent1"/>
          </a:lnRef>
          <a:fillRef idx="0">
            <a:srgbClr val="FFFFFF"/>
          </a:fillRef>
          <a:effectRef idx="0">
            <a:srgbClr val="FFFFFF"/>
          </a:effectRef>
          <a:fontRef idx="minor">
            <a:schemeClr val="tx1"/>
          </a:fontRef>
        </p:style>
      </p:cxnSp>
      <p:sp>
        <p:nvSpPr>
          <p:cNvPr id="50" name="文本框 49"/>
          <p:cNvSpPr txBox="1"/>
          <p:nvPr/>
        </p:nvSpPr>
        <p:spPr>
          <a:xfrm>
            <a:off x="9343390" y="3662680"/>
            <a:ext cx="566420" cy="236855"/>
          </a:xfrm>
          <a:prstGeom prst="rect">
            <a:avLst/>
          </a:prstGeom>
          <a:noFill/>
        </p:spPr>
        <p:txBody>
          <a:bodyPr wrap="square" lIns="36000" tIns="36000" rIns="36000" bIns="36000" rtlCol="0">
            <a:noAutofit/>
          </a:bodyPr>
          <a:p>
            <a:pPr algn="l">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cxnSp>
        <p:nvCxnSpPr>
          <p:cNvPr id="51" name="直接箭头连接符 50"/>
          <p:cNvCxnSpPr/>
          <p:nvPr/>
        </p:nvCxnSpPr>
        <p:spPr>
          <a:xfrm>
            <a:off x="9957435" y="4434840"/>
            <a:ext cx="504190" cy="0"/>
          </a:xfrm>
          <a:prstGeom prst="straightConnector1">
            <a:avLst/>
          </a:prstGeom>
          <a:ln>
            <a:tailEnd type="triangle"/>
          </a:ln>
        </p:spPr>
        <p:style>
          <a:lnRef idx="2">
            <a:schemeClr val="accent1"/>
          </a:lnRef>
          <a:fillRef idx="0">
            <a:srgbClr val="FFFFFF"/>
          </a:fillRef>
          <a:effectRef idx="0">
            <a:srgbClr val="FFFFFF"/>
          </a:effectRef>
          <a:fontRef idx="minor">
            <a:schemeClr val="tx1"/>
          </a:fontRef>
        </p:style>
      </p:cxnSp>
      <p:sp>
        <p:nvSpPr>
          <p:cNvPr id="52" name="矩形 51"/>
          <p:cNvSpPr/>
          <p:nvPr/>
        </p:nvSpPr>
        <p:spPr>
          <a:xfrm>
            <a:off x="10506710" y="4116070"/>
            <a:ext cx="1292860" cy="666750"/>
          </a:xfrm>
          <a:prstGeom prst="rect">
            <a:avLst/>
          </a:prstGeom>
          <a:solidFill>
            <a:srgbClr val="00B050"/>
          </a:solidFill>
          <a:ln>
            <a:solidFill>
              <a:srgbClr val="FFC00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4.</a:t>
            </a:r>
            <a:r>
              <a:rPr lang="zh-CN" altLang="en-US" sz="1400"/>
              <a:t>电池脉冲</a:t>
            </a:r>
            <a:endParaRPr lang="zh-CN" altLang="en-US" sz="1400"/>
          </a:p>
          <a:p>
            <a:pPr algn="ctr"/>
            <a:r>
              <a:rPr lang="zh-CN" altLang="en-US" sz="1400"/>
              <a:t>加热仿真系统</a:t>
            </a:r>
            <a:r>
              <a:rPr lang="en-US" altLang="zh-CN" sz="1400"/>
              <a:t> </a:t>
            </a:r>
            <a:endParaRPr lang="en-US" altLang="zh-CN" sz="1400"/>
          </a:p>
        </p:txBody>
      </p:sp>
      <p:cxnSp>
        <p:nvCxnSpPr>
          <p:cNvPr id="53" name="直接箭头连接符 52"/>
          <p:cNvCxnSpPr/>
          <p:nvPr/>
        </p:nvCxnSpPr>
        <p:spPr>
          <a:xfrm flipH="1">
            <a:off x="3018790" y="3571240"/>
            <a:ext cx="0" cy="470535"/>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55" name="文本框 54"/>
          <p:cNvSpPr txBox="1"/>
          <p:nvPr/>
        </p:nvSpPr>
        <p:spPr>
          <a:xfrm>
            <a:off x="1800860" y="4507230"/>
            <a:ext cx="574040" cy="270510"/>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输出</a:t>
            </a:r>
            <a:endParaRPr lang="zh-CN" altLang="en-US" sz="1200" dirty="0" err="1" smtClean="0">
              <a:solidFill>
                <a:schemeClr val="tx1"/>
              </a:solidFill>
              <a:latin typeface="+mj-lt"/>
            </a:endParaRPr>
          </a:p>
        </p:txBody>
      </p:sp>
      <p:cxnSp>
        <p:nvCxnSpPr>
          <p:cNvPr id="56" name="直接箭头连接符 55"/>
          <p:cNvCxnSpPr/>
          <p:nvPr/>
        </p:nvCxnSpPr>
        <p:spPr>
          <a:xfrm flipH="1">
            <a:off x="3018790" y="4867275"/>
            <a:ext cx="0" cy="470535"/>
          </a:xfrm>
          <a:prstGeom prst="straightConnector1">
            <a:avLst/>
          </a:prstGeom>
          <a:ln w="19050">
            <a:headEnd type="none"/>
            <a:tailEnd type="triangle"/>
          </a:ln>
        </p:spPr>
        <p:style>
          <a:lnRef idx="2">
            <a:schemeClr val="accent1"/>
          </a:lnRef>
          <a:fillRef idx="0">
            <a:srgbClr val="FFFFFF"/>
          </a:fillRef>
          <a:effectRef idx="0">
            <a:srgbClr val="FFFFFF"/>
          </a:effectRef>
          <a:fontRef idx="minor">
            <a:schemeClr val="tx1"/>
          </a:fontRef>
        </p:style>
      </p:cxnSp>
      <p:sp>
        <p:nvSpPr>
          <p:cNvPr id="57" name="矩形 56"/>
          <p:cNvSpPr/>
          <p:nvPr/>
        </p:nvSpPr>
        <p:spPr>
          <a:xfrm>
            <a:off x="2374900" y="5371465"/>
            <a:ext cx="1296000" cy="666000"/>
          </a:xfrm>
          <a:prstGeom prst="rect">
            <a:avLst/>
          </a:prstGeom>
          <a:ln>
            <a:solidFill>
              <a:srgbClr val="FFC000"/>
            </a:solidFill>
          </a:ln>
        </p:spPr>
        <p:style>
          <a:lnRef idx="3">
            <a:schemeClr val="accent1"/>
          </a:lnRef>
          <a:fillRef idx="0">
            <a:srgbClr val="FFFFFF"/>
          </a:fillRef>
          <a:effectRef idx="0">
            <a:srgbClr val="FFFFFF"/>
          </a:effectRef>
          <a:fontRef idx="minor">
            <a:schemeClr val="tx1"/>
          </a:fontRef>
        </p:style>
        <p:txBody>
          <a:bodyPr rtlCol="0" anchor="ctr"/>
          <a:p>
            <a:pPr algn="ctr"/>
            <a:r>
              <a:rPr lang="zh-CN" altLang="en-US" sz="1400"/>
              <a:t>脉冲加热</a:t>
            </a:r>
            <a:endParaRPr lang="zh-CN" altLang="en-US" sz="1400"/>
          </a:p>
          <a:p>
            <a:pPr algn="ctr"/>
            <a:r>
              <a:rPr lang="zh-CN" altLang="en-US" sz="1400"/>
              <a:t>方案设计</a:t>
            </a:r>
            <a:endParaRPr lang="zh-CN" altLang="en-US" sz="1400"/>
          </a:p>
        </p:txBody>
      </p:sp>
      <p:sp>
        <p:nvSpPr>
          <p:cNvPr id="59" name="矩形 58"/>
          <p:cNvSpPr/>
          <p:nvPr/>
        </p:nvSpPr>
        <p:spPr>
          <a:xfrm>
            <a:off x="6456045" y="2829560"/>
            <a:ext cx="1296000" cy="666750"/>
          </a:xfrm>
          <a:prstGeom prst="rect">
            <a:avLst/>
          </a:prstGeom>
          <a:solidFill>
            <a:schemeClr val="accent2">
              <a:lumMod val="60000"/>
              <a:lumOff val="40000"/>
            </a:schemeClr>
          </a:solidFill>
          <a:ln>
            <a:solidFill>
              <a:srgbClr val="00B0F0"/>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4.</a:t>
            </a:r>
            <a:r>
              <a:rPr lang="zh-CN" altLang="en-US" sz="1400"/>
              <a:t>脉冲加热</a:t>
            </a:r>
            <a:endParaRPr lang="zh-CN" altLang="en-US" sz="1400"/>
          </a:p>
          <a:p>
            <a:pPr algn="ctr"/>
            <a:r>
              <a:rPr lang="zh-CN" altLang="en-US" sz="1400"/>
              <a:t>实验</a:t>
            </a:r>
            <a:endParaRPr lang="zh-CN" altLang="en-US" sz="1400"/>
          </a:p>
        </p:txBody>
      </p:sp>
      <p:cxnSp>
        <p:nvCxnSpPr>
          <p:cNvPr id="60" name="直接箭头连接符 59"/>
          <p:cNvCxnSpPr/>
          <p:nvPr/>
        </p:nvCxnSpPr>
        <p:spPr>
          <a:xfrm>
            <a:off x="5896610" y="3162935"/>
            <a:ext cx="504190" cy="0"/>
          </a:xfrm>
          <a:prstGeom prst="straightConnector1">
            <a:avLst/>
          </a:prstGeom>
          <a:ln w="19050">
            <a:tailEnd type="triangle"/>
          </a:ln>
        </p:spPr>
        <p:style>
          <a:lnRef idx="2">
            <a:schemeClr val="accent1"/>
          </a:lnRef>
          <a:fillRef idx="0">
            <a:srgbClr val="FFFFFF"/>
          </a:fillRef>
          <a:effectRef idx="0">
            <a:srgbClr val="FFFFFF"/>
          </a:effectRef>
          <a:fontRef idx="minor">
            <a:schemeClr val="tx1"/>
          </a:fontRef>
        </p:style>
      </p:cxnSp>
      <p:cxnSp>
        <p:nvCxnSpPr>
          <p:cNvPr id="61" name="直接箭头连接符 60"/>
          <p:cNvCxnSpPr/>
          <p:nvPr/>
        </p:nvCxnSpPr>
        <p:spPr>
          <a:xfrm flipH="1">
            <a:off x="5232400" y="4867275"/>
            <a:ext cx="0" cy="470535"/>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5160010" y="4984750"/>
            <a:ext cx="651510" cy="23558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sp>
        <p:nvSpPr>
          <p:cNvPr id="63" name="文本框 62"/>
          <p:cNvSpPr txBox="1"/>
          <p:nvPr/>
        </p:nvSpPr>
        <p:spPr>
          <a:xfrm>
            <a:off x="3071495" y="3644265"/>
            <a:ext cx="582930" cy="255270"/>
          </a:xfrm>
          <a:prstGeom prst="rect">
            <a:avLst/>
          </a:prstGeom>
          <a:noFill/>
        </p:spPr>
        <p:txBody>
          <a:bodyPr wrap="square" lIns="36000" tIns="36000" rIns="36000" bIns="36000" rtlCol="0" anchor="t">
            <a:spAutoFit/>
          </a:bodyPr>
          <a:p>
            <a:pPr algn="l">
              <a:spcBef>
                <a:spcPts val="600"/>
              </a:spcBef>
            </a:pPr>
            <a:r>
              <a:rPr lang="zh-CN" altLang="en-US" sz="1200" dirty="0" err="1" smtClean="0">
                <a:latin typeface="+mj-lt"/>
                <a:sym typeface="+mn-ea"/>
              </a:rPr>
              <a:t>验证</a:t>
            </a:r>
            <a:endParaRPr lang="zh-CN" altLang="en-US" sz="1200" dirty="0" err="1" smtClean="0">
              <a:solidFill>
                <a:srgbClr val="003B90"/>
              </a:solidFill>
              <a:latin typeface="+mj-lt"/>
              <a:sym typeface="+mn-ea"/>
            </a:endParaRPr>
          </a:p>
        </p:txBody>
      </p:sp>
      <p:sp>
        <p:nvSpPr>
          <p:cNvPr id="64" name="文本框 63"/>
          <p:cNvSpPr txBox="1"/>
          <p:nvPr/>
        </p:nvSpPr>
        <p:spPr>
          <a:xfrm>
            <a:off x="3088005" y="4984750"/>
            <a:ext cx="582930" cy="255270"/>
          </a:xfrm>
          <a:prstGeom prst="rect">
            <a:avLst/>
          </a:prstGeom>
          <a:noFill/>
        </p:spPr>
        <p:txBody>
          <a:bodyPr wrap="square" lIns="36000" tIns="36000" rIns="36000" bIns="36000" rtlCol="0" anchor="t">
            <a:spAutoFit/>
          </a:bodyPr>
          <a:p>
            <a:pPr algn="l">
              <a:spcBef>
                <a:spcPts val="600"/>
              </a:spcBef>
            </a:pPr>
            <a:r>
              <a:rPr lang="zh-CN" altLang="en-US" sz="1200" dirty="0" err="1" smtClean="0">
                <a:latin typeface="+mj-lt"/>
                <a:sym typeface="+mn-ea"/>
              </a:rPr>
              <a:t>优化</a:t>
            </a:r>
            <a:endParaRPr lang="zh-CN" altLang="en-US" sz="1200" dirty="0" err="1" smtClean="0">
              <a:latin typeface="+mj-lt"/>
              <a:sym typeface="+mn-ea"/>
            </a:endParaRPr>
          </a:p>
        </p:txBody>
      </p:sp>
      <p:sp>
        <p:nvSpPr>
          <p:cNvPr id="65" name="文本框 64"/>
          <p:cNvSpPr txBox="1"/>
          <p:nvPr/>
        </p:nvSpPr>
        <p:spPr>
          <a:xfrm>
            <a:off x="7085330" y="3662680"/>
            <a:ext cx="653415" cy="24701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验证</a:t>
            </a:r>
            <a:endParaRPr lang="zh-CN" altLang="en-US" sz="1200" dirty="0" err="1" smtClean="0">
              <a:solidFill>
                <a:schemeClr val="tx1"/>
              </a:solidFill>
              <a:latin typeface="+mj-lt"/>
            </a:endParaRPr>
          </a:p>
        </p:txBody>
      </p:sp>
      <p:sp>
        <p:nvSpPr>
          <p:cNvPr id="66" name="文本框 65"/>
          <p:cNvSpPr txBox="1"/>
          <p:nvPr/>
        </p:nvSpPr>
        <p:spPr>
          <a:xfrm>
            <a:off x="5871845" y="4507230"/>
            <a:ext cx="574040" cy="270510"/>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输出</a:t>
            </a:r>
            <a:endParaRPr lang="zh-CN" altLang="en-US" sz="1200" dirty="0" err="1" smtClean="0">
              <a:solidFill>
                <a:schemeClr val="tx1"/>
              </a:solidFill>
              <a:latin typeface="+mj-lt"/>
            </a:endParaRPr>
          </a:p>
        </p:txBody>
      </p:sp>
      <p:cxnSp>
        <p:nvCxnSpPr>
          <p:cNvPr id="68" name="直接箭头连接符 67"/>
          <p:cNvCxnSpPr/>
          <p:nvPr/>
        </p:nvCxnSpPr>
        <p:spPr>
          <a:xfrm>
            <a:off x="7104380" y="4867275"/>
            <a:ext cx="0" cy="1584325"/>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69" name="直接箭头连接符 68"/>
          <p:cNvCxnSpPr/>
          <p:nvPr/>
        </p:nvCxnSpPr>
        <p:spPr>
          <a:xfrm>
            <a:off x="3018790" y="6451600"/>
            <a:ext cx="4085590" cy="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71" name="直接箭头连接符 70"/>
          <p:cNvCxnSpPr/>
          <p:nvPr/>
        </p:nvCxnSpPr>
        <p:spPr>
          <a:xfrm>
            <a:off x="3018790" y="6163310"/>
            <a:ext cx="0" cy="288290"/>
          </a:xfrm>
          <a:prstGeom prst="straightConnector1">
            <a:avLst/>
          </a:prstGeom>
          <a:ln w="19050">
            <a:solidFill>
              <a:srgbClr val="C00000"/>
            </a:solidFill>
            <a:headEnd type="triangl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73" name="文本框 72"/>
          <p:cNvSpPr txBox="1"/>
          <p:nvPr/>
        </p:nvSpPr>
        <p:spPr>
          <a:xfrm>
            <a:off x="7131685" y="5877560"/>
            <a:ext cx="620395" cy="267335"/>
          </a:xfrm>
          <a:prstGeom prst="rect">
            <a:avLst/>
          </a:prstGeom>
          <a:noFill/>
        </p:spPr>
        <p:txBody>
          <a:bodyPr wrap="square" lIns="36000" tIns="36000" rIns="36000" bIns="36000" rtlCol="0" anchor="t">
            <a:noAutofit/>
          </a:bodyPr>
          <a:p>
            <a:pPr algn="l">
              <a:spcBef>
                <a:spcPts val="600"/>
              </a:spcBef>
            </a:pPr>
            <a:r>
              <a:rPr lang="zh-CN" altLang="en-US" sz="1200" dirty="0" err="1" smtClean="0">
                <a:latin typeface="+mj-lt"/>
                <a:sym typeface="+mn-ea"/>
              </a:rPr>
              <a:t>调整</a:t>
            </a:r>
            <a:endParaRPr lang="zh-CN" altLang="en-US" sz="1200" dirty="0" err="1" smtClean="0">
              <a:latin typeface="+mj-lt"/>
              <a:sym typeface="+mn-ea"/>
            </a:endParaRPr>
          </a:p>
        </p:txBody>
      </p:sp>
      <p:cxnSp>
        <p:nvCxnSpPr>
          <p:cNvPr id="74" name="直接连接符 73"/>
          <p:cNvCxnSpPr/>
          <p:nvPr/>
        </p:nvCxnSpPr>
        <p:spPr>
          <a:xfrm>
            <a:off x="3719830" y="5695315"/>
            <a:ext cx="648000" cy="0"/>
          </a:xfrm>
          <a:prstGeom prst="line">
            <a:avLst/>
          </a:prstGeom>
          <a:ln w="19050">
            <a:solidFill>
              <a:srgbClr val="C00000"/>
            </a:solidFill>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a:off x="4368165" y="3162935"/>
            <a:ext cx="0" cy="253238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76" name="直接箭头连接符 75"/>
          <p:cNvCxnSpPr/>
          <p:nvPr/>
        </p:nvCxnSpPr>
        <p:spPr>
          <a:xfrm>
            <a:off x="4368165" y="3162935"/>
            <a:ext cx="144000" cy="0"/>
          </a:xfrm>
          <a:prstGeom prst="straightConnector1">
            <a:avLst/>
          </a:prstGeom>
          <a:ln>
            <a:solidFill>
              <a:srgbClr val="C00000"/>
            </a:solidFill>
            <a:tailEnd type="triangl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79" name="直接箭头连接符 78"/>
          <p:cNvCxnSpPr/>
          <p:nvPr/>
        </p:nvCxnSpPr>
        <p:spPr>
          <a:xfrm>
            <a:off x="5232400" y="1986915"/>
            <a:ext cx="0" cy="79200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80" name="直接箭头连接符 79"/>
          <p:cNvCxnSpPr/>
          <p:nvPr/>
        </p:nvCxnSpPr>
        <p:spPr>
          <a:xfrm>
            <a:off x="5232400" y="1986915"/>
            <a:ext cx="6768465" cy="127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81" name="直接箭头连接符 80"/>
          <p:cNvCxnSpPr/>
          <p:nvPr/>
        </p:nvCxnSpPr>
        <p:spPr>
          <a:xfrm>
            <a:off x="9317990" y="1988185"/>
            <a:ext cx="0" cy="792000"/>
          </a:xfrm>
          <a:prstGeom prst="straightConnector1">
            <a:avLst/>
          </a:prstGeom>
          <a:ln w="19050">
            <a:solidFill>
              <a:srgbClr val="C00000"/>
            </a:solidFill>
            <a:headEnd type="none"/>
            <a:tailEnd type="triangl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82" name="矩形 81"/>
          <p:cNvSpPr/>
          <p:nvPr/>
        </p:nvSpPr>
        <p:spPr>
          <a:xfrm>
            <a:off x="8613775" y="5371465"/>
            <a:ext cx="1296670" cy="666750"/>
          </a:xfrm>
          <a:prstGeom prst="rect">
            <a:avLst/>
          </a:prstGeom>
          <a:ln>
            <a:solidFill>
              <a:srgbClr val="00B050"/>
            </a:solidFill>
          </a:ln>
        </p:spPr>
        <p:style>
          <a:lnRef idx="3">
            <a:schemeClr val="accent1"/>
          </a:lnRef>
          <a:fillRef idx="0">
            <a:srgbClr val="FFFFFF"/>
          </a:fillRef>
          <a:effectRef idx="0">
            <a:srgbClr val="FFFFFF"/>
          </a:effectRef>
          <a:fontRef idx="minor">
            <a:schemeClr val="tx1"/>
          </a:fontRef>
        </p:style>
        <p:txBody>
          <a:bodyPr rtlCol="0" anchor="ctr"/>
          <a:p>
            <a:pPr algn="ctr"/>
            <a:r>
              <a:rPr lang="zh-CN" altLang="en-US" sz="1400">
                <a:sym typeface="+mn-ea"/>
              </a:rPr>
              <a:t>电芯电</a:t>
            </a:r>
            <a:r>
              <a:rPr lang="en-US" altLang="zh-CN" sz="1400">
                <a:sym typeface="+mn-ea"/>
              </a:rPr>
              <a:t>-</a:t>
            </a:r>
            <a:r>
              <a:rPr lang="zh-CN" altLang="en-US" sz="1400">
                <a:sym typeface="+mn-ea"/>
              </a:rPr>
              <a:t>热</a:t>
            </a:r>
            <a:endParaRPr lang="zh-CN" altLang="en-US" sz="1400">
              <a:sym typeface="+mn-ea"/>
            </a:endParaRPr>
          </a:p>
          <a:p>
            <a:pPr algn="ctr"/>
            <a:r>
              <a:rPr lang="zh-CN" altLang="en-US" sz="1400">
                <a:sym typeface="+mn-ea"/>
              </a:rPr>
              <a:t>模型简化</a:t>
            </a:r>
            <a:endParaRPr lang="zh-CN" altLang="en-US" sz="1400">
              <a:sym typeface="+mn-ea"/>
            </a:endParaRPr>
          </a:p>
        </p:txBody>
      </p:sp>
      <p:cxnSp>
        <p:nvCxnSpPr>
          <p:cNvPr id="83" name="直接箭头连接符 82"/>
          <p:cNvCxnSpPr/>
          <p:nvPr/>
        </p:nvCxnSpPr>
        <p:spPr>
          <a:xfrm flipH="1">
            <a:off x="9293225" y="4867275"/>
            <a:ext cx="0" cy="470535"/>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84" name="文本框 83"/>
          <p:cNvSpPr txBox="1"/>
          <p:nvPr/>
        </p:nvSpPr>
        <p:spPr>
          <a:xfrm>
            <a:off x="9220835" y="4984750"/>
            <a:ext cx="651510" cy="23558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sp>
        <p:nvSpPr>
          <p:cNvPr id="85" name="文本框 84"/>
          <p:cNvSpPr txBox="1"/>
          <p:nvPr/>
        </p:nvSpPr>
        <p:spPr>
          <a:xfrm>
            <a:off x="10273030" y="3662680"/>
            <a:ext cx="566420" cy="236855"/>
          </a:xfrm>
          <a:prstGeom prst="rect">
            <a:avLst/>
          </a:prstGeom>
          <a:noFill/>
        </p:spPr>
        <p:txBody>
          <a:bodyPr wrap="square" lIns="36000" tIns="36000" rIns="36000" bIns="36000" rtlCol="0">
            <a:noAutofit/>
          </a:bodyPr>
          <a:p>
            <a:pPr algn="l">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cxnSp>
        <p:nvCxnSpPr>
          <p:cNvPr id="86" name="直接箭头连接符 85"/>
          <p:cNvCxnSpPr/>
          <p:nvPr/>
        </p:nvCxnSpPr>
        <p:spPr>
          <a:xfrm flipH="1">
            <a:off x="7104380" y="3571240"/>
            <a:ext cx="0" cy="470535"/>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87" name="文本框 86"/>
          <p:cNvSpPr txBox="1"/>
          <p:nvPr/>
        </p:nvSpPr>
        <p:spPr>
          <a:xfrm>
            <a:off x="9912350" y="4507230"/>
            <a:ext cx="574040" cy="270510"/>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整合</a:t>
            </a:r>
            <a:endParaRPr lang="zh-CN" altLang="en-US" sz="1200" dirty="0" err="1" smtClean="0">
              <a:solidFill>
                <a:schemeClr val="tx1"/>
              </a:solidFill>
              <a:latin typeface="+mj-lt"/>
            </a:endParaRPr>
          </a:p>
        </p:txBody>
      </p:sp>
      <p:cxnSp>
        <p:nvCxnSpPr>
          <p:cNvPr id="89" name="直接箭头连接符 88"/>
          <p:cNvCxnSpPr/>
          <p:nvPr/>
        </p:nvCxnSpPr>
        <p:spPr>
          <a:xfrm>
            <a:off x="12000865" y="1986915"/>
            <a:ext cx="0" cy="2449195"/>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90" name="直接箭头连接符 89"/>
          <p:cNvCxnSpPr/>
          <p:nvPr/>
        </p:nvCxnSpPr>
        <p:spPr>
          <a:xfrm>
            <a:off x="11856720" y="4436110"/>
            <a:ext cx="144000" cy="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91" name="矩形 90"/>
          <p:cNvSpPr/>
          <p:nvPr/>
        </p:nvSpPr>
        <p:spPr>
          <a:xfrm>
            <a:off x="10506710" y="5370830"/>
            <a:ext cx="1292860" cy="666750"/>
          </a:xfrm>
          <a:prstGeom prst="rect">
            <a:avLst/>
          </a:prstGeom>
          <a:solidFill>
            <a:schemeClr val="accent2">
              <a:lumMod val="60000"/>
              <a:lumOff val="40000"/>
            </a:schemeClr>
          </a:solidFill>
          <a:ln>
            <a:solidFill>
              <a:schemeClr val="accent2">
                <a:lumMod val="60000"/>
                <a:lumOff val="40000"/>
              </a:schemeClr>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5.</a:t>
            </a:r>
            <a:r>
              <a:rPr lang="zh-CN" altLang="en-US" sz="1400"/>
              <a:t>系统级</a:t>
            </a:r>
            <a:endParaRPr lang="zh-CN" altLang="en-US" sz="1400"/>
          </a:p>
          <a:p>
            <a:pPr algn="ctr"/>
            <a:r>
              <a:rPr lang="zh-CN" altLang="en-US" sz="1400"/>
              <a:t>在线</a:t>
            </a:r>
            <a:r>
              <a:rPr lang="zh-CN" altLang="en-US" sz="1400"/>
              <a:t>测试</a:t>
            </a:r>
            <a:endParaRPr lang="zh-CN" altLang="en-US" sz="1400"/>
          </a:p>
        </p:txBody>
      </p:sp>
      <p:cxnSp>
        <p:nvCxnSpPr>
          <p:cNvPr id="92" name="直接箭头连接符 91"/>
          <p:cNvCxnSpPr/>
          <p:nvPr/>
        </p:nvCxnSpPr>
        <p:spPr>
          <a:xfrm flipH="1">
            <a:off x="11209020" y="4867275"/>
            <a:ext cx="0" cy="470535"/>
          </a:xfrm>
          <a:prstGeom prst="straightConnector1">
            <a:avLst/>
          </a:prstGeom>
          <a:ln w="12700" cmpd="sng">
            <a:solidFill>
              <a:schemeClr val="accent1">
                <a:shade val="50000"/>
              </a:schemeClr>
            </a:solidFill>
            <a:prstDash val="solid"/>
            <a:headEnd type="triangle"/>
            <a:tailEnd type="none"/>
          </a:ln>
        </p:spPr>
        <p:style>
          <a:lnRef idx="2">
            <a:schemeClr val="accent1"/>
          </a:lnRef>
          <a:fillRef idx="0">
            <a:srgbClr val="FFFFFF"/>
          </a:fillRef>
          <a:effectRef idx="0">
            <a:srgbClr val="FFFFFF"/>
          </a:effectRef>
          <a:fontRef idx="minor">
            <a:schemeClr val="tx1"/>
          </a:fontRef>
        </p:style>
      </p:cxnSp>
      <p:cxnSp>
        <p:nvCxnSpPr>
          <p:cNvPr id="94" name="直接箭头连接符 93"/>
          <p:cNvCxnSpPr/>
          <p:nvPr/>
        </p:nvCxnSpPr>
        <p:spPr>
          <a:xfrm flipH="1">
            <a:off x="11209020" y="3571240"/>
            <a:ext cx="0" cy="470535"/>
          </a:xfrm>
          <a:prstGeom prst="straightConnector1">
            <a:avLst/>
          </a:prstGeom>
          <a:ln>
            <a:headEnd type="triangle"/>
            <a:tailEnd type="none"/>
          </a:ln>
        </p:spPr>
        <p:style>
          <a:lnRef idx="2">
            <a:schemeClr val="accent1"/>
          </a:lnRef>
          <a:fillRef idx="0">
            <a:srgbClr val="FFFFFF"/>
          </a:fillRef>
          <a:effectRef idx="0">
            <a:srgbClr val="FFFFFF"/>
          </a:effectRef>
          <a:fontRef idx="minor">
            <a:schemeClr val="tx1"/>
          </a:fontRef>
        </p:style>
      </p:cxnSp>
      <p:sp>
        <p:nvSpPr>
          <p:cNvPr id="95" name="文本框 94"/>
          <p:cNvSpPr txBox="1"/>
          <p:nvPr/>
        </p:nvSpPr>
        <p:spPr>
          <a:xfrm>
            <a:off x="11267440" y="3655060"/>
            <a:ext cx="620395" cy="274955"/>
          </a:xfrm>
          <a:prstGeom prst="rect">
            <a:avLst/>
          </a:prstGeom>
          <a:noFill/>
        </p:spPr>
        <p:txBody>
          <a:bodyPr wrap="square" lIns="36000" tIns="36000" rIns="36000" bIns="36000" rtlCol="0" anchor="t">
            <a:noAutofit/>
          </a:bodyPr>
          <a:p>
            <a:pPr algn="l">
              <a:spcBef>
                <a:spcPts val="600"/>
              </a:spcBef>
            </a:pPr>
            <a:r>
              <a:rPr lang="zh-CN" altLang="en-US" sz="1200" dirty="0" err="1" smtClean="0">
                <a:latin typeface="+mj-lt"/>
                <a:sym typeface="+mn-ea"/>
              </a:rPr>
              <a:t>调整</a:t>
            </a:r>
            <a:endParaRPr lang="zh-CN" altLang="en-US" sz="1200" dirty="0" err="1" smtClean="0">
              <a:latin typeface="+mj-lt"/>
              <a:sym typeface="+mn-ea"/>
            </a:endParaRPr>
          </a:p>
        </p:txBody>
      </p:sp>
      <p:cxnSp>
        <p:nvCxnSpPr>
          <p:cNvPr id="96" name="直接箭头连接符 95"/>
          <p:cNvCxnSpPr/>
          <p:nvPr/>
        </p:nvCxnSpPr>
        <p:spPr>
          <a:xfrm>
            <a:off x="2087880" y="5240020"/>
            <a:ext cx="0" cy="137668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97" name="直接箭头连接符 96"/>
          <p:cNvCxnSpPr/>
          <p:nvPr/>
        </p:nvCxnSpPr>
        <p:spPr>
          <a:xfrm>
            <a:off x="2087880" y="6596380"/>
            <a:ext cx="7205345" cy="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98" name="直接箭头连接符 97"/>
          <p:cNvCxnSpPr/>
          <p:nvPr/>
        </p:nvCxnSpPr>
        <p:spPr>
          <a:xfrm>
            <a:off x="9293225" y="6163310"/>
            <a:ext cx="0" cy="433070"/>
          </a:xfrm>
          <a:prstGeom prst="straightConnector1">
            <a:avLst/>
          </a:prstGeom>
          <a:ln w="19050">
            <a:solidFill>
              <a:srgbClr val="C00000"/>
            </a:solidFill>
            <a:headEnd type="triangl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2" name="矩形 1"/>
          <p:cNvSpPr/>
          <p:nvPr/>
        </p:nvSpPr>
        <p:spPr>
          <a:xfrm>
            <a:off x="191135" y="1844675"/>
            <a:ext cx="638175" cy="353695"/>
          </a:xfrm>
          <a:prstGeom prst="rect">
            <a:avLst/>
          </a:prstGeom>
          <a:solidFill>
            <a:schemeClr val="accent2">
              <a:lumMod val="60000"/>
              <a:lumOff val="40000"/>
            </a:schemeClr>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1"/>
                </a:solidFill>
              </a:rPr>
              <a:t>实验</a:t>
            </a:r>
            <a:endParaRPr lang="zh-CN" altLang="en-US" sz="1200">
              <a:solidFill>
                <a:schemeClr val="tx1"/>
              </a:solidFill>
            </a:endParaRPr>
          </a:p>
        </p:txBody>
      </p:sp>
      <p:sp>
        <p:nvSpPr>
          <p:cNvPr id="4" name="矩形 3"/>
          <p:cNvSpPr/>
          <p:nvPr/>
        </p:nvSpPr>
        <p:spPr>
          <a:xfrm>
            <a:off x="911225" y="1845310"/>
            <a:ext cx="638175" cy="356235"/>
          </a:xfrm>
          <a:prstGeom prst="rect">
            <a:avLst/>
          </a:prstGeom>
          <a:solidFill>
            <a:srgbClr val="00B050"/>
          </a:solidFill>
          <a:ln>
            <a:solidFill>
              <a:srgbClr val="00B05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1"/>
                </a:solidFill>
              </a:rPr>
              <a:t>模型</a:t>
            </a:r>
            <a:endParaRPr lang="zh-CN" altLang="en-US" sz="1200">
              <a:solidFill>
                <a:schemeClr val="tx1"/>
              </a:solidFill>
            </a:endParaRPr>
          </a:p>
        </p:txBody>
      </p:sp>
      <p:sp>
        <p:nvSpPr>
          <p:cNvPr id="5" name="矩形 4"/>
          <p:cNvSpPr/>
          <p:nvPr/>
        </p:nvSpPr>
        <p:spPr>
          <a:xfrm>
            <a:off x="1631315" y="1845310"/>
            <a:ext cx="637200" cy="356870"/>
          </a:xfrm>
          <a:prstGeom prst="rect">
            <a:avLst/>
          </a:prstGeom>
          <a:solidFill>
            <a:srgbClr val="FFC000"/>
          </a:solidFill>
          <a:ln>
            <a:solidFill>
              <a:srgbClr val="FFC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solidFill>
                  <a:schemeClr val="tx1"/>
                </a:solidFill>
              </a:rPr>
              <a:t>设计</a:t>
            </a:r>
            <a:endParaRPr lang="zh-CN" altLang="en-US" sz="1200">
              <a:solidFill>
                <a:schemeClr val="tx1"/>
              </a:solidFill>
            </a:endParaRPr>
          </a:p>
        </p:txBody>
      </p:sp>
      <p:sp>
        <p:nvSpPr>
          <p:cNvPr id="6" name="矩形 5"/>
          <p:cNvSpPr/>
          <p:nvPr/>
        </p:nvSpPr>
        <p:spPr>
          <a:xfrm>
            <a:off x="494665" y="5372100"/>
            <a:ext cx="1296000" cy="666000"/>
          </a:xfrm>
          <a:prstGeom prst="rect">
            <a:avLst/>
          </a:prstGeom>
          <a:solidFill>
            <a:schemeClr val="accent2">
              <a:lumMod val="60000"/>
              <a:lumOff val="40000"/>
            </a:schemeClr>
          </a:solidFill>
          <a:ln>
            <a:solidFill>
              <a:schemeClr val="accent2">
                <a:lumMod val="60000"/>
                <a:lumOff val="40000"/>
              </a:schemeClr>
            </a:solidFill>
          </a:ln>
        </p:spPr>
        <p:style>
          <a:lnRef idx="3">
            <a:schemeClr val="accent1"/>
          </a:lnRef>
          <a:fillRef idx="0">
            <a:srgbClr val="FFFFFF"/>
          </a:fillRef>
          <a:effectRef idx="0">
            <a:srgbClr val="FFFFFF"/>
          </a:effectRef>
          <a:fontRef idx="minor">
            <a:schemeClr val="tx1"/>
          </a:fontRef>
        </p:style>
        <p:txBody>
          <a:bodyPr rtlCol="0" anchor="ctr"/>
          <a:p>
            <a:pPr algn="ctr"/>
            <a:r>
              <a:rPr lang="en-US" altLang="zh-CN" sz="1400"/>
              <a:t>2.</a:t>
            </a:r>
            <a:r>
              <a:rPr lang="zh-CN" altLang="en-US" sz="1400"/>
              <a:t>电芯</a:t>
            </a:r>
            <a:r>
              <a:rPr lang="zh-CN" altLang="en-US" sz="1400"/>
              <a:t>拆解</a:t>
            </a:r>
            <a:endParaRPr lang="zh-CN" altLang="en-US" sz="1400"/>
          </a:p>
          <a:p>
            <a:pPr algn="ctr"/>
            <a:r>
              <a:rPr lang="zh-CN" altLang="en-US" sz="1400"/>
              <a:t>实验</a:t>
            </a:r>
            <a:endParaRPr lang="zh-CN" altLang="en-US" sz="1400"/>
          </a:p>
        </p:txBody>
      </p:sp>
      <p:cxnSp>
        <p:nvCxnSpPr>
          <p:cNvPr id="7" name="直接箭头连接符 6"/>
          <p:cNvCxnSpPr/>
          <p:nvPr/>
        </p:nvCxnSpPr>
        <p:spPr>
          <a:xfrm flipH="1">
            <a:off x="1165225" y="4867275"/>
            <a:ext cx="0" cy="470535"/>
          </a:xfrm>
          <a:prstGeom prst="straightConnector1">
            <a:avLst/>
          </a:prstGeom>
          <a:ln w="19050">
            <a:headEnd type="triangle"/>
            <a:tailEnd type="none"/>
          </a:ln>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217930" y="4984750"/>
            <a:ext cx="582930" cy="255270"/>
          </a:xfrm>
          <a:prstGeom prst="rect">
            <a:avLst/>
          </a:prstGeom>
          <a:noFill/>
        </p:spPr>
        <p:txBody>
          <a:bodyPr wrap="square" lIns="36000" tIns="36000" rIns="36000" bIns="36000" rtlCol="0" anchor="t">
            <a:spAutoFit/>
          </a:bodyPr>
          <a:p>
            <a:pPr algn="l">
              <a:spcBef>
                <a:spcPts val="600"/>
              </a:spcBef>
            </a:pPr>
            <a:r>
              <a:rPr lang="zh-CN" altLang="en-US" sz="1200" dirty="0" err="1" smtClean="0">
                <a:solidFill>
                  <a:srgbClr val="003B90"/>
                </a:solidFill>
                <a:latin typeface="+mj-lt"/>
                <a:sym typeface="+mn-ea"/>
              </a:rPr>
              <a:t>输入</a:t>
            </a:r>
            <a:endParaRPr lang="zh-CN" altLang="en-US" sz="1200" dirty="0" err="1" smtClean="0">
              <a:solidFill>
                <a:srgbClr val="003B90"/>
              </a:solidFill>
              <a:latin typeface="+mj-lt"/>
              <a:sym typeface="+mn-ea"/>
            </a:endParaRPr>
          </a:p>
        </p:txBody>
      </p:sp>
      <p:cxnSp>
        <p:nvCxnSpPr>
          <p:cNvPr id="9" name="直接箭头连接符 8"/>
          <p:cNvCxnSpPr/>
          <p:nvPr/>
        </p:nvCxnSpPr>
        <p:spPr>
          <a:xfrm>
            <a:off x="1631315" y="4867275"/>
            <a:ext cx="456565" cy="372745"/>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1280775" y="4965065"/>
            <a:ext cx="813435" cy="274955"/>
          </a:xfrm>
          <a:prstGeom prst="rect">
            <a:avLst/>
          </a:prstGeom>
          <a:noFill/>
        </p:spPr>
        <p:txBody>
          <a:bodyPr wrap="square" lIns="36000" tIns="36000" rIns="36000" bIns="36000" rtlCol="0" anchor="t">
            <a:noAutofit/>
          </a:bodyPr>
          <a:p>
            <a:pPr algn="l">
              <a:spcBef>
                <a:spcPts val="600"/>
              </a:spcBef>
            </a:pPr>
            <a:r>
              <a:rPr lang="zh-CN" altLang="en-US" sz="1200" dirty="0" err="1" smtClean="0">
                <a:latin typeface="+mj-lt"/>
                <a:sym typeface="+mn-ea"/>
              </a:rPr>
              <a:t>验证</a:t>
            </a:r>
            <a:endParaRPr lang="zh-CN" altLang="en-US" sz="1200" dirty="0" err="1" smtClean="0">
              <a:latin typeface="+mj-lt"/>
              <a:sym typeface="+mn-ea"/>
            </a:endParaRPr>
          </a:p>
        </p:txBody>
      </p:sp>
      <p:cxnSp>
        <p:nvCxnSpPr>
          <p:cNvPr id="13" name="直接箭头连接符 12"/>
          <p:cNvCxnSpPr/>
          <p:nvPr/>
        </p:nvCxnSpPr>
        <p:spPr>
          <a:xfrm>
            <a:off x="8184515" y="3162935"/>
            <a:ext cx="420370" cy="0"/>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8184515" y="3162935"/>
            <a:ext cx="0" cy="1922145"/>
          </a:xfrm>
          <a:prstGeom prst="straightConnector1">
            <a:avLst/>
          </a:prstGeom>
          <a:ln w="19050">
            <a:solidFill>
              <a:srgbClr val="C00000"/>
            </a:solidFill>
            <a:headEnd type="non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6167755" y="5085080"/>
            <a:ext cx="2014220" cy="0"/>
          </a:xfrm>
          <a:prstGeom prst="line">
            <a:avLst/>
          </a:prstGeom>
          <a:ln w="19050">
            <a:solidFill>
              <a:srgbClr val="C00000"/>
            </a:solidFill>
            <a:head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7680325" y="5125085"/>
            <a:ext cx="386080" cy="24701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验证</a:t>
            </a:r>
            <a:endParaRPr lang="zh-CN" altLang="en-US" sz="1200" dirty="0" err="1" smtClean="0">
              <a:solidFill>
                <a:schemeClr val="tx1"/>
              </a:solidFill>
              <a:latin typeface="+mj-lt"/>
            </a:endParaRPr>
          </a:p>
        </p:txBody>
      </p:sp>
      <p:cxnSp>
        <p:nvCxnSpPr>
          <p:cNvPr id="18" name="直接箭头连接符 17"/>
          <p:cNvCxnSpPr/>
          <p:nvPr/>
        </p:nvCxnSpPr>
        <p:spPr>
          <a:xfrm>
            <a:off x="5811520" y="4867275"/>
            <a:ext cx="381000" cy="217805"/>
          </a:xfrm>
          <a:prstGeom prst="straightConnector1">
            <a:avLst/>
          </a:prstGeom>
          <a:ln w="19050">
            <a:solidFill>
              <a:srgbClr val="C00000"/>
            </a:solidFill>
            <a:headEnd type="triangle"/>
            <a:tailEnd type="none"/>
          </a:ln>
          <a:effectLst>
            <a:outerShdw blurRad="50800" dist="38100" dir="2700000" algn="tl" rotWithShape="0">
              <a:prstClr val="black">
                <a:alpha val="40000"/>
              </a:prstClr>
            </a:outerShdw>
          </a:effectLst>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375910" y="6596380"/>
            <a:ext cx="651510" cy="235585"/>
          </a:xfrm>
          <a:prstGeom prst="rect">
            <a:avLst/>
          </a:prstGeom>
          <a:noFill/>
        </p:spPr>
        <p:txBody>
          <a:bodyPr wrap="square" lIns="36000" tIns="36000" rIns="36000" bIns="36000" rtlCol="0">
            <a:noAutofit/>
          </a:bodyPr>
          <a:p>
            <a:pPr algn="ctr">
              <a:spcBef>
                <a:spcPts val="600"/>
              </a:spcBef>
            </a:pPr>
            <a:r>
              <a:rPr lang="zh-CN" altLang="en-US" sz="1200" dirty="0" err="1" smtClean="0">
                <a:solidFill>
                  <a:schemeClr val="tx1"/>
                </a:solidFill>
                <a:latin typeface="+mj-lt"/>
              </a:rPr>
              <a:t>输入</a:t>
            </a:r>
            <a:endParaRPr lang="zh-CN" altLang="en-US" sz="1200" dirty="0" err="1" smtClean="0">
              <a:solidFill>
                <a:schemeClr val="tx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实验测试：</a:t>
            </a:r>
            <a:r>
              <a:rPr lang="en-US" altLang="zh-CN"/>
              <a:t>1.</a:t>
            </a:r>
            <a:r>
              <a:rPr lang="zh-CN" altLang="en-US"/>
              <a:t>电芯低温性能</a:t>
            </a:r>
            <a:endParaRPr lang="en-US" altLang="zh-CN"/>
          </a:p>
        </p:txBody>
      </p:sp>
      <p:sp>
        <p:nvSpPr>
          <p:cNvPr id="3" name="文本占位符 2"/>
          <p:cNvSpPr>
            <a:spLocks noGrp="1"/>
          </p:cNvSpPr>
          <p:nvPr>
            <p:ph type="body" sz="quarter" idx="14"/>
          </p:nvPr>
        </p:nvSpPr>
        <p:spPr>
          <a:xfrm>
            <a:off x="477520" y="1052830"/>
            <a:ext cx="11233150" cy="5078095"/>
          </a:xfrm>
        </p:spPr>
        <p:txBody>
          <a:bodyPr/>
          <a:p>
            <a:pPr algn="l">
              <a:spcBef>
                <a:spcPts val="600"/>
              </a:spcBef>
            </a:pPr>
            <a:r>
              <a:rPr lang="zh-CN" altLang="en-US" dirty="0">
                <a:solidFill>
                  <a:srgbClr val="003B90"/>
                </a:solidFill>
                <a:latin typeface="+mj-lt"/>
                <a:sym typeface="+mn-ea"/>
              </a:rPr>
              <a:t>实验对象：待测电芯</a:t>
            </a:r>
            <a:endParaRPr lang="en-US" altLang="zh-CN" dirty="0">
              <a:solidFill>
                <a:srgbClr val="003B90"/>
              </a:solidFill>
              <a:latin typeface="+mj-lt"/>
            </a:endParaRPr>
          </a:p>
          <a:p>
            <a:pPr algn="l">
              <a:spcBef>
                <a:spcPts val="600"/>
              </a:spcBef>
            </a:pPr>
            <a:r>
              <a:rPr lang="zh-CN" altLang="en-US" dirty="0">
                <a:solidFill>
                  <a:srgbClr val="003B90"/>
                </a:solidFill>
                <a:latin typeface="+mj-lt"/>
                <a:sym typeface="+mn-ea"/>
              </a:rPr>
              <a:t>实验目的：获取标定电芯模型</a:t>
            </a:r>
            <a:r>
              <a:rPr lang="zh-CN" altLang="en-US" dirty="0">
                <a:solidFill>
                  <a:srgbClr val="003B90"/>
                </a:solidFill>
                <a:latin typeface="+mj-lt"/>
                <a:sym typeface="+mn-ea"/>
              </a:rPr>
              <a:t>参数所需数据</a:t>
            </a:r>
            <a:endParaRPr lang="en-US" altLang="zh-CN" dirty="0">
              <a:solidFill>
                <a:srgbClr val="003B90"/>
              </a:solidFill>
              <a:latin typeface="+mj-lt"/>
            </a:endParaRPr>
          </a:p>
          <a:p>
            <a:pPr algn="l">
              <a:spcBef>
                <a:spcPts val="600"/>
              </a:spcBef>
            </a:pPr>
            <a:r>
              <a:rPr lang="zh-CN" altLang="en-US" dirty="0">
                <a:solidFill>
                  <a:srgbClr val="003B90"/>
                </a:solidFill>
                <a:latin typeface="+mj-lt"/>
                <a:sym typeface="+mn-ea"/>
              </a:rPr>
              <a:t>所需设备：电池测试仪、高低温环境仓</a:t>
            </a:r>
            <a:r>
              <a:rPr lang="zh-CN" altLang="en-US" dirty="0">
                <a:solidFill>
                  <a:srgbClr val="003B90"/>
                </a:solidFill>
                <a:sym typeface="+mn-ea"/>
              </a:rPr>
              <a:t>、保温箱、温度采集仪、电化学工作站及上位机</a:t>
            </a:r>
            <a:endParaRPr lang="en-US" altLang="zh-CN" dirty="0">
              <a:solidFill>
                <a:srgbClr val="003B90"/>
              </a:solidFill>
            </a:endParaRPr>
          </a:p>
          <a:p>
            <a:pPr>
              <a:spcBef>
                <a:spcPts val="600"/>
              </a:spcBef>
            </a:pPr>
            <a:r>
              <a:rPr lang="zh-CN" altLang="en-US" dirty="0">
                <a:solidFill>
                  <a:srgbClr val="003B90"/>
                </a:solidFill>
                <a:sym typeface="+mn-ea"/>
              </a:rPr>
              <a:t>测试项目：电化学阻抗谱、电池容量、</a:t>
            </a:r>
            <a:r>
              <a:rPr lang="en-US" altLang="zh-CN" dirty="0">
                <a:solidFill>
                  <a:srgbClr val="003B90"/>
                </a:solidFill>
                <a:sym typeface="+mn-ea"/>
              </a:rPr>
              <a:t>HPPC</a:t>
            </a:r>
            <a:r>
              <a:rPr lang="zh-CN" altLang="en-US" dirty="0">
                <a:solidFill>
                  <a:srgbClr val="003B90"/>
                </a:solidFill>
                <a:sym typeface="+mn-ea"/>
              </a:rPr>
              <a:t>、换热系数、温升容量变化</a:t>
            </a:r>
            <a:r>
              <a:rPr lang="en-US" altLang="zh-CN" dirty="0">
                <a:solidFill>
                  <a:srgbClr val="003B90"/>
                </a:solidFill>
                <a:sym typeface="+mn-ea"/>
              </a:rPr>
              <a:t>(</a:t>
            </a:r>
            <a:r>
              <a:rPr lang="zh-CN" altLang="en-US" dirty="0">
                <a:solidFill>
                  <a:srgbClr val="003B90"/>
                </a:solidFill>
                <a:sym typeface="+mn-ea"/>
              </a:rPr>
              <a:t>用于模型精度验证</a:t>
            </a:r>
            <a:r>
              <a:rPr lang="en-US" altLang="zh-CN" dirty="0">
                <a:solidFill>
                  <a:srgbClr val="003B90"/>
                </a:solidFill>
                <a:sym typeface="+mn-ea"/>
              </a:rPr>
              <a:t>)</a:t>
            </a:r>
            <a:endParaRPr lang="en-US" altLang="zh-CN" dirty="0">
              <a:solidFill>
                <a:srgbClr val="003B90"/>
              </a:solidFill>
            </a:endParaRPr>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实验测试：</a:t>
            </a:r>
            <a:r>
              <a:rPr lang="en-US" altLang="zh-CN"/>
              <a:t>2.</a:t>
            </a:r>
            <a:r>
              <a:rPr lang="zh-CN" altLang="en-US"/>
              <a:t>电芯</a:t>
            </a:r>
            <a:r>
              <a:rPr lang="zh-CN" altLang="en-US"/>
              <a:t>拆解</a:t>
            </a:r>
            <a:endParaRPr lang="zh-CN" altLang="en-US"/>
          </a:p>
        </p:txBody>
      </p:sp>
      <p:sp>
        <p:nvSpPr>
          <p:cNvPr id="3" name="文本占位符 2"/>
          <p:cNvSpPr>
            <a:spLocks noGrp="1"/>
          </p:cNvSpPr>
          <p:nvPr>
            <p:ph type="body" sz="quarter" idx="14"/>
          </p:nvPr>
        </p:nvSpPr>
        <p:spPr>
          <a:xfrm>
            <a:off x="477520" y="1052830"/>
            <a:ext cx="11233150" cy="2290445"/>
          </a:xfrm>
        </p:spPr>
        <p:txBody>
          <a:bodyPr/>
          <a:p>
            <a:r>
              <a:rPr lang="zh-CN" altLang="en-US"/>
              <a:t>实验对象：待测电芯</a:t>
            </a:r>
            <a:endParaRPr lang="zh-CN" altLang="en-US"/>
          </a:p>
          <a:p>
            <a:r>
              <a:rPr lang="zh-CN" altLang="en-US"/>
              <a:t>实验目的：</a:t>
            </a:r>
            <a:r>
              <a:rPr lang="zh-CN" altLang="en-US" dirty="0">
                <a:solidFill>
                  <a:srgbClr val="003B90"/>
                </a:solidFill>
                <a:latin typeface="+mj-lt"/>
                <a:sym typeface="+mn-ea"/>
              </a:rPr>
              <a:t>获取电芯建模所需参数</a:t>
            </a:r>
            <a:endParaRPr lang="zh-CN" altLang="en-US"/>
          </a:p>
          <a:p>
            <a:r>
              <a:rPr lang="zh-CN" altLang="en-US"/>
              <a:t>所需设备：</a:t>
            </a:r>
            <a:endParaRPr lang="zh-CN" altLang="en-US"/>
          </a:p>
          <a:p>
            <a:r>
              <a:rPr lang="zh-CN" altLang="en-US"/>
              <a:t>测试项目：类似</a:t>
            </a:r>
            <a:r>
              <a:rPr lang="en-US" altLang="zh-CN"/>
              <a:t>LFP</a:t>
            </a:r>
            <a:r>
              <a:rPr lang="zh-CN" altLang="en-US"/>
              <a:t>电池委外测试</a:t>
            </a:r>
            <a:r>
              <a:rPr lang="zh-CN" altLang="en-US"/>
              <a:t>工作</a:t>
            </a:r>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实验测试：</a:t>
            </a:r>
            <a:r>
              <a:rPr lang="en-US" altLang="zh-CN"/>
              <a:t>3.</a:t>
            </a:r>
            <a:r>
              <a:rPr lang="zh-CN" altLang="en-US"/>
              <a:t>电芯加热脉冲</a:t>
            </a:r>
            <a:endParaRPr lang="en-US" altLang="zh-CN"/>
          </a:p>
        </p:txBody>
      </p:sp>
      <p:sp>
        <p:nvSpPr>
          <p:cNvPr id="3" name="文本占位符 2"/>
          <p:cNvSpPr>
            <a:spLocks noGrp="1"/>
          </p:cNvSpPr>
          <p:nvPr>
            <p:ph type="body" sz="quarter" idx="14"/>
          </p:nvPr>
        </p:nvSpPr>
        <p:spPr/>
        <p:txBody>
          <a:bodyPr/>
          <a:p>
            <a:r>
              <a:rPr lang="zh-CN" altLang="en-US"/>
              <a:t>实验对象：待测电芯</a:t>
            </a:r>
            <a:endParaRPr lang="zh-CN" altLang="en-US"/>
          </a:p>
          <a:p>
            <a:r>
              <a:rPr lang="zh-CN" altLang="en-US"/>
              <a:t>实验目的：验证脉冲加热对电芯的加热效果，并探索其安全边界</a:t>
            </a:r>
            <a:endParaRPr lang="zh-CN" altLang="en-US"/>
          </a:p>
          <a:p>
            <a:r>
              <a:rPr lang="zh-CN" altLang="en-US"/>
              <a:t>所需设备：脉冲电源、电池测试仪、高低温环境仓、保温箱、温度采集仪、电化学工作站及上位机</a:t>
            </a:r>
            <a:endParaRPr lang="zh-CN" altLang="en-US"/>
          </a:p>
          <a:p>
            <a:r>
              <a:rPr lang="zh-CN" altLang="en-US"/>
              <a:t>测试项目：不同脉冲加热方案的电芯性能测试</a:t>
            </a:r>
            <a:r>
              <a:rPr lang="en-US" altLang="zh-CN"/>
              <a:t>(</a:t>
            </a:r>
            <a:r>
              <a:rPr lang="zh-CN" altLang="en-US"/>
              <a:t>温升速率、温度均匀性、容量变化等</a:t>
            </a:r>
            <a:r>
              <a:rPr lang="en-US" altLang="zh-CN"/>
              <a:t>)</a:t>
            </a:r>
            <a:endParaRPr lang="en-US" altLang="zh-CN"/>
          </a:p>
          <a:p>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sym typeface="+mn-ea"/>
              </a:rPr>
              <a:t>实验测试：</a:t>
            </a:r>
            <a:r>
              <a:rPr lang="en-US" altLang="zh-CN">
                <a:sym typeface="+mn-ea"/>
              </a:rPr>
              <a:t>4.</a:t>
            </a:r>
            <a:r>
              <a:rPr lang="zh-CN" altLang="en-US">
                <a:sym typeface="+mn-ea"/>
              </a:rPr>
              <a:t>电池包加热脉冲</a:t>
            </a:r>
            <a:endParaRPr lang="zh-CN" altLang="en-US"/>
          </a:p>
        </p:txBody>
      </p:sp>
      <p:sp>
        <p:nvSpPr>
          <p:cNvPr id="3" name="文本占位符 2"/>
          <p:cNvSpPr>
            <a:spLocks noGrp="1"/>
          </p:cNvSpPr>
          <p:nvPr>
            <p:ph type="body" sz="quarter" idx="14"/>
          </p:nvPr>
        </p:nvSpPr>
        <p:spPr/>
        <p:txBody>
          <a:bodyPr/>
          <a:p>
            <a:pPr algn="l">
              <a:spcBef>
                <a:spcPts val="600"/>
              </a:spcBef>
            </a:pPr>
            <a:r>
              <a:rPr lang="zh-CN" altLang="en-US" dirty="0">
                <a:solidFill>
                  <a:srgbClr val="003B90"/>
                </a:solidFill>
                <a:latin typeface="+mj-lt"/>
                <a:sym typeface="+mn-ea"/>
              </a:rPr>
              <a:t>实验对象：待测电池包</a:t>
            </a:r>
            <a:endParaRPr lang="en-US" altLang="zh-CN" dirty="0">
              <a:solidFill>
                <a:srgbClr val="003B90"/>
              </a:solidFill>
              <a:latin typeface="+mj-lt"/>
            </a:endParaRPr>
          </a:p>
          <a:p>
            <a:pPr algn="l">
              <a:spcBef>
                <a:spcPts val="600"/>
              </a:spcBef>
            </a:pPr>
            <a:r>
              <a:rPr lang="zh-CN" altLang="en-US" dirty="0">
                <a:solidFill>
                  <a:srgbClr val="003B90"/>
                </a:solidFill>
                <a:latin typeface="+mj-lt"/>
                <a:sym typeface="+mn-ea"/>
              </a:rPr>
              <a:t>实验目的：对电池包所有电芯整体加热效果评估，考察温度均匀性和加热策略的有效性</a:t>
            </a:r>
            <a:endParaRPr lang="en-US" altLang="zh-CN" dirty="0">
              <a:solidFill>
                <a:srgbClr val="003B90"/>
              </a:solidFill>
              <a:latin typeface="+mj-lt"/>
            </a:endParaRPr>
          </a:p>
          <a:p>
            <a:pPr>
              <a:spcBef>
                <a:spcPts val="600"/>
              </a:spcBef>
            </a:pPr>
            <a:r>
              <a:rPr lang="zh-CN" altLang="en-US" dirty="0">
                <a:solidFill>
                  <a:srgbClr val="003B90"/>
                </a:solidFill>
                <a:latin typeface="+mj-lt"/>
                <a:sym typeface="+mn-ea"/>
              </a:rPr>
              <a:t>所需设备：</a:t>
            </a:r>
            <a:r>
              <a:rPr lang="zh-CN" altLang="en-US" dirty="0">
                <a:solidFill>
                  <a:srgbClr val="003B90"/>
                </a:solidFill>
                <a:sym typeface="+mn-ea"/>
              </a:rPr>
              <a:t>可容纳整个电池包的大型低温环境舱、大功率直流充电桩、电池管理系统数据采集工具、遍布电池包内部关键位置（模组、电芯、极耳、箱体）的温度传感器</a:t>
            </a:r>
            <a:endParaRPr lang="en-US" altLang="zh-CN" dirty="0">
              <a:solidFill>
                <a:srgbClr val="003B90"/>
              </a:solidFill>
            </a:endParaRPr>
          </a:p>
          <a:p>
            <a:pPr>
              <a:spcBef>
                <a:spcPts val="600"/>
              </a:spcBef>
            </a:pPr>
            <a:r>
              <a:rPr lang="zh-CN" altLang="en-US" dirty="0">
                <a:solidFill>
                  <a:srgbClr val="003B90"/>
                </a:solidFill>
                <a:sym typeface="+mn-ea"/>
              </a:rPr>
              <a:t>测试项目：低温电池包达到目标温度所需的时间、能耗及各点温度曲线、温差；模拟低温启动和低温充电场景下脉冲加热速率和能耗以优化脉冲加热方案</a:t>
            </a:r>
            <a:endParaRPr lang="zh-CN" altLang="en-US">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sym typeface="+mn-ea"/>
              </a:rPr>
              <a:t>实验测试：</a:t>
            </a:r>
            <a:r>
              <a:rPr lang="en-US">
                <a:sym typeface="+mn-ea"/>
              </a:rPr>
              <a:t>5.</a:t>
            </a:r>
            <a:r>
              <a:rPr lang="zh-CN" altLang="en-US">
                <a:sym typeface="+mn-ea"/>
              </a:rPr>
              <a:t>系统级在线</a:t>
            </a:r>
            <a:r>
              <a:rPr lang="zh-CN" altLang="en-US">
                <a:sym typeface="+mn-ea"/>
              </a:rPr>
              <a:t>测试</a:t>
            </a:r>
            <a:endParaRPr lang="zh-CN" altLang="en-US">
              <a:sym typeface="+mn-ea"/>
            </a:endParaRPr>
          </a:p>
        </p:txBody>
      </p:sp>
      <p:sp>
        <p:nvSpPr>
          <p:cNvPr id="3" name="文本占位符 2"/>
          <p:cNvSpPr>
            <a:spLocks noGrp="1"/>
          </p:cNvSpPr>
          <p:nvPr>
            <p:ph type="body" sz="quarter" idx="14"/>
          </p:nvPr>
        </p:nvSpPr>
        <p:spPr>
          <a:xfrm>
            <a:off x="477520" y="1052830"/>
            <a:ext cx="11233150" cy="2637155"/>
          </a:xfrm>
        </p:spPr>
        <p:txBody>
          <a:bodyPr/>
          <a:p>
            <a:pPr algn="l">
              <a:spcBef>
                <a:spcPts val="600"/>
              </a:spcBef>
            </a:pPr>
            <a:r>
              <a:rPr lang="zh-CN" altLang="en-US" dirty="0">
                <a:solidFill>
                  <a:srgbClr val="003B90"/>
                </a:solidFill>
                <a:latin typeface="+mj-lt"/>
                <a:sym typeface="+mn-ea"/>
              </a:rPr>
              <a:t>实验对象：电池包</a:t>
            </a:r>
            <a:r>
              <a:rPr lang="en-US" altLang="zh-CN" dirty="0">
                <a:solidFill>
                  <a:srgbClr val="003B90"/>
                </a:solidFill>
                <a:latin typeface="+mj-lt"/>
                <a:sym typeface="+mn-ea"/>
              </a:rPr>
              <a:t>/</a:t>
            </a:r>
            <a:r>
              <a:rPr lang="zh-CN" altLang="en-US" dirty="0">
                <a:solidFill>
                  <a:srgbClr val="003B90"/>
                </a:solidFill>
                <a:latin typeface="+mj-lt"/>
                <a:sym typeface="+mn-ea"/>
              </a:rPr>
              <a:t>整车级</a:t>
            </a:r>
            <a:endParaRPr lang="en-US" altLang="zh-CN" dirty="0">
              <a:solidFill>
                <a:srgbClr val="003B90"/>
              </a:solidFill>
              <a:latin typeface="+mj-lt"/>
            </a:endParaRPr>
          </a:p>
          <a:p>
            <a:pPr algn="l">
              <a:spcBef>
                <a:spcPts val="600"/>
              </a:spcBef>
            </a:pPr>
            <a:r>
              <a:rPr lang="zh-CN" altLang="en-US" dirty="0">
                <a:solidFill>
                  <a:srgbClr val="003B90"/>
                </a:solidFill>
                <a:latin typeface="+mj-lt"/>
                <a:sym typeface="+mn-ea"/>
              </a:rPr>
              <a:t>实验目的：验证</a:t>
            </a:r>
            <a:r>
              <a:rPr lang="zh-CN" altLang="en-US" dirty="0">
                <a:solidFill>
                  <a:srgbClr val="003B90"/>
                </a:solidFill>
                <a:latin typeface="+mj-lt"/>
              </a:rPr>
              <a:t>电池脉冲加热仿真系统和加热</a:t>
            </a:r>
            <a:r>
              <a:rPr lang="zh-CN" altLang="en-US" dirty="0">
                <a:solidFill>
                  <a:srgbClr val="003B90"/>
                </a:solidFill>
                <a:latin typeface="+mj-lt"/>
              </a:rPr>
              <a:t>算法的可靠性</a:t>
            </a:r>
            <a:endParaRPr lang="en-US" altLang="zh-CN" dirty="0">
              <a:solidFill>
                <a:srgbClr val="003B90"/>
              </a:solidFill>
              <a:latin typeface="+mj-lt"/>
            </a:endParaRPr>
          </a:p>
          <a:p>
            <a:pPr>
              <a:spcBef>
                <a:spcPts val="600"/>
              </a:spcBef>
            </a:pPr>
            <a:r>
              <a:rPr lang="zh-CN" altLang="en-US" dirty="0">
                <a:solidFill>
                  <a:srgbClr val="003B90"/>
                </a:solidFill>
                <a:latin typeface="+mj-lt"/>
                <a:sym typeface="+mn-ea"/>
              </a:rPr>
              <a:t>所需设备：除</a:t>
            </a:r>
            <a:r>
              <a:rPr lang="en-US" altLang="zh-CN" dirty="0">
                <a:solidFill>
                  <a:srgbClr val="003B90"/>
                </a:solidFill>
                <a:latin typeface="+mj-lt"/>
                <a:sym typeface="+mn-ea"/>
              </a:rPr>
              <a:t>“</a:t>
            </a:r>
            <a:r>
              <a:rPr lang="en-US" altLang="zh-CN">
                <a:sym typeface="+mn-ea"/>
              </a:rPr>
              <a:t>4.</a:t>
            </a:r>
            <a:r>
              <a:rPr lang="zh-CN" altLang="en-US">
                <a:sym typeface="+mn-ea"/>
              </a:rPr>
              <a:t>电池包加热脉冲</a:t>
            </a:r>
            <a:r>
              <a:rPr lang="en-US" altLang="zh-CN">
                <a:sym typeface="+mn-ea"/>
              </a:rPr>
              <a:t>”</a:t>
            </a:r>
            <a:r>
              <a:rPr lang="zh-CN" altLang="en-US">
                <a:sym typeface="+mn-ea"/>
              </a:rPr>
              <a:t>中的设备还需有软硬件控制</a:t>
            </a:r>
            <a:endParaRPr lang="en-US" altLang="zh-CN" dirty="0">
              <a:solidFill>
                <a:srgbClr val="003B90"/>
              </a:solidFill>
            </a:endParaRPr>
          </a:p>
          <a:p>
            <a:pPr>
              <a:spcBef>
                <a:spcPts val="600"/>
              </a:spcBef>
            </a:pPr>
            <a:r>
              <a:rPr lang="zh-CN" altLang="en-US" dirty="0">
                <a:solidFill>
                  <a:srgbClr val="003B90"/>
                </a:solidFill>
                <a:sym typeface="+mn-ea"/>
              </a:rPr>
              <a:t>测试项目：同</a:t>
            </a:r>
            <a:r>
              <a:rPr lang="en-US" altLang="zh-CN" dirty="0">
                <a:solidFill>
                  <a:srgbClr val="003B90"/>
                </a:solidFill>
                <a:sym typeface="+mn-ea"/>
              </a:rPr>
              <a:t>“</a:t>
            </a:r>
            <a:r>
              <a:rPr lang="en-US" altLang="zh-CN">
                <a:sym typeface="+mn-ea"/>
              </a:rPr>
              <a:t>4.</a:t>
            </a:r>
            <a:r>
              <a:rPr lang="zh-CN" altLang="en-US">
                <a:sym typeface="+mn-ea"/>
              </a:rPr>
              <a:t>电池包加热脉冲</a:t>
            </a:r>
            <a:r>
              <a:rPr lang="en-US" altLang="zh-CN">
                <a:sym typeface="+mn-ea"/>
              </a:rPr>
              <a:t>”</a:t>
            </a:r>
            <a:endParaRPr lang="zh-CN" altLang="en-US" dirty="0">
              <a:solidFill>
                <a:srgbClr val="003B90"/>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pPr algn="l"/>
            <a:r>
              <a:rPr lang="zh-CN" altLang="en-US"/>
              <a:t>建模仿真：</a:t>
            </a:r>
            <a:r>
              <a:rPr lang="en-US" altLang="zh-CN"/>
              <a:t>1.</a:t>
            </a:r>
            <a:r>
              <a:rPr lang="zh-CN" altLang="en-US">
                <a:sym typeface="+mn-ea"/>
              </a:rPr>
              <a:t>电芯</a:t>
            </a:r>
            <a:r>
              <a:rPr lang="zh-CN" altLang="en-US">
                <a:sym typeface="+mn-ea"/>
              </a:rPr>
              <a:t>高精度电</a:t>
            </a:r>
            <a:r>
              <a:rPr lang="en-US" altLang="zh-CN">
                <a:sym typeface="+mn-ea"/>
              </a:rPr>
              <a:t>-</a:t>
            </a:r>
            <a:r>
              <a:rPr lang="zh-CN" altLang="en-US">
                <a:sym typeface="+mn-ea"/>
              </a:rPr>
              <a:t>热模型</a:t>
            </a:r>
            <a:endParaRPr lang="zh-CN" altLang="en-US"/>
          </a:p>
        </p:txBody>
      </p:sp>
      <p:sp>
        <p:nvSpPr>
          <p:cNvPr id="3" name="文本占位符 2"/>
          <p:cNvSpPr>
            <a:spLocks noGrp="1"/>
          </p:cNvSpPr>
          <p:nvPr>
            <p:ph type="body" sz="quarter" idx="14"/>
          </p:nvPr>
        </p:nvSpPr>
        <p:spPr>
          <a:xfrm>
            <a:off x="477520" y="1052830"/>
            <a:ext cx="11233150" cy="2088515"/>
          </a:xfrm>
        </p:spPr>
        <p:txBody>
          <a:bodyPr/>
          <a:p>
            <a:pPr>
              <a:buFont typeface="Wingdings" panose="05000000000000000000" charset="0"/>
              <a:buChar char="p"/>
            </a:pPr>
            <a:r>
              <a:rPr lang="zh-CN" altLang="en-US">
                <a:sym typeface="+mn-ea"/>
              </a:rPr>
              <a:t>模型</a:t>
            </a:r>
            <a:r>
              <a:rPr lang="zh-CN" altLang="en-US">
                <a:sym typeface="+mn-ea"/>
              </a:rPr>
              <a:t>特性：模拟电池低温下的电</a:t>
            </a:r>
            <a:r>
              <a:rPr lang="en-US" altLang="zh-CN">
                <a:sym typeface="+mn-ea"/>
              </a:rPr>
              <a:t>-</a:t>
            </a:r>
            <a:r>
              <a:rPr lang="zh-CN" altLang="en-US">
                <a:sym typeface="+mn-ea"/>
              </a:rPr>
              <a:t>热性能，电压</a:t>
            </a:r>
            <a:r>
              <a:rPr lang="zh-CN" altLang="en-US">
                <a:sym typeface="+mn-ea"/>
              </a:rPr>
              <a:t>和温度误差控制在</a:t>
            </a:r>
            <a:r>
              <a:rPr lang="en-US" altLang="zh-CN">
                <a:sym typeface="+mn-ea"/>
              </a:rPr>
              <a:t>5%</a:t>
            </a:r>
            <a:r>
              <a:rPr lang="zh-CN" altLang="en-US">
                <a:sym typeface="+mn-ea"/>
              </a:rPr>
              <a:t>以内。</a:t>
            </a:r>
            <a:endParaRPr lang="zh-CN" altLang="en-US">
              <a:sym typeface="+mn-ea"/>
            </a:endParaRPr>
          </a:p>
          <a:p>
            <a:pPr>
              <a:buFont typeface="Wingdings" panose="05000000000000000000" charset="0"/>
              <a:buChar char="p"/>
            </a:pPr>
            <a:r>
              <a:rPr lang="zh-CN" altLang="en-US">
                <a:sym typeface="+mn-ea"/>
              </a:rPr>
              <a:t>建模类型：电化学模型或高精度等效电路模型，耦合热模型。为方便后续仿真另建立</a:t>
            </a:r>
            <a:r>
              <a:rPr lang="zh-CN" altLang="en-US">
                <a:sym typeface="+mn-ea"/>
              </a:rPr>
              <a:t>简化模型。</a:t>
            </a:r>
            <a:endParaRPr lang="zh-CN" altLang="en-US">
              <a:sym typeface="+mn-ea"/>
            </a:endParaRPr>
          </a:p>
          <a:p>
            <a:pPr>
              <a:buFont typeface="Wingdings" panose="05000000000000000000" charset="0"/>
              <a:buChar char="p"/>
            </a:pPr>
            <a:r>
              <a:rPr lang="zh-CN" altLang="en-US">
                <a:sym typeface="+mn-ea"/>
              </a:rPr>
              <a:t>模型验证：根据</a:t>
            </a:r>
            <a:r>
              <a:rPr lang="en-US" altLang="zh-CN">
                <a:sym typeface="+mn-ea"/>
              </a:rPr>
              <a:t>“</a:t>
            </a:r>
            <a:r>
              <a:rPr lang="en-US" altLang="zh-CN">
                <a:sym typeface="+mn-ea"/>
              </a:rPr>
              <a:t>1.</a:t>
            </a:r>
            <a:r>
              <a:rPr lang="zh-CN" altLang="en-US">
                <a:sym typeface="+mn-ea"/>
              </a:rPr>
              <a:t>电芯低温性能</a:t>
            </a:r>
            <a:r>
              <a:rPr lang="en-US" altLang="zh-CN">
                <a:sym typeface="+mn-ea"/>
              </a:rPr>
              <a:t>”</a:t>
            </a:r>
            <a:r>
              <a:rPr lang="zh-CN" altLang="en-US">
                <a:sym typeface="+mn-ea"/>
              </a:rPr>
              <a:t>和</a:t>
            </a:r>
            <a:r>
              <a:rPr lang="en-US" altLang="zh-CN">
                <a:sym typeface="+mn-ea"/>
              </a:rPr>
              <a:t>“3.</a:t>
            </a:r>
            <a:r>
              <a:rPr lang="zh-CN" altLang="en-US">
                <a:sym typeface="+mn-ea"/>
              </a:rPr>
              <a:t>电芯加热脉冲</a:t>
            </a:r>
            <a:r>
              <a:rPr lang="en-US" altLang="zh-CN">
                <a:sym typeface="+mn-ea"/>
              </a:rPr>
              <a:t>”</a:t>
            </a:r>
            <a:r>
              <a:rPr lang="zh-CN" altLang="en-US">
                <a:sym typeface="+mn-ea"/>
              </a:rPr>
              <a:t>数据完成</a:t>
            </a:r>
            <a:r>
              <a:rPr lang="zh-CN" altLang="en-US">
                <a:sym typeface="+mn-ea"/>
              </a:rPr>
              <a:t>验证。</a:t>
            </a:r>
            <a:endParaRPr lang="zh-CN" altLang="en-US">
              <a:sym typeface="+mn-ea"/>
            </a:endParaRPr>
          </a:p>
          <a:p>
            <a:pPr>
              <a:buFont typeface="Wingdings" panose="05000000000000000000" charset="0"/>
              <a:buChar char="p"/>
            </a:pPr>
            <a:r>
              <a:rPr lang="zh-CN" altLang="en-US">
                <a:sym typeface="+mn-ea"/>
              </a:rPr>
              <a:t>模型用途：作为</a:t>
            </a:r>
            <a:r>
              <a:rPr lang="en-US" altLang="zh-CN">
                <a:sym typeface="+mn-ea"/>
              </a:rPr>
              <a:t>“2.</a:t>
            </a:r>
            <a:r>
              <a:rPr lang="zh-CN" altLang="en-US">
                <a:sym typeface="+mn-ea"/>
              </a:rPr>
              <a:t>电池包级三维热模型</a:t>
            </a:r>
            <a:r>
              <a:rPr lang="en-US" altLang="zh-CN">
                <a:sym typeface="+mn-ea"/>
              </a:rPr>
              <a:t>”</a:t>
            </a:r>
            <a:r>
              <a:rPr lang="zh-CN" altLang="en-US">
                <a:sym typeface="+mn-ea"/>
              </a:rPr>
              <a:t>中电池的产热输入；基于温升速率优化脉冲</a:t>
            </a:r>
            <a:r>
              <a:rPr lang="zh-CN" altLang="en-US">
                <a:sym typeface="+mn-ea"/>
              </a:rPr>
              <a:t>加热方案。</a:t>
            </a:r>
            <a:endParaRPr lang="zh-CN" altLang="en-US">
              <a:sym typeface="+mn-ea"/>
            </a:endParaRPr>
          </a:p>
          <a:p>
            <a:pPr>
              <a:buFont typeface="Wingdings" panose="05000000000000000000" charset="0"/>
              <a:buChar char="p"/>
            </a:pPr>
            <a:endParaRPr lang="zh-CN" altLang="en-U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pPr algn="l"/>
            <a:r>
              <a:rPr lang="zh-CN" altLang="en-US"/>
              <a:t>建模仿真：</a:t>
            </a:r>
            <a:r>
              <a:rPr lang="en-US" altLang="zh-CN"/>
              <a:t>2</a:t>
            </a:r>
            <a:r>
              <a:rPr lang="en-US" altLang="zh-CN"/>
              <a:t>.</a:t>
            </a:r>
            <a:r>
              <a:rPr lang="zh-CN" altLang="en-US">
                <a:sym typeface="+mn-ea"/>
              </a:rPr>
              <a:t>电池包</a:t>
            </a:r>
            <a:r>
              <a:rPr lang="zh-CN" altLang="en-US">
                <a:sym typeface="+mn-ea"/>
              </a:rPr>
              <a:t>级三维热模型</a:t>
            </a:r>
            <a:endParaRPr lang="zh-CN" altLang="en-US"/>
          </a:p>
        </p:txBody>
      </p:sp>
      <p:sp>
        <p:nvSpPr>
          <p:cNvPr id="3" name="文本占位符 2"/>
          <p:cNvSpPr>
            <a:spLocks noGrp="1"/>
          </p:cNvSpPr>
          <p:nvPr>
            <p:ph type="body" sz="quarter" idx="14"/>
          </p:nvPr>
        </p:nvSpPr>
        <p:spPr>
          <a:xfrm>
            <a:off x="477520" y="1052830"/>
            <a:ext cx="11233150" cy="2088515"/>
          </a:xfrm>
        </p:spPr>
        <p:txBody>
          <a:bodyPr/>
          <a:p>
            <a:pPr>
              <a:buFont typeface="Wingdings" panose="05000000000000000000" charset="0"/>
              <a:buChar char="p"/>
            </a:pPr>
            <a:r>
              <a:rPr lang="zh-CN" altLang="en-US">
                <a:sym typeface="+mn-ea"/>
              </a:rPr>
              <a:t>模型特性：模拟电池包尺度下的热性能和温度</a:t>
            </a:r>
            <a:r>
              <a:rPr lang="zh-CN" altLang="en-US">
                <a:sym typeface="+mn-ea"/>
              </a:rPr>
              <a:t>分布，误差控制在</a:t>
            </a:r>
            <a:r>
              <a:rPr lang="en-US" altLang="zh-CN">
                <a:sym typeface="+mn-ea"/>
              </a:rPr>
              <a:t>5</a:t>
            </a:r>
            <a:r>
              <a:rPr lang="en-US" altLang="zh-CN">
                <a:sym typeface="+mn-ea"/>
              </a:rPr>
              <a:t>%</a:t>
            </a:r>
            <a:r>
              <a:rPr lang="zh-CN" altLang="en-US">
                <a:sym typeface="+mn-ea"/>
              </a:rPr>
              <a:t>以内。</a:t>
            </a:r>
            <a:endParaRPr lang="zh-CN" altLang="en-US">
              <a:sym typeface="+mn-ea"/>
            </a:endParaRPr>
          </a:p>
          <a:p>
            <a:pPr>
              <a:buFont typeface="Wingdings" panose="05000000000000000000" charset="0"/>
              <a:buChar char="p"/>
            </a:pPr>
            <a:r>
              <a:rPr lang="zh-CN" altLang="en-US">
                <a:sym typeface="+mn-ea"/>
              </a:rPr>
              <a:t>建模类型：三维</a:t>
            </a:r>
            <a:r>
              <a:rPr lang="zh-CN" altLang="en-US">
                <a:sym typeface="+mn-ea"/>
              </a:rPr>
              <a:t>热模型。</a:t>
            </a:r>
            <a:endParaRPr lang="zh-CN" altLang="en-US">
              <a:sym typeface="+mn-ea"/>
            </a:endParaRPr>
          </a:p>
          <a:p>
            <a:pPr>
              <a:buFont typeface="Wingdings" panose="05000000000000000000" charset="0"/>
              <a:buChar char="p"/>
            </a:pPr>
            <a:r>
              <a:rPr lang="zh-CN" altLang="en-US">
                <a:sym typeface="+mn-ea"/>
              </a:rPr>
              <a:t>模型验证：根据</a:t>
            </a:r>
            <a:r>
              <a:rPr lang="en-US" altLang="zh-CN">
                <a:sym typeface="+mn-ea"/>
              </a:rPr>
              <a:t>“</a:t>
            </a:r>
            <a:r>
              <a:rPr lang="en-US" altLang="zh-CN">
                <a:sym typeface="+mn-ea"/>
              </a:rPr>
              <a:t>4.</a:t>
            </a:r>
            <a:r>
              <a:rPr lang="zh-CN" altLang="en-US">
                <a:sym typeface="+mn-ea"/>
              </a:rPr>
              <a:t>电池包加热脉冲</a:t>
            </a:r>
            <a:r>
              <a:rPr lang="en-US" altLang="zh-CN">
                <a:sym typeface="+mn-ea"/>
              </a:rPr>
              <a:t>”</a:t>
            </a:r>
            <a:r>
              <a:rPr lang="zh-CN" altLang="en-US">
                <a:sym typeface="+mn-ea"/>
              </a:rPr>
              <a:t>数据完成</a:t>
            </a:r>
            <a:r>
              <a:rPr lang="zh-CN" altLang="en-US">
                <a:sym typeface="+mn-ea"/>
              </a:rPr>
              <a:t>验证。</a:t>
            </a:r>
            <a:endParaRPr lang="zh-CN" altLang="en-US">
              <a:sym typeface="+mn-ea"/>
            </a:endParaRPr>
          </a:p>
          <a:p>
            <a:pPr>
              <a:buFont typeface="Wingdings" panose="05000000000000000000" charset="0"/>
              <a:buChar char="p"/>
            </a:pPr>
            <a:r>
              <a:rPr lang="zh-CN" altLang="en-US">
                <a:sym typeface="+mn-ea"/>
              </a:rPr>
              <a:t>模型用途：基于</a:t>
            </a:r>
            <a:r>
              <a:rPr lang="zh-CN" altLang="en-US">
                <a:sym typeface="+mn-ea"/>
              </a:rPr>
              <a:t>温升速率和温差</a:t>
            </a:r>
            <a:r>
              <a:rPr lang="zh-CN" altLang="en-US">
                <a:sym typeface="+mn-ea"/>
              </a:rPr>
              <a:t>评价脉冲加热方案的效果；优化电池包排布结构；后续用于验证脉冲加热算法的</a:t>
            </a:r>
            <a:r>
              <a:rPr lang="zh-CN" altLang="en-US">
                <a:sym typeface="+mn-ea"/>
              </a:rPr>
              <a:t>控制效果。</a:t>
            </a:r>
            <a:endParaRPr lang="zh-CN" altLang="en-US">
              <a:sym typeface="+mn-ea"/>
            </a:endParaRPr>
          </a:p>
          <a:p>
            <a:pPr>
              <a:buFont typeface="Wingdings" panose="05000000000000000000" charset="0"/>
              <a:buChar char="p"/>
            </a:pPr>
            <a:r>
              <a:rPr lang="zh-CN" altLang="en-US">
                <a:sym typeface="+mn-ea"/>
              </a:rPr>
              <a:t>阶段性成果：</a:t>
            </a:r>
            <a:r>
              <a:rPr lang="zh-CN" altLang="en-US">
                <a:sym typeface="+mn-ea"/>
              </a:rPr>
              <a:t>高效脉冲加热方案</a:t>
            </a:r>
            <a:endParaRPr lang="zh-CN" altLang="en-US"/>
          </a:p>
          <a:p>
            <a:pPr>
              <a:buFont typeface="Wingdings" panose="05000000000000000000" charset="0"/>
              <a:buChar char="p"/>
            </a:pPr>
            <a:endParaRPr lang="zh-CN" altLang="en-US">
              <a:sym typeface="+mn-ea"/>
            </a:endParaRPr>
          </a:p>
          <a:p>
            <a:pPr>
              <a:buFont typeface="Wingdings" panose="05000000000000000000" charset="0"/>
              <a:buChar char="p"/>
            </a:pPr>
            <a:endParaRPr lang="zh-CN" alt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2"/>
          <p:cNvSpPr>
            <a:spLocks noGrp="1"/>
          </p:cNvSpPr>
          <p:nvPr/>
        </p:nvSpPr>
        <p:spPr>
          <a:xfrm>
            <a:off x="477520" y="1052830"/>
            <a:ext cx="11233150" cy="2088515"/>
          </a:xfrm>
          <a:prstGeom prst="rect">
            <a:avLst/>
          </a:prstGeom>
        </p:spPr>
        <p:txBody>
          <a:bodyPr lIns="72886" tIns="36443" rIns="72886" bIns="36443" anchor="t" anchorCtr="0"/>
          <a:lstStyle>
            <a:lvl1pPr marL="342900" indent="-342900" algn="just" defTabSz="914400" rtl="0" eaLnBrk="1" latinLnBrk="0" hangingPunct="1">
              <a:lnSpc>
                <a:spcPct val="100000"/>
              </a:lnSpc>
              <a:spcBef>
                <a:spcPts val="600"/>
              </a:spcBef>
              <a:buFont typeface="Wingdings" panose="05000000000000000000" pitchFamily="2" charset="2"/>
              <a:buChar char="p"/>
              <a:defRPr sz="2000" b="0" kern="1200">
                <a:solidFill>
                  <a:srgbClr val="152A8C"/>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p"/>
            </a:pPr>
            <a:r>
              <a:rPr lang="zh-CN" altLang="en-US">
                <a:sym typeface="+mn-ea"/>
              </a:rPr>
              <a:t>模型特性：模拟</a:t>
            </a:r>
            <a:r>
              <a:rPr lang="zh-CN" altLang="en-US">
                <a:sym typeface="+mn-ea"/>
              </a:rPr>
              <a:t>系统</a:t>
            </a:r>
            <a:r>
              <a:rPr lang="zh-CN" altLang="en-US">
                <a:sym typeface="+mn-ea"/>
              </a:rPr>
              <a:t>尺度下的电</a:t>
            </a:r>
            <a:r>
              <a:rPr lang="en-US" altLang="zh-CN">
                <a:sym typeface="+mn-ea"/>
              </a:rPr>
              <a:t>-</a:t>
            </a:r>
            <a:r>
              <a:rPr lang="zh-CN" altLang="en-US">
                <a:sym typeface="+mn-ea"/>
              </a:rPr>
              <a:t>热性能，误差控制在</a:t>
            </a:r>
            <a:r>
              <a:rPr lang="en-US" altLang="zh-CN">
                <a:sym typeface="+mn-ea"/>
              </a:rPr>
              <a:t>5</a:t>
            </a:r>
            <a:r>
              <a:rPr lang="en-US" altLang="zh-CN">
                <a:sym typeface="+mn-ea"/>
              </a:rPr>
              <a:t>%</a:t>
            </a:r>
            <a:r>
              <a:rPr lang="zh-CN" altLang="en-US">
                <a:sym typeface="+mn-ea"/>
              </a:rPr>
              <a:t>以内。</a:t>
            </a:r>
            <a:endParaRPr lang="zh-CN" altLang="en-US">
              <a:sym typeface="+mn-ea"/>
            </a:endParaRPr>
          </a:p>
          <a:p>
            <a:pPr>
              <a:buFont typeface="Wingdings" panose="05000000000000000000" charset="0"/>
              <a:buChar char="p"/>
            </a:pPr>
            <a:r>
              <a:rPr lang="zh-CN" altLang="en-US">
                <a:sym typeface="+mn-ea"/>
              </a:rPr>
              <a:t>建模类型：</a:t>
            </a:r>
            <a:r>
              <a:rPr lang="en-US" altLang="zh-CN">
                <a:sym typeface="+mn-ea"/>
              </a:rPr>
              <a:t>simulink</a:t>
            </a:r>
            <a:r>
              <a:rPr lang="zh-CN" altLang="en-US">
                <a:sym typeface="+mn-ea"/>
              </a:rPr>
              <a:t>模型。</a:t>
            </a:r>
            <a:endParaRPr lang="zh-CN" altLang="en-US">
              <a:sym typeface="+mn-ea"/>
            </a:endParaRPr>
          </a:p>
          <a:p>
            <a:pPr>
              <a:buFont typeface="Wingdings" panose="05000000000000000000" charset="0"/>
              <a:buChar char="p"/>
            </a:pPr>
            <a:r>
              <a:rPr lang="zh-CN" altLang="en-US">
                <a:sym typeface="+mn-ea"/>
              </a:rPr>
              <a:t>模型验证：根据</a:t>
            </a:r>
            <a:r>
              <a:rPr lang="en-US" altLang="zh-CN">
                <a:sym typeface="+mn-ea"/>
              </a:rPr>
              <a:t>“</a:t>
            </a:r>
            <a:r>
              <a:rPr lang="en-US" altLang="zh-CN">
                <a:sym typeface="+mn-ea"/>
              </a:rPr>
              <a:t>1.</a:t>
            </a:r>
            <a:r>
              <a:rPr lang="zh-CN" altLang="en-US">
                <a:sym typeface="+mn-ea"/>
              </a:rPr>
              <a:t>电芯高精度电</a:t>
            </a:r>
            <a:r>
              <a:rPr lang="en-US" altLang="zh-CN">
                <a:sym typeface="+mn-ea"/>
              </a:rPr>
              <a:t>-</a:t>
            </a:r>
            <a:r>
              <a:rPr lang="zh-CN" altLang="en-US">
                <a:sym typeface="+mn-ea"/>
              </a:rPr>
              <a:t>热模型</a:t>
            </a:r>
            <a:r>
              <a:rPr lang="en-US" altLang="zh-CN">
                <a:sym typeface="+mn-ea"/>
              </a:rPr>
              <a:t>”</a:t>
            </a:r>
            <a:r>
              <a:rPr lang="zh-CN" altLang="en-US">
                <a:sym typeface="+mn-ea"/>
              </a:rPr>
              <a:t>和</a:t>
            </a:r>
            <a:r>
              <a:rPr lang="en-US" altLang="zh-CN">
                <a:sym typeface="+mn-ea"/>
              </a:rPr>
              <a:t>“</a:t>
            </a:r>
            <a:r>
              <a:rPr lang="en-US" altLang="zh-CN">
                <a:sym typeface="+mn-ea"/>
              </a:rPr>
              <a:t>2.</a:t>
            </a:r>
            <a:r>
              <a:rPr lang="zh-CN" altLang="en-US">
                <a:sym typeface="+mn-ea"/>
              </a:rPr>
              <a:t>电池包级三维热模型</a:t>
            </a:r>
            <a:r>
              <a:rPr lang="en-US" altLang="zh-CN">
                <a:sym typeface="+mn-ea"/>
              </a:rPr>
              <a:t>”</a:t>
            </a:r>
            <a:r>
              <a:rPr lang="zh-CN" altLang="en-US">
                <a:sym typeface="+mn-ea"/>
              </a:rPr>
              <a:t>完成</a:t>
            </a:r>
            <a:r>
              <a:rPr lang="zh-CN" altLang="en-US">
                <a:sym typeface="+mn-ea"/>
              </a:rPr>
              <a:t>验证。</a:t>
            </a:r>
            <a:endParaRPr lang="zh-CN" altLang="en-US">
              <a:sym typeface="+mn-ea"/>
            </a:endParaRPr>
          </a:p>
          <a:p>
            <a:pPr>
              <a:buFont typeface="Wingdings" panose="05000000000000000000" charset="0"/>
              <a:buChar char="p"/>
            </a:pPr>
            <a:r>
              <a:rPr lang="zh-CN" altLang="en-US">
                <a:sym typeface="+mn-ea"/>
              </a:rPr>
              <a:t>模型用途：脉冲加热策略快速设计；自适应调整脉冲电流算法开发；向完整系统模型</a:t>
            </a:r>
            <a:r>
              <a:rPr lang="zh-CN" altLang="en-US">
                <a:sym typeface="+mn-ea"/>
              </a:rPr>
              <a:t>过渡。</a:t>
            </a:r>
            <a:endParaRPr lang="zh-CN" altLang="en-US">
              <a:sym typeface="+mn-ea"/>
            </a:endParaRPr>
          </a:p>
          <a:p>
            <a:pPr>
              <a:buFont typeface="Wingdings" panose="05000000000000000000" charset="0"/>
              <a:buChar char="p"/>
            </a:pPr>
            <a:r>
              <a:rPr lang="zh-CN" altLang="en-US">
                <a:sym typeface="+mn-ea"/>
              </a:rPr>
              <a:t>阶段性成果：</a:t>
            </a:r>
            <a:r>
              <a:rPr lang="zh-CN" altLang="en-US">
                <a:sym typeface="+mn-ea"/>
              </a:rPr>
              <a:t>脉冲加热</a:t>
            </a:r>
            <a:r>
              <a:rPr lang="zh-CN" altLang="en-US">
                <a:sym typeface="+mn-ea"/>
              </a:rPr>
              <a:t>自主控制算法</a:t>
            </a:r>
            <a:endParaRPr lang="zh-CN" altLang="en-US">
              <a:sym typeface="+mn-ea"/>
            </a:endParaRPr>
          </a:p>
        </p:txBody>
      </p:sp>
      <p:sp>
        <p:nvSpPr>
          <p:cNvPr id="2" name="文本占位符 1"/>
          <p:cNvSpPr>
            <a:spLocks noGrp="1"/>
          </p:cNvSpPr>
          <p:nvPr>
            <p:ph type="body" sz="quarter" idx="12"/>
          </p:nvPr>
        </p:nvSpPr>
        <p:spPr/>
        <p:txBody>
          <a:bodyPr/>
          <a:p>
            <a:pPr algn="l"/>
            <a:r>
              <a:rPr lang="zh-CN" altLang="en-US">
                <a:sym typeface="+mn-ea"/>
              </a:rPr>
              <a:t>建模仿真：</a:t>
            </a:r>
            <a:r>
              <a:rPr lang="en-US" altLang="zh-CN">
                <a:sym typeface="+mn-ea"/>
              </a:rPr>
              <a:t>3.</a:t>
            </a:r>
            <a:r>
              <a:rPr lang="zh-CN" altLang="en-US">
                <a:sym typeface="+mn-ea"/>
              </a:rPr>
              <a:t>系统级低维电</a:t>
            </a:r>
            <a:r>
              <a:rPr lang="en-US" altLang="zh-CN">
                <a:sym typeface="+mn-ea"/>
              </a:rPr>
              <a:t>-</a:t>
            </a:r>
            <a:r>
              <a:rPr lang="zh-CN" altLang="en-US">
                <a:sym typeface="+mn-ea"/>
              </a:rPr>
              <a:t>热模型</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2"/>
          <p:cNvSpPr>
            <a:spLocks noGrp="1"/>
          </p:cNvSpPr>
          <p:nvPr/>
        </p:nvSpPr>
        <p:spPr>
          <a:xfrm>
            <a:off x="477520" y="1052830"/>
            <a:ext cx="11233150" cy="2088515"/>
          </a:xfrm>
          <a:prstGeom prst="rect">
            <a:avLst/>
          </a:prstGeom>
        </p:spPr>
        <p:txBody>
          <a:bodyPr lIns="72886" tIns="36443" rIns="72886" bIns="36443" anchor="t" anchorCtr="0"/>
          <a:lstStyle>
            <a:lvl1pPr marL="342900" indent="-342900" algn="just" defTabSz="914400" rtl="0" eaLnBrk="1" latinLnBrk="0" hangingPunct="1">
              <a:lnSpc>
                <a:spcPct val="100000"/>
              </a:lnSpc>
              <a:spcBef>
                <a:spcPts val="600"/>
              </a:spcBef>
              <a:buFont typeface="Wingdings" panose="05000000000000000000" pitchFamily="2" charset="2"/>
              <a:buChar char="p"/>
              <a:defRPr sz="2000" b="0" kern="1200">
                <a:solidFill>
                  <a:srgbClr val="152A8C"/>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p"/>
            </a:pPr>
            <a:r>
              <a:rPr lang="zh-CN" altLang="en-US">
                <a:sym typeface="+mn-ea"/>
              </a:rPr>
              <a:t>模型特性：包含</a:t>
            </a:r>
            <a:r>
              <a:rPr lang="zh-CN" altLang="en-US">
                <a:sym typeface="+mn-ea"/>
              </a:rPr>
              <a:t>加热控制</a:t>
            </a:r>
            <a:r>
              <a:rPr lang="zh-CN" altLang="en-US">
                <a:sym typeface="+mn-ea"/>
              </a:rPr>
              <a:t>策略，反映整车</a:t>
            </a:r>
            <a:r>
              <a:rPr lang="zh-CN" altLang="en-US">
                <a:sym typeface="+mn-ea"/>
              </a:rPr>
              <a:t>电池组拓扑结构，</a:t>
            </a:r>
            <a:r>
              <a:rPr lang="zh-CN" altLang="en-US">
                <a:sym typeface="+mn-ea"/>
              </a:rPr>
              <a:t>模拟</a:t>
            </a:r>
            <a:r>
              <a:rPr lang="zh-CN" altLang="en-US">
                <a:sym typeface="+mn-ea"/>
              </a:rPr>
              <a:t>系统</a:t>
            </a:r>
            <a:r>
              <a:rPr lang="zh-CN" altLang="en-US">
                <a:sym typeface="+mn-ea"/>
              </a:rPr>
              <a:t>尺度下的电</a:t>
            </a:r>
            <a:r>
              <a:rPr lang="en-US" altLang="zh-CN">
                <a:sym typeface="+mn-ea"/>
              </a:rPr>
              <a:t>-</a:t>
            </a:r>
            <a:r>
              <a:rPr lang="zh-CN" altLang="en-US">
                <a:sym typeface="+mn-ea"/>
              </a:rPr>
              <a:t>热性能。</a:t>
            </a:r>
            <a:endParaRPr lang="zh-CN" altLang="en-US">
              <a:sym typeface="+mn-ea"/>
            </a:endParaRPr>
          </a:p>
          <a:p>
            <a:pPr>
              <a:buFont typeface="Wingdings" panose="05000000000000000000" charset="0"/>
              <a:buChar char="p"/>
            </a:pPr>
            <a:r>
              <a:rPr lang="zh-CN" altLang="en-US">
                <a:sym typeface="+mn-ea"/>
              </a:rPr>
              <a:t>建模类型：低维模型。</a:t>
            </a:r>
            <a:endParaRPr lang="zh-CN" altLang="en-US">
              <a:sym typeface="+mn-ea"/>
            </a:endParaRPr>
          </a:p>
          <a:p>
            <a:pPr>
              <a:buFont typeface="Wingdings" panose="05000000000000000000" charset="0"/>
              <a:buChar char="p"/>
            </a:pPr>
            <a:r>
              <a:rPr lang="zh-CN" altLang="en-US">
                <a:sym typeface="+mn-ea"/>
              </a:rPr>
              <a:t>模型验证：整车</a:t>
            </a:r>
            <a:r>
              <a:rPr lang="zh-CN" altLang="en-US">
                <a:sym typeface="+mn-ea"/>
              </a:rPr>
              <a:t>级验证。</a:t>
            </a:r>
            <a:endParaRPr lang="zh-CN" altLang="en-US">
              <a:sym typeface="+mn-ea"/>
            </a:endParaRPr>
          </a:p>
          <a:p>
            <a:pPr>
              <a:buFont typeface="Wingdings" panose="05000000000000000000" charset="0"/>
              <a:buChar char="p"/>
            </a:pPr>
            <a:r>
              <a:rPr lang="zh-CN" altLang="en-US">
                <a:sym typeface="+mn-ea"/>
              </a:rPr>
              <a:t>模型用途：支撑电池组拓扑结构设计；向</a:t>
            </a:r>
            <a:r>
              <a:rPr lang="en-US" altLang="zh-CN">
                <a:sym typeface="+mn-ea"/>
              </a:rPr>
              <a:t>BMS</a:t>
            </a:r>
            <a:r>
              <a:rPr lang="zh-CN" altLang="en-US">
                <a:sym typeface="+mn-ea"/>
              </a:rPr>
              <a:t>和整车</a:t>
            </a:r>
            <a:r>
              <a:rPr lang="zh-CN" altLang="en-US">
                <a:sym typeface="+mn-ea"/>
              </a:rPr>
              <a:t>相关应用</a:t>
            </a:r>
            <a:r>
              <a:rPr lang="zh-CN" altLang="en-US">
                <a:sym typeface="+mn-ea"/>
              </a:rPr>
              <a:t>迁移。</a:t>
            </a:r>
            <a:endParaRPr lang="zh-CN" altLang="en-US">
              <a:sym typeface="+mn-ea"/>
            </a:endParaRPr>
          </a:p>
          <a:p>
            <a:pPr>
              <a:buFont typeface="Wingdings" panose="05000000000000000000" charset="0"/>
              <a:buChar char="p"/>
            </a:pPr>
            <a:r>
              <a:rPr lang="zh-CN" altLang="en-US">
                <a:sym typeface="+mn-ea"/>
              </a:rPr>
              <a:t>阶段性成果：多支路脉冲加热专</a:t>
            </a:r>
            <a:r>
              <a:rPr lang="zh-CN" altLang="en-US">
                <a:sym typeface="+mn-ea"/>
              </a:rPr>
              <a:t>有拓扑结构，整车级</a:t>
            </a:r>
            <a:r>
              <a:rPr lang="zh-CN" altLang="en-US">
                <a:sym typeface="+mn-ea"/>
              </a:rPr>
              <a:t>脉冲加热系统</a:t>
            </a:r>
            <a:r>
              <a:rPr lang="zh-CN" altLang="en-US">
                <a:sym typeface="+mn-ea"/>
              </a:rPr>
              <a:t>模型。</a:t>
            </a:r>
            <a:endParaRPr lang="zh-CN" altLang="en-US">
              <a:sym typeface="+mn-ea"/>
            </a:endParaRPr>
          </a:p>
          <a:p>
            <a:pPr>
              <a:buFont typeface="Wingdings" panose="05000000000000000000" charset="0"/>
              <a:buChar char="p"/>
            </a:pPr>
            <a:endParaRPr lang="zh-CN" altLang="en-US">
              <a:sym typeface="+mn-ea"/>
            </a:endParaRPr>
          </a:p>
        </p:txBody>
      </p:sp>
      <p:sp>
        <p:nvSpPr>
          <p:cNvPr id="2" name="文本占位符 1"/>
          <p:cNvSpPr>
            <a:spLocks noGrp="1"/>
          </p:cNvSpPr>
          <p:nvPr>
            <p:ph type="body" sz="quarter" idx="12"/>
          </p:nvPr>
        </p:nvSpPr>
        <p:spPr/>
        <p:txBody>
          <a:bodyPr/>
          <a:p>
            <a:pPr algn="l"/>
            <a:r>
              <a:rPr lang="zh-CN" altLang="en-US">
                <a:sym typeface="+mn-ea"/>
              </a:rPr>
              <a:t>建模仿真：</a:t>
            </a:r>
            <a:r>
              <a:rPr lang="en-US" altLang="zh-CN"/>
              <a:t>4.</a:t>
            </a:r>
            <a:r>
              <a:rPr lang="zh-CN" altLang="en-US"/>
              <a:t>电池脉冲加热仿真系统</a:t>
            </a:r>
            <a:r>
              <a:rPr lang="en-US" altLang="zh-CN"/>
              <a:t> </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策略设计</a:t>
            </a:r>
            <a:endParaRPr lang="en-US" altLang="zh-CN"/>
          </a:p>
        </p:txBody>
      </p:sp>
      <p:sp>
        <p:nvSpPr>
          <p:cNvPr id="3" name="文本占位符 2"/>
          <p:cNvSpPr>
            <a:spLocks noGrp="1"/>
          </p:cNvSpPr>
          <p:nvPr>
            <p:ph type="body" sz="quarter" idx="14"/>
          </p:nvPr>
        </p:nvSpPr>
        <p:spPr/>
        <p:txBody>
          <a:bodyPr/>
          <a:p>
            <a:r>
              <a:rPr lang="en-US" altLang="zh-CN">
                <a:sym typeface="+mn-ea"/>
              </a:rPr>
              <a:t>1.</a:t>
            </a:r>
            <a:r>
              <a:rPr lang="zh-CN" altLang="en-US">
                <a:sym typeface="+mn-ea"/>
              </a:rPr>
              <a:t>高效脉冲加热方案：</a:t>
            </a:r>
            <a:r>
              <a:rPr lang="zh-CN" altLang="en-US">
                <a:solidFill>
                  <a:srgbClr val="152A8C"/>
                </a:solidFill>
                <a:sym typeface="+mn-ea"/>
              </a:rPr>
              <a:t>基于</a:t>
            </a:r>
            <a:r>
              <a:rPr lang="zh-CN" altLang="en-US">
                <a:solidFill>
                  <a:srgbClr val="152A8C"/>
                </a:solidFill>
                <a:sym typeface="+mn-ea"/>
              </a:rPr>
              <a:t>电芯</a:t>
            </a:r>
            <a:r>
              <a:rPr lang="en-US" altLang="zh-CN">
                <a:solidFill>
                  <a:srgbClr val="152A8C"/>
                </a:solidFill>
                <a:sym typeface="+mn-ea"/>
              </a:rPr>
              <a:t>/</a:t>
            </a:r>
            <a:r>
              <a:rPr lang="zh-CN" altLang="en-US">
                <a:solidFill>
                  <a:srgbClr val="152A8C"/>
                </a:solidFill>
                <a:sym typeface="+mn-ea"/>
              </a:rPr>
              <a:t>电池包模型的脉冲加热性能仿真，综合考虑温升速率和温差。</a:t>
            </a:r>
            <a:endParaRPr lang="zh-CN" altLang="en-US">
              <a:solidFill>
                <a:schemeClr val="tx1"/>
              </a:solidFill>
            </a:endParaRPr>
          </a:p>
          <a:p>
            <a:r>
              <a:rPr lang="en-US" altLang="zh-CN"/>
              <a:t>2.</a:t>
            </a:r>
            <a:r>
              <a:rPr lang="zh-CN" altLang="en-US"/>
              <a:t>脉冲加热自主控制算法：</a:t>
            </a:r>
            <a:r>
              <a:rPr lang="zh-CN" altLang="en-US">
                <a:sym typeface="+mn-ea"/>
              </a:rPr>
              <a:t>基于</a:t>
            </a:r>
            <a:r>
              <a:rPr lang="zh-CN" altLang="en-US"/>
              <a:t>系统级电</a:t>
            </a:r>
            <a:r>
              <a:rPr lang="en-US" altLang="zh-CN"/>
              <a:t>-</a:t>
            </a:r>
            <a:r>
              <a:rPr lang="zh-CN" altLang="en-US"/>
              <a:t>热模型，确定加热</a:t>
            </a:r>
            <a:r>
              <a:rPr lang="zh-CN" altLang="en-US"/>
              <a:t>流程，编写算法；</a:t>
            </a:r>
            <a:endParaRPr lang="zh-CN" altLang="en-US"/>
          </a:p>
          <a:p>
            <a:r>
              <a:rPr lang="en-US" altLang="zh-CN">
                <a:sym typeface="+mn-ea"/>
              </a:rPr>
              <a:t>3.</a:t>
            </a:r>
            <a:r>
              <a:rPr lang="zh-CN" altLang="en-US">
                <a:sym typeface="+mn-ea"/>
              </a:rPr>
              <a:t>多支路脉冲加热专有拓扑结构：基于</a:t>
            </a:r>
            <a:r>
              <a:rPr lang="zh-CN" altLang="en-US">
                <a:sym typeface="+mn-ea"/>
              </a:rPr>
              <a:t>电池脉冲加热仿真系统和系统级在线测试</a:t>
            </a:r>
            <a:r>
              <a:rPr lang="zh-CN" altLang="en-US">
                <a:sym typeface="+mn-ea"/>
              </a:rPr>
              <a:t>优化。</a:t>
            </a:r>
            <a:endParaRPr lang="zh-CN" altLang="en-US">
              <a:sym typeface="+mn-ea"/>
            </a:endParaRPr>
          </a:p>
          <a:p>
            <a:r>
              <a:rPr lang="en-US" altLang="zh-CN">
                <a:sym typeface="+mn-ea"/>
              </a:rPr>
              <a:t>4.</a:t>
            </a:r>
            <a:r>
              <a:rPr lang="zh-CN" altLang="en-US">
                <a:sym typeface="+mn-ea"/>
              </a:rPr>
              <a:t>整车级脉冲加热系统模型：</a:t>
            </a:r>
            <a:r>
              <a:rPr lang="zh-CN" altLang="en-US">
                <a:sym typeface="+mn-ea"/>
              </a:rPr>
              <a:t>整合上述内容，向整车应用迁移。</a:t>
            </a:r>
            <a:endParaRPr lang="zh-CN" altLang="en-US">
              <a:sym typeface="+mn-ea"/>
            </a:endParaRPr>
          </a:p>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2"/>
          </p:nvPr>
        </p:nvSpPr>
        <p:spPr/>
        <p:txBody>
          <a:bodyPr/>
          <a:p>
            <a:r>
              <a:rPr lang="zh-CN" altLang="en-US"/>
              <a:t>总结</a:t>
            </a:r>
            <a:endParaRPr lang="en-US" altLang="zh-CN"/>
          </a:p>
        </p:txBody>
      </p:sp>
      <p:graphicFrame>
        <p:nvGraphicFramePr>
          <p:cNvPr id="4" name="表格 3"/>
          <p:cNvGraphicFramePr/>
          <p:nvPr/>
        </p:nvGraphicFramePr>
        <p:xfrm>
          <a:off x="1991360" y="1628775"/>
          <a:ext cx="8533130" cy="3931920"/>
        </p:xfrm>
        <a:graphic>
          <a:graphicData uri="http://schemas.openxmlformats.org/drawingml/2006/table">
            <a:tbl>
              <a:tblPr firstRow="1" bandRow="1">
                <a:tableStyleId>{5C22544A-7EE6-4342-B048-85BDC9FD1C3A}</a:tableStyleId>
              </a:tblPr>
              <a:tblGrid>
                <a:gridCol w="1470211"/>
                <a:gridCol w="3243580"/>
                <a:gridCol w="2275892"/>
                <a:gridCol w="1543447"/>
              </a:tblGrid>
              <a:tr h="365760">
                <a:tc>
                  <a:txBody>
                    <a:bodyPr/>
                    <a:p>
                      <a:pPr algn="ctr">
                        <a:buNone/>
                      </a:pPr>
                      <a:r>
                        <a:rPr lang="zh-CN" altLang="en-US" sz="1600" b="1">
                          <a:solidFill>
                            <a:srgbClr val="152A8C"/>
                          </a:solidFill>
                        </a:rPr>
                        <a:t>研究流程</a:t>
                      </a:r>
                      <a:endParaRPr lang="zh-CN" altLang="en-US" sz="1600" b="1">
                        <a:solidFill>
                          <a:srgbClr val="152A8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1600" b="1">
                          <a:solidFill>
                            <a:srgbClr val="152A8C"/>
                          </a:solidFill>
                          <a:sym typeface="+mn-ea"/>
                        </a:rPr>
                        <a:t>研究内容</a:t>
                      </a:r>
                      <a:endParaRPr lang="zh-CN" altLang="en-US" sz="1600" b="1">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gridSpan="2">
                  <a:txBody>
                    <a:bodyPr/>
                    <a:p>
                      <a:pPr>
                        <a:buNone/>
                      </a:pPr>
                      <a:r>
                        <a:rPr lang="zh-CN" altLang="en-US" sz="1600" b="1">
                          <a:solidFill>
                            <a:srgbClr val="152A8C"/>
                          </a:solidFill>
                          <a:sym typeface="+mn-ea"/>
                        </a:rPr>
                        <a:t>备注</a:t>
                      </a:r>
                      <a:endParaRPr lang="zh-CN" altLang="en-US" sz="1600" b="1">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188720">
                <a:tc>
                  <a:txBody>
                    <a:bodyPr/>
                    <a:p>
                      <a:pPr algn="ctr">
                        <a:buNone/>
                      </a:pPr>
                      <a:r>
                        <a:rPr lang="zh-CN" altLang="en-US" sz="1600" b="1">
                          <a:solidFill>
                            <a:srgbClr val="152A8C"/>
                          </a:solidFill>
                        </a:rPr>
                        <a:t>实验</a:t>
                      </a:r>
                      <a:endParaRPr lang="zh-CN" altLang="en-US" sz="1600" b="1">
                        <a:solidFill>
                          <a:srgbClr val="152A8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1600" b="0">
                          <a:solidFill>
                            <a:srgbClr val="152A8C"/>
                          </a:solidFill>
                          <a:sym typeface="+mn-ea"/>
                        </a:rPr>
                        <a:t>1.</a:t>
                      </a:r>
                      <a:r>
                        <a:rPr lang="zh-CN" altLang="en-US" sz="1600" b="0">
                          <a:solidFill>
                            <a:srgbClr val="152A8C"/>
                          </a:solidFill>
                          <a:sym typeface="+mn-ea"/>
                        </a:rPr>
                        <a:t>电芯低温性能；</a:t>
                      </a:r>
                      <a:endParaRPr lang="zh-CN" altLang="en-US" sz="1600" b="0">
                        <a:solidFill>
                          <a:srgbClr val="152A8C"/>
                        </a:solidFill>
                        <a:sym typeface="+mn-ea"/>
                      </a:endParaRPr>
                    </a:p>
                    <a:p>
                      <a:pPr>
                        <a:buNone/>
                      </a:pPr>
                      <a:r>
                        <a:rPr lang="en-US" altLang="zh-CN" sz="1600" b="0">
                          <a:solidFill>
                            <a:srgbClr val="152A8C"/>
                          </a:solidFill>
                          <a:sym typeface="+mn-ea"/>
                        </a:rPr>
                        <a:t>2.</a:t>
                      </a:r>
                      <a:r>
                        <a:rPr lang="zh-CN" altLang="en-US" sz="1600" b="0">
                          <a:solidFill>
                            <a:srgbClr val="152A8C"/>
                          </a:solidFill>
                          <a:sym typeface="+mn-ea"/>
                        </a:rPr>
                        <a:t>电芯拆解；</a:t>
                      </a:r>
                      <a:endParaRPr lang="zh-CN" altLang="en-US" sz="1600" b="0">
                        <a:solidFill>
                          <a:srgbClr val="152A8C"/>
                        </a:solidFill>
                        <a:sym typeface="+mn-ea"/>
                      </a:endParaRPr>
                    </a:p>
                    <a:p>
                      <a:pPr>
                        <a:buNone/>
                      </a:pPr>
                      <a:r>
                        <a:rPr lang="en-US" altLang="zh-CN" sz="1600" b="0">
                          <a:solidFill>
                            <a:srgbClr val="152A8C"/>
                          </a:solidFill>
                          <a:sym typeface="+mn-ea"/>
                        </a:rPr>
                        <a:t>3.</a:t>
                      </a:r>
                      <a:r>
                        <a:rPr lang="zh-CN" altLang="en-US" sz="1600" b="0">
                          <a:solidFill>
                            <a:srgbClr val="152A8C"/>
                          </a:solidFill>
                          <a:sym typeface="+mn-ea"/>
                        </a:rPr>
                        <a:t>电芯加热脉冲；</a:t>
                      </a:r>
                      <a:endParaRPr lang="en-US" altLang="zh-CN" sz="1600" b="0">
                        <a:solidFill>
                          <a:srgbClr val="152A8C"/>
                        </a:solidFill>
                      </a:endParaRPr>
                    </a:p>
                    <a:p>
                      <a:pPr>
                        <a:buNone/>
                      </a:pPr>
                      <a:r>
                        <a:rPr lang="en-US" altLang="zh-CN" sz="1600" b="0">
                          <a:solidFill>
                            <a:srgbClr val="152A8C"/>
                          </a:solidFill>
                          <a:sym typeface="+mn-ea"/>
                        </a:rPr>
                        <a:t>4.</a:t>
                      </a:r>
                      <a:r>
                        <a:rPr lang="zh-CN" altLang="en-US" sz="1600" b="0">
                          <a:solidFill>
                            <a:srgbClr val="152A8C"/>
                          </a:solidFill>
                          <a:sym typeface="+mn-ea"/>
                        </a:rPr>
                        <a:t>电池包加热脉冲；</a:t>
                      </a:r>
                      <a:endParaRPr lang="zh-CN" altLang="en-US" sz="1600" b="0">
                        <a:solidFill>
                          <a:srgbClr val="152A8C"/>
                        </a:solidFill>
                        <a:sym typeface="+mn-ea"/>
                      </a:endParaRPr>
                    </a:p>
                    <a:p>
                      <a:pPr>
                        <a:buNone/>
                      </a:pPr>
                      <a:r>
                        <a:rPr lang="en-US" altLang="zh-CN" sz="1600" b="0">
                          <a:solidFill>
                            <a:srgbClr val="152A8C"/>
                          </a:solidFill>
                          <a:sym typeface="+mn-ea"/>
                        </a:rPr>
                        <a:t>5.</a:t>
                      </a:r>
                      <a:r>
                        <a:rPr lang="zh-CN" altLang="en-US" sz="1600" b="0">
                          <a:solidFill>
                            <a:srgbClr val="152A8C"/>
                          </a:solidFill>
                          <a:sym typeface="+mn-ea"/>
                        </a:rPr>
                        <a:t>系统级</a:t>
                      </a:r>
                      <a:r>
                        <a:rPr lang="zh-CN" altLang="en-US" sz="1600" b="0">
                          <a:solidFill>
                            <a:srgbClr val="152A8C"/>
                          </a:solidFill>
                          <a:sym typeface="+mn-ea"/>
                        </a:rPr>
                        <a:t>测试</a:t>
                      </a:r>
                      <a:endParaRPr lang="zh-CN" altLang="en-US" sz="1600" b="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1600" b="0">
                          <a:solidFill>
                            <a:srgbClr val="152A8C"/>
                          </a:solidFill>
                          <a:sym typeface="+mn-ea"/>
                        </a:rPr>
                        <a:t>成本估计：万元</a:t>
                      </a:r>
                      <a:endParaRPr lang="zh-CN" altLang="en-US" sz="1600" b="0">
                        <a:solidFill>
                          <a:srgbClr val="152A8C"/>
                        </a:solidFill>
                        <a:sym typeface="+mn-ea"/>
                      </a:endParaRPr>
                    </a:p>
                    <a:p>
                      <a:pPr>
                        <a:buNone/>
                      </a:pPr>
                      <a:r>
                        <a:rPr lang="zh-CN" altLang="en-US" sz="1600">
                          <a:solidFill>
                            <a:srgbClr val="152A8C"/>
                          </a:solidFill>
                          <a:sym typeface="+mn-ea"/>
                        </a:rPr>
                        <a:t>人力估计：工时</a:t>
                      </a:r>
                      <a:endParaRPr lang="zh-CN" altLang="en-US" sz="160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a:txBody>
                    <a:bodyPr/>
                    <a:p>
                      <a:pPr>
                        <a:buNone/>
                      </a:pPr>
                      <a:r>
                        <a:rPr lang="zh-CN" altLang="en-US" sz="1600">
                          <a:solidFill>
                            <a:srgbClr val="152A8C"/>
                          </a:solidFill>
                          <a:sym typeface="+mn-ea"/>
                        </a:rPr>
                        <a:t>共计预估：</a:t>
                      </a:r>
                      <a:endParaRPr lang="zh-CN" altLang="en-US" sz="160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188720">
                <a:tc>
                  <a:txBody>
                    <a:bodyPr/>
                    <a:p>
                      <a:pPr algn="ctr">
                        <a:buNone/>
                      </a:pPr>
                      <a:r>
                        <a:rPr lang="zh-CN" altLang="en-US" sz="1600" b="1">
                          <a:solidFill>
                            <a:srgbClr val="152A8C"/>
                          </a:solidFill>
                        </a:rPr>
                        <a:t>模型</a:t>
                      </a:r>
                      <a:endParaRPr lang="zh-CN" altLang="en-US" sz="1600" b="1">
                        <a:solidFill>
                          <a:srgbClr val="152A8C"/>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1600" b="0">
                          <a:solidFill>
                            <a:srgbClr val="152A8C"/>
                          </a:solidFill>
                          <a:sym typeface="+mn-ea"/>
                        </a:rPr>
                        <a:t>1.</a:t>
                      </a:r>
                      <a:r>
                        <a:rPr lang="zh-CN" altLang="en-US" sz="1600" b="0">
                          <a:solidFill>
                            <a:srgbClr val="152A8C"/>
                          </a:solidFill>
                          <a:sym typeface="+mn-ea"/>
                        </a:rPr>
                        <a:t>电芯高精度电</a:t>
                      </a:r>
                      <a:r>
                        <a:rPr lang="en-US" altLang="zh-CN" sz="1600" b="0">
                          <a:solidFill>
                            <a:srgbClr val="152A8C"/>
                          </a:solidFill>
                          <a:sym typeface="+mn-ea"/>
                        </a:rPr>
                        <a:t>-</a:t>
                      </a:r>
                      <a:r>
                        <a:rPr lang="zh-CN" altLang="en-US" sz="1600" b="0">
                          <a:solidFill>
                            <a:srgbClr val="152A8C"/>
                          </a:solidFill>
                          <a:sym typeface="+mn-ea"/>
                        </a:rPr>
                        <a:t>热模型；</a:t>
                      </a:r>
                      <a:endParaRPr lang="zh-CN" altLang="en-US" sz="1600" b="0">
                        <a:solidFill>
                          <a:srgbClr val="152A8C"/>
                        </a:solidFill>
                        <a:sym typeface="+mn-ea"/>
                      </a:endParaRPr>
                    </a:p>
                    <a:p>
                      <a:pPr>
                        <a:buNone/>
                      </a:pPr>
                      <a:r>
                        <a:rPr lang="en-US" altLang="zh-CN" sz="1600" b="0">
                          <a:solidFill>
                            <a:srgbClr val="152A8C"/>
                          </a:solidFill>
                          <a:sym typeface="+mn-ea"/>
                        </a:rPr>
                        <a:t>2.</a:t>
                      </a:r>
                      <a:r>
                        <a:rPr lang="zh-CN" altLang="en-US" sz="1600" b="0">
                          <a:solidFill>
                            <a:srgbClr val="152A8C"/>
                          </a:solidFill>
                          <a:sym typeface="+mn-ea"/>
                        </a:rPr>
                        <a:t>电池包级三维热模型；</a:t>
                      </a:r>
                      <a:endParaRPr lang="zh-CN" altLang="en-US" sz="1600" b="0">
                        <a:solidFill>
                          <a:srgbClr val="152A8C"/>
                        </a:solidFill>
                        <a:sym typeface="+mn-ea"/>
                      </a:endParaRPr>
                    </a:p>
                    <a:p>
                      <a:pPr>
                        <a:buNone/>
                      </a:pPr>
                      <a:r>
                        <a:rPr lang="en-US" altLang="zh-CN" sz="1600" b="0">
                          <a:solidFill>
                            <a:srgbClr val="152A8C"/>
                          </a:solidFill>
                          <a:sym typeface="+mn-ea"/>
                        </a:rPr>
                        <a:t>3.</a:t>
                      </a:r>
                      <a:r>
                        <a:rPr lang="zh-CN" altLang="en-US" sz="1600" b="0">
                          <a:solidFill>
                            <a:srgbClr val="152A8C"/>
                          </a:solidFill>
                          <a:sym typeface="+mn-ea"/>
                        </a:rPr>
                        <a:t>系统级低维电</a:t>
                      </a:r>
                      <a:r>
                        <a:rPr lang="en-US" altLang="zh-CN" sz="1600" b="0">
                          <a:solidFill>
                            <a:srgbClr val="152A8C"/>
                          </a:solidFill>
                          <a:sym typeface="+mn-ea"/>
                        </a:rPr>
                        <a:t>-</a:t>
                      </a:r>
                      <a:r>
                        <a:rPr lang="zh-CN" altLang="en-US" sz="1600" b="0">
                          <a:solidFill>
                            <a:srgbClr val="152A8C"/>
                          </a:solidFill>
                          <a:sym typeface="+mn-ea"/>
                        </a:rPr>
                        <a:t>热模型；</a:t>
                      </a:r>
                      <a:endParaRPr lang="zh-CN" altLang="en-US" sz="1600" b="0">
                        <a:solidFill>
                          <a:srgbClr val="152A8C"/>
                        </a:solidFill>
                        <a:sym typeface="+mn-ea"/>
                      </a:endParaRPr>
                    </a:p>
                    <a:p>
                      <a:pPr>
                        <a:buNone/>
                      </a:pPr>
                      <a:r>
                        <a:rPr lang="en-US" altLang="zh-CN" sz="1600" b="0">
                          <a:solidFill>
                            <a:srgbClr val="152A8C"/>
                          </a:solidFill>
                          <a:sym typeface="+mn-ea"/>
                        </a:rPr>
                        <a:t>4.</a:t>
                      </a:r>
                      <a:r>
                        <a:rPr lang="zh-CN" altLang="en-US" sz="1600" b="0">
                          <a:solidFill>
                            <a:srgbClr val="152A8C"/>
                          </a:solidFill>
                          <a:sym typeface="+mn-ea"/>
                        </a:rPr>
                        <a:t>电池脉冲加热仿真系统；</a:t>
                      </a:r>
                      <a:endParaRPr lang="zh-CN" altLang="en-US" sz="1600" b="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1600">
                          <a:solidFill>
                            <a:srgbClr val="152A8C"/>
                          </a:solidFill>
                          <a:sym typeface="+mn-ea"/>
                        </a:rPr>
                        <a:t>成本估计：万元</a:t>
                      </a:r>
                      <a:endParaRPr lang="zh-CN" altLang="en-US" sz="1600" b="0">
                        <a:solidFill>
                          <a:srgbClr val="152A8C"/>
                        </a:solidFill>
                      </a:endParaRPr>
                    </a:p>
                    <a:p>
                      <a:pPr>
                        <a:buNone/>
                      </a:pPr>
                      <a:r>
                        <a:rPr lang="zh-CN" altLang="en-US" sz="1600" b="0">
                          <a:solidFill>
                            <a:srgbClr val="152A8C"/>
                          </a:solidFill>
                        </a:rPr>
                        <a:t>人力估计：</a:t>
                      </a:r>
                      <a:r>
                        <a:rPr lang="zh-CN" altLang="en-US" sz="1600">
                          <a:solidFill>
                            <a:srgbClr val="152A8C"/>
                          </a:solidFill>
                          <a:sym typeface="+mn-ea"/>
                        </a:rPr>
                        <a:t>工时</a:t>
                      </a:r>
                      <a:endParaRPr lang="zh-CN" altLang="en-US" sz="1600" b="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188720">
                <a:tc>
                  <a:txBody>
                    <a:bodyPr/>
                    <a:p>
                      <a:pPr algn="ctr"/>
                      <a:r>
                        <a:rPr lang="zh-CN" altLang="en-US" sz="1600" b="1">
                          <a:solidFill>
                            <a:srgbClr val="152A8C"/>
                          </a:solidFill>
                          <a:sym typeface="+mn-ea"/>
                        </a:rPr>
                        <a:t>设计</a:t>
                      </a:r>
                      <a:endParaRPr lang="zh-CN" altLang="en-US" sz="1600" b="1">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en-US" altLang="zh-CN" sz="1600" b="0">
                          <a:solidFill>
                            <a:srgbClr val="152A8C"/>
                          </a:solidFill>
                          <a:sym typeface="+mn-ea"/>
                        </a:rPr>
                        <a:t>1.</a:t>
                      </a:r>
                      <a:r>
                        <a:rPr lang="zh-CN" altLang="en-US" sz="1600" b="0">
                          <a:solidFill>
                            <a:srgbClr val="152A8C"/>
                          </a:solidFill>
                          <a:sym typeface="+mn-ea"/>
                        </a:rPr>
                        <a:t>高效脉冲加热方案；</a:t>
                      </a:r>
                      <a:endParaRPr lang="zh-CN" altLang="en-US" sz="1600" b="0">
                        <a:solidFill>
                          <a:srgbClr val="152A8C"/>
                        </a:solidFill>
                        <a:sym typeface="+mn-ea"/>
                      </a:endParaRPr>
                    </a:p>
                    <a:p>
                      <a:pPr>
                        <a:buNone/>
                      </a:pPr>
                      <a:r>
                        <a:rPr lang="en-US" altLang="zh-CN" sz="1600">
                          <a:solidFill>
                            <a:srgbClr val="152A8C"/>
                          </a:solidFill>
                          <a:sym typeface="+mn-ea"/>
                        </a:rPr>
                        <a:t>2.</a:t>
                      </a:r>
                      <a:r>
                        <a:rPr lang="zh-CN" altLang="en-US" sz="1600">
                          <a:solidFill>
                            <a:srgbClr val="152A8C"/>
                          </a:solidFill>
                          <a:sym typeface="+mn-ea"/>
                        </a:rPr>
                        <a:t>脉冲加热自主控制算法</a:t>
                      </a:r>
                      <a:r>
                        <a:rPr lang="zh-CN" altLang="en-US" sz="1600" b="0">
                          <a:solidFill>
                            <a:srgbClr val="152A8C"/>
                          </a:solidFill>
                          <a:sym typeface="+mn-ea"/>
                        </a:rPr>
                        <a:t>；</a:t>
                      </a:r>
                      <a:endParaRPr lang="zh-CN" altLang="en-US" sz="1600" b="0">
                        <a:solidFill>
                          <a:srgbClr val="152A8C"/>
                        </a:solidFill>
                        <a:sym typeface="+mn-ea"/>
                      </a:endParaRPr>
                    </a:p>
                    <a:p>
                      <a:pPr>
                        <a:buNone/>
                      </a:pPr>
                      <a:r>
                        <a:rPr lang="en-US" altLang="zh-CN" sz="1600">
                          <a:solidFill>
                            <a:srgbClr val="152A8C"/>
                          </a:solidFill>
                          <a:sym typeface="+mn-ea"/>
                        </a:rPr>
                        <a:t>3.</a:t>
                      </a:r>
                      <a:r>
                        <a:rPr lang="zh-CN" altLang="en-US" sz="1600">
                          <a:solidFill>
                            <a:srgbClr val="152A8C"/>
                          </a:solidFill>
                          <a:sym typeface="+mn-ea"/>
                        </a:rPr>
                        <a:t>多支路脉冲加热专有拓扑结构</a:t>
                      </a:r>
                      <a:r>
                        <a:rPr lang="zh-CN" altLang="en-US" sz="1600" b="0">
                          <a:solidFill>
                            <a:srgbClr val="152A8C"/>
                          </a:solidFill>
                          <a:sym typeface="+mn-ea"/>
                        </a:rPr>
                        <a:t>；</a:t>
                      </a:r>
                      <a:endParaRPr lang="zh-CN" altLang="en-US" sz="1600" b="0">
                        <a:solidFill>
                          <a:srgbClr val="152A8C"/>
                        </a:solidFill>
                        <a:sym typeface="+mn-ea"/>
                      </a:endParaRPr>
                    </a:p>
                    <a:p>
                      <a:pPr>
                        <a:buNone/>
                      </a:pPr>
                      <a:r>
                        <a:rPr lang="en-US" altLang="zh-CN" sz="1600" b="0">
                          <a:solidFill>
                            <a:srgbClr val="152A8C"/>
                          </a:solidFill>
                          <a:sym typeface="+mn-ea"/>
                        </a:rPr>
                        <a:t>4.</a:t>
                      </a:r>
                      <a:r>
                        <a:rPr lang="zh-CN" altLang="en-US" sz="1600" b="0">
                          <a:solidFill>
                            <a:srgbClr val="152A8C"/>
                          </a:solidFill>
                          <a:sym typeface="+mn-ea"/>
                        </a:rPr>
                        <a:t>整车级脉冲加热系统模型；</a:t>
                      </a:r>
                      <a:endParaRPr lang="zh-CN" altLang="en-US" sz="1600" b="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sz="1600">
                          <a:solidFill>
                            <a:srgbClr val="152A8C"/>
                          </a:solidFill>
                          <a:sym typeface="+mn-ea"/>
                        </a:rPr>
                        <a:t>成本估计：万元</a:t>
                      </a:r>
                      <a:endParaRPr lang="zh-CN" altLang="en-US" sz="1600" b="0">
                        <a:solidFill>
                          <a:srgbClr val="152A8C"/>
                        </a:solidFill>
                      </a:endParaRPr>
                    </a:p>
                    <a:p>
                      <a:pPr>
                        <a:buNone/>
                      </a:pPr>
                      <a:r>
                        <a:rPr lang="zh-CN" altLang="en-US" sz="1600">
                          <a:solidFill>
                            <a:srgbClr val="152A8C"/>
                          </a:solidFill>
                          <a:sym typeface="+mn-ea"/>
                        </a:rPr>
                        <a:t>人力估计：</a:t>
                      </a:r>
                      <a:r>
                        <a:rPr lang="zh-CN" altLang="en-US" sz="1600">
                          <a:solidFill>
                            <a:srgbClr val="152A8C"/>
                          </a:solidFill>
                          <a:sym typeface="+mn-ea"/>
                        </a:rPr>
                        <a:t>工时</a:t>
                      </a:r>
                      <a:endParaRPr lang="zh-CN" altLang="en-US" sz="1600" b="0">
                        <a:solidFill>
                          <a:srgbClr val="152A8C"/>
                        </a:solidFill>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TABLE_ENDDRAG_ORIGIN_RECT" val="148*39"/>
  <p:tag name="TABLE_ENDDRAG_RECT" val="438*174*148*39"/>
</p:tagLst>
</file>

<file path=ppt/tags/tag5.xml><?xml version="1.0" encoding="utf-8"?>
<p:tagLst xmlns:p="http://schemas.openxmlformats.org/presentationml/2006/main">
  <p:tag name="resource_record_key" val="{&quot;70&quot;:[3314149]}"/>
</p:tagLst>
</file>

<file path=ppt/theme/theme1.xml><?xml version="1.0" encoding="utf-8"?>
<a:theme xmlns:a="http://schemas.openxmlformats.org/drawingml/2006/main" name="Office 主题​​">
  <a:themeElements>
    <a:clrScheme name="VI标准">
      <a:dk1>
        <a:srgbClr val="000000"/>
      </a:dk1>
      <a:lt1>
        <a:sysClr val="window" lastClr="FFFFFF"/>
      </a:lt1>
      <a:dk2>
        <a:srgbClr val="000000"/>
      </a:dk2>
      <a:lt2>
        <a:srgbClr val="FFFFFF"/>
      </a:lt2>
      <a:accent1>
        <a:srgbClr val="152A8C"/>
      </a:accent1>
      <a:accent2>
        <a:srgbClr val="2796D4"/>
      </a:accent2>
      <a:accent3>
        <a:srgbClr val="EDEDED"/>
      </a:accent3>
      <a:accent4>
        <a:srgbClr val="B10011"/>
      </a:accent4>
      <a:accent5>
        <a:srgbClr val="FFFFFF"/>
      </a:accent5>
      <a:accent6>
        <a:srgbClr val="FFFFFF"/>
      </a:accent6>
      <a:hlink>
        <a:srgbClr val="FFFFFF"/>
      </a:hlink>
      <a:folHlink>
        <a:srgbClr val="FFFFFF"/>
      </a:folHlink>
    </a:clrScheme>
    <a:fontScheme name="默认">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36000" tIns="36000" rIns="36000" bIns="36000" rtlCol="0">
        <a:noAutofit/>
      </a:bodyPr>
      <a:lstStyle>
        <a:defPPr algn="l">
          <a:spcBef>
            <a:spcPts val="600"/>
          </a:spcBef>
          <a:defRPr dirty="0" err="1" smtClean="0">
            <a:solidFill>
              <a:srgbClr val="003B90"/>
            </a:solidFill>
            <a:latin typeface="+mj-l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2684</Words>
  <Application>WPS 演示</Application>
  <PresentationFormat>宽屏</PresentationFormat>
  <Paragraphs>315</Paragraphs>
  <Slides>14</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宋体</vt:lpstr>
      <vt:lpstr>Wingdings</vt:lpstr>
      <vt:lpstr>微软雅黑</vt:lpstr>
      <vt:lpstr>Wingdings</vt:lpstr>
      <vt:lpstr>Arial Unicode MS</vt:lpstr>
      <vt:lpstr>等线</vt:lpstr>
      <vt:lpstr>Office 主题​​</vt:lpstr>
      <vt:lpstr>面向商用车低温场景的 动力电池脉冲加热技术  路线图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一汽解放PPT模板</dc:title>
  <dc:creator>一汽解放</dc:creator>
  <cp:lastModifiedBy>WPS_1632448344</cp:lastModifiedBy>
  <cp:revision>446</cp:revision>
  <cp:lastPrinted>2023-05-19T05:02:00Z</cp:lastPrinted>
  <dcterms:created xsi:type="dcterms:W3CDTF">2015-12-28T03:19:00Z</dcterms:created>
  <dcterms:modified xsi:type="dcterms:W3CDTF">2025-12-14T09:53:00Z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3F8E9BB33C27435F89617B3273245BFE_13</vt:lpwstr>
  </property>
  <property fmtid="{D5CDD505-2E9C-101B-9397-08002B2CF9AE}" pid="3" name="KSOProductBuildVer">
    <vt:lpwstr>2052-12.1.0.24034</vt:lpwstr>
  </property>
</Properties>
</file>
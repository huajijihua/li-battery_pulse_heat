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74" r:id="rId3"/>
    <p:sldId id="375" r:id="rId4"/>
    <p:sldId id="377" r:id="rId5"/>
    <p:sldId id="380" r:id="rId7"/>
    <p:sldId id="362" r:id="rId8"/>
    <p:sldId id="372" r:id="rId9"/>
    <p:sldId id="379" r:id="rId10"/>
    <p:sldId id="381" r:id="rId11"/>
    <p:sldId id="371" r:id="rId12"/>
    <p:sldId id="382" r:id="rId13"/>
    <p:sldId id="376" r:id="rId14"/>
    <p:sldId id="383" r:id="rId15"/>
    <p:sldId id="378" r:id="rId16"/>
    <p:sldId id="384" r:id="rId17"/>
  </p:sldIdLst>
  <p:sldSz cx="12192000" cy="6858000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00B050"/>
    <a:srgbClr val="FF374A"/>
    <a:srgbClr val="4964E4"/>
    <a:srgbClr val="152A8C"/>
    <a:srgbClr val="84EB7A"/>
    <a:srgbClr val="B10011"/>
    <a:srgbClr val="F5B482"/>
    <a:srgbClr val="66FF66"/>
    <a:srgbClr val="A7A9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82896" autoAdjust="0"/>
  </p:normalViewPr>
  <p:slideViewPr>
    <p:cSldViewPr snapToObjects="1">
      <p:cViewPr varScale="1">
        <p:scale>
          <a:sx n="96" d="100"/>
          <a:sy n="96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365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GIF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脉冲加热技术研究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商用车开发院</a:t>
            </a:r>
            <a:endParaRPr lang="en-US" altLang="zh-CN" dirty="0"/>
          </a:p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23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框 5"/>
          <p:cNvSpPr txBox="1"/>
          <p:nvPr/>
        </p:nvSpPr>
        <p:spPr>
          <a:xfrm>
            <a:off x="3217043" y="1844824"/>
            <a:ext cx="6480175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脉冲加热技术洞察</a:t>
            </a:r>
            <a:endParaRPr lang="zh-CN" altLang="en-US" dirty="0"/>
          </a:p>
        </p:txBody>
      </p:sp>
      <p:sp>
        <p:nvSpPr>
          <p:cNvPr id="4" name="文本框 4"/>
          <p:cNvSpPr txBox="1"/>
          <p:nvPr/>
        </p:nvSpPr>
        <p:spPr>
          <a:xfrm>
            <a:off x="2496319" y="1844824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3216274" y="2548604"/>
            <a:ext cx="6480175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脉冲加热方案分析</a:t>
            </a:r>
            <a:endParaRPr lang="zh-CN" altLang="en-US" dirty="0"/>
          </a:p>
        </p:txBody>
      </p:sp>
      <p:sp>
        <p:nvSpPr>
          <p:cNvPr id="6" name="文本框 4"/>
          <p:cNvSpPr txBox="1"/>
          <p:nvPr/>
        </p:nvSpPr>
        <p:spPr>
          <a:xfrm>
            <a:off x="2495550" y="2548604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</a:t>
            </a:r>
            <a:endParaRPr lang="zh-CN" altLang="en-US" dirty="0"/>
          </a:p>
        </p:txBody>
      </p:sp>
      <p:sp>
        <p:nvSpPr>
          <p:cNvPr id="7" name="文本框 5"/>
          <p:cNvSpPr txBox="1"/>
          <p:nvPr/>
        </p:nvSpPr>
        <p:spPr>
          <a:xfrm>
            <a:off x="3217043" y="3252384"/>
            <a:ext cx="6480175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脉冲加热开发节点计划</a:t>
            </a:r>
            <a:endParaRPr lang="zh-CN" altLang="en-US" dirty="0"/>
          </a:p>
        </p:txBody>
      </p:sp>
      <p:sp>
        <p:nvSpPr>
          <p:cNvPr id="8" name="文本框 4"/>
          <p:cNvSpPr txBox="1"/>
          <p:nvPr/>
        </p:nvSpPr>
        <p:spPr>
          <a:xfrm>
            <a:off x="2496319" y="3252384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</a:t>
            </a:r>
            <a:endParaRPr lang="zh-CN" altLang="en-US" dirty="0"/>
          </a:p>
        </p:txBody>
      </p:sp>
      <p:sp>
        <p:nvSpPr>
          <p:cNvPr id="9" name="文本框 5"/>
          <p:cNvSpPr txBox="1"/>
          <p:nvPr/>
        </p:nvSpPr>
        <p:spPr>
          <a:xfrm>
            <a:off x="3217043" y="3957725"/>
            <a:ext cx="6480175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脉冲加热资源需求</a:t>
            </a:r>
            <a:endParaRPr lang="zh-CN" altLang="en-US" dirty="0"/>
          </a:p>
        </p:txBody>
      </p:sp>
      <p:sp>
        <p:nvSpPr>
          <p:cNvPr id="10" name="文本框 4"/>
          <p:cNvSpPr txBox="1"/>
          <p:nvPr/>
        </p:nvSpPr>
        <p:spPr>
          <a:xfrm>
            <a:off x="2496319" y="3957725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</a:t>
            </a:r>
            <a:endParaRPr lang="zh-CN" altLang="en-US" dirty="0"/>
          </a:p>
        </p:txBody>
      </p:sp>
      <p:sp>
        <p:nvSpPr>
          <p:cNvPr id="11" name="文本框 5"/>
          <p:cNvSpPr txBox="1"/>
          <p:nvPr/>
        </p:nvSpPr>
        <p:spPr>
          <a:xfrm>
            <a:off x="3217043" y="4659944"/>
            <a:ext cx="6480175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技术风险及控制措施</a:t>
            </a:r>
            <a:endParaRPr lang="zh-CN" altLang="en-US" dirty="0"/>
          </a:p>
        </p:txBody>
      </p:sp>
      <p:sp>
        <p:nvSpPr>
          <p:cNvPr id="12" name="文本框 4"/>
          <p:cNvSpPr txBox="1"/>
          <p:nvPr/>
        </p:nvSpPr>
        <p:spPr>
          <a:xfrm>
            <a:off x="2496319" y="4659944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五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一、脉冲加热</a:t>
            </a:r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技术洞察</a:t>
            </a:r>
            <a:endParaRPr lang="zh-CN" altLang="en-US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425" y="908685"/>
            <a:ext cx="11589429" cy="57115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技术原理：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利用</a:t>
            </a:r>
            <a:r>
              <a:rPr lang="zh-CN" altLang="en-US" sz="1400" b="1" dirty="0">
                <a:solidFill>
                  <a:srgbClr val="C00000"/>
                </a:solidFill>
                <a:latin typeface="+mj-lt"/>
              </a:rPr>
              <a:t>电机定子电感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和</a:t>
            </a:r>
            <a:r>
              <a:rPr lang="zh-CN" altLang="en-US" sz="1400" b="1" dirty="0">
                <a:solidFill>
                  <a:srgbClr val="C00000"/>
                </a:solidFill>
                <a:latin typeface="+mj-lt"/>
              </a:rPr>
              <a:t>电池高频脉冲下大电流不析锂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特性，控制逆变器</a:t>
            </a:r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IGBT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开关通断次序，产生高频交流实现电池快速均匀加热。</a:t>
            </a:r>
            <a:endParaRPr lang="en-US" altLang="zh-CN" sz="1400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可行性分析：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可不增加零部件，仅</a:t>
            </a:r>
            <a:r>
              <a:rPr lang="zh-CN" altLang="en-US" sz="1400" b="1" dirty="0">
                <a:solidFill>
                  <a:srgbClr val="C00000"/>
                </a:solidFill>
                <a:latin typeface="+mj-lt"/>
              </a:rPr>
              <a:t>复用车辆电驱系统组件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和</a:t>
            </a:r>
            <a:r>
              <a:rPr lang="zh-CN" altLang="en-US" sz="1400" b="1" dirty="0">
                <a:solidFill>
                  <a:srgbClr val="C00000"/>
                </a:solidFill>
                <a:latin typeface="+mj-lt"/>
              </a:rPr>
              <a:t>升级软件控制策略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，已在比亚迪等主流车企的乘用车型上验证应用。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9425" y="6165304"/>
            <a:ext cx="11242675" cy="36703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>
                <a:solidFill>
                  <a:schemeClr val="accent1"/>
                </a:solidFill>
                <a:latin typeface="+mj-lt"/>
              </a:rPr>
              <a:t>启示点</a:t>
            </a:r>
            <a:r>
              <a:rPr lang="en-US" altLang="zh-CN" sz="1400" b="1" dirty="0" err="1">
                <a:solidFill>
                  <a:schemeClr val="accent1"/>
                </a:solidFill>
                <a:latin typeface="+mj-lt"/>
              </a:rPr>
              <a:t> 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：脉冲加热技术</a:t>
            </a:r>
            <a:r>
              <a:rPr lang="zh-CN" altLang="en-US" sz="1400" b="1" dirty="0">
                <a:solidFill>
                  <a:srgbClr val="C00000"/>
                </a:solidFill>
                <a:latin typeface="+mj-lt"/>
              </a:rPr>
              <a:t>加热速率快、能耗低、温度均匀性好，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有望成为商用车低温场景的有效解决方案。</a:t>
            </a:r>
            <a:endParaRPr lang="zh-CN" altLang="en-US" sz="1400" b="1"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8184232" y="3140968"/>
            <a:ext cx="0" cy="2989255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367808" y="3267741"/>
            <a:ext cx="3771250" cy="2502442"/>
            <a:chOff x="8249830" y="1825943"/>
            <a:chExt cx="3771250" cy="2502442"/>
          </a:xfrm>
        </p:grpSpPr>
        <p:sp>
          <p:nvSpPr>
            <p:cNvPr id="24" name="文本框 23"/>
            <p:cNvSpPr txBox="1"/>
            <p:nvPr/>
          </p:nvSpPr>
          <p:spPr>
            <a:xfrm>
              <a:off x="9264553" y="1825943"/>
              <a:ext cx="1741805" cy="22606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200" b="1" dirty="0">
                  <a:solidFill>
                    <a:srgbClr val="152A8C"/>
                  </a:solidFill>
                </a:rPr>
                <a:t>低温加热技术比较</a:t>
              </a:r>
              <a:endParaRPr lang="zh-CN" altLang="en-US" sz="1200" b="1" dirty="0">
                <a:solidFill>
                  <a:srgbClr val="152A8C"/>
                </a:solidFill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8249830" y="2060848"/>
              <a:ext cx="3771250" cy="2267537"/>
              <a:chOff x="374800" y="2059056"/>
              <a:chExt cx="3771250" cy="2267537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374800" y="3749512"/>
                <a:ext cx="3771250" cy="577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050" dirty="0">
                    <a:solidFill>
                      <a:schemeClr val="accent1"/>
                    </a:solidFill>
                  </a:rPr>
                  <a:t>*数据来自解放新能源车寒区行车试验，车辆总电量352kWh；环境温度-24℃，初始温度-11℃，目标温度10℃。</a:t>
                </a:r>
                <a:endParaRPr lang="en-US" altLang="zh-CN" sz="1050" dirty="0">
                  <a:solidFill>
                    <a:schemeClr val="accent1"/>
                  </a:solidFill>
                </a:endParaRPr>
              </a:p>
              <a:p>
                <a:r>
                  <a:rPr lang="zh-CN" altLang="en-US" sz="1050" dirty="0">
                    <a:solidFill>
                      <a:schemeClr val="accent1"/>
                    </a:solidFill>
                  </a:rPr>
                  <a:t>*</a:t>
                </a:r>
                <a:r>
                  <a:rPr lang="en-US" altLang="zh-CN" sz="1050" dirty="0">
                    <a:solidFill>
                      <a:schemeClr val="accent1"/>
                    </a:solidFill>
                  </a:rPr>
                  <a:t>*</a:t>
                </a:r>
                <a:r>
                  <a:rPr lang="zh-CN" altLang="en-US" sz="1050" dirty="0">
                    <a:solidFill>
                      <a:schemeClr val="accent1"/>
                    </a:solidFill>
                  </a:rPr>
                  <a:t>根据文献中实车测试数据推测。</a:t>
                </a:r>
                <a:endParaRPr lang="zh-CN" altLang="en-US" sz="1050" dirty="0">
                  <a:solidFill>
                    <a:schemeClr val="accent1"/>
                  </a:solidFill>
                </a:endParaRPr>
              </a:p>
            </p:txBody>
          </p:sp>
          <p:graphicFrame>
            <p:nvGraphicFramePr>
              <p:cNvPr id="18" name="表格 17"/>
              <p:cNvGraphicFramePr/>
              <p:nvPr>
                <p:custDataLst>
                  <p:tags r:id="rId1"/>
                </p:custDataLst>
              </p:nvPr>
            </p:nvGraphicFramePr>
            <p:xfrm>
              <a:off x="464955" y="2059056"/>
              <a:ext cx="3681095" cy="1668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2875"/>
                    <a:gridCol w="1296144"/>
                    <a:gridCol w="1222076"/>
                  </a:tblGrid>
                  <a:tr h="243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100" dirty="0"/>
                            <a:t>加热方式</a:t>
                          </a:r>
                          <a:endParaRPr lang="zh-CN" altLang="en-US" sz="110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100" dirty="0"/>
                            <a:t>解放传统</a:t>
                          </a:r>
                          <a:r>
                            <a:rPr lang="en-US" altLang="zh-CN" sz="1100" dirty="0"/>
                            <a:t>PTC*</a:t>
                          </a:r>
                          <a:endParaRPr lang="en-US" altLang="zh-CN" sz="110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100" dirty="0"/>
                            <a:t>脉冲加热预估</a:t>
                          </a:r>
                          <a:r>
                            <a:rPr lang="en-US" altLang="zh-CN" sz="1100" dirty="0"/>
                            <a:t>**</a:t>
                          </a:r>
                          <a:endParaRPr lang="en-US" altLang="zh-CN" sz="110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</a:tr>
                  <a:tr h="2819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000" dirty="0"/>
                            <a:t>温升速率</a:t>
                          </a:r>
                          <a:r>
                            <a:rPr lang="en-US" altLang="zh-CN" sz="1000" dirty="0"/>
                            <a:t>(℃/min)</a:t>
                          </a:r>
                          <a:endParaRPr lang="en-US" altLang="zh-CN" sz="100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 dirty="0"/>
                            <a:t>0.46</a:t>
                          </a:r>
                          <a:endParaRPr lang="en-US" altLang="zh-CN" sz="105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 b="1" dirty="0">
                              <a:solidFill>
                                <a:srgbClr val="FF0000"/>
                              </a:solidFill>
                            </a:rPr>
                            <a:t>0.7~1.1</a:t>
                          </a:r>
                          <a:endParaRPr lang="en-US" altLang="zh-CN" sz="105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2819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000" dirty="0"/>
                            <a:t>加热时长</a:t>
                          </a:r>
                          <a:endParaRPr lang="en-US" altLang="zh-CN" sz="100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 baseline="0" dirty="0"/>
                            <a:t>46min</a:t>
                          </a:r>
                          <a:endParaRPr lang="en-US" altLang="zh-CN" sz="1050" baseline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 b="1" dirty="0">
                              <a:solidFill>
                                <a:schemeClr val="accent1"/>
                              </a:solidFill>
                            </a:rPr>
                            <a:t>&lt;30min</a:t>
                          </a:r>
                          <a:endParaRPr lang="en-US" altLang="zh-CN" sz="1050" b="1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2819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000" dirty="0"/>
                            <a:t>电量损失</a:t>
                          </a:r>
                          <a:endParaRPr lang="zh-CN" altLang="en-US" sz="100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 dirty="0"/>
                            <a:t>17.9kWh(5.1%)</a:t>
                          </a:r>
                          <a:endParaRPr lang="zh-CN" altLang="en-US" sz="105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 b="1" dirty="0">
                              <a:solidFill>
                                <a:schemeClr val="accent1"/>
                              </a:solidFill>
                            </a:rPr>
                            <a:t>14kWh(4.0%)</a:t>
                          </a:r>
                          <a:endParaRPr lang="en-US" altLang="zh-CN" sz="1050" b="1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2819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000" dirty="0"/>
                            <a:t>转换效率</a:t>
                          </a:r>
                          <a:endParaRPr lang="zh-CN" altLang="en-US" sz="100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/>
                            <a:t>46%~53%</a:t>
                          </a:r>
                          <a:endParaRPr lang="en-US" altLang="zh-CN" sz="105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 b="1" dirty="0">
                              <a:solidFill>
                                <a:srgbClr val="FF0000"/>
                              </a:solidFill>
                              <a:sym typeface="+mn-ea"/>
                            </a:rPr>
                            <a:t>58%~63%</a:t>
                          </a:r>
                          <a:endParaRPr lang="en-US" altLang="zh-CN" sz="1050" b="1" dirty="0">
                            <a:solidFill>
                              <a:srgbClr val="FF0000"/>
                            </a:solidFill>
                            <a:sym typeface="+mn-ea"/>
                          </a:endParaRPr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2819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sz="1000" dirty="0"/>
                            <a:t>电池包内部温差</a:t>
                          </a:r>
                          <a:endParaRPr lang="zh-CN" altLang="en-US" sz="100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 dirty="0"/>
                            <a:t>&gt;10℃</a:t>
                          </a:r>
                          <a:endParaRPr lang="en-US" altLang="zh-CN" sz="1050" dirty="0"/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050" b="1" dirty="0">
                              <a:solidFill>
                                <a:schemeClr val="accent1"/>
                              </a:solidFill>
                            </a:rPr>
                            <a:t>&lt;5℃</a:t>
                          </a:r>
                          <a:endParaRPr lang="en-US" altLang="zh-CN" sz="1050" b="1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p:grpSp>
      </p:grpSp>
      <p:cxnSp>
        <p:nvCxnSpPr>
          <p:cNvPr id="26" name="直接连接符 25"/>
          <p:cNvCxnSpPr/>
          <p:nvPr/>
        </p:nvCxnSpPr>
        <p:spPr>
          <a:xfrm>
            <a:off x="4367808" y="3140968"/>
            <a:ext cx="0" cy="2989255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8256240" y="3171504"/>
            <a:ext cx="3681094" cy="2993800"/>
            <a:chOff x="4511824" y="1824273"/>
            <a:chExt cx="3681094" cy="2993800"/>
          </a:xfrm>
        </p:grpSpPr>
        <p:graphicFrame>
          <p:nvGraphicFramePr>
            <p:cNvPr id="21" name="表格 20"/>
            <p:cNvGraphicFramePr/>
            <p:nvPr>
              <p:custDataLst>
                <p:tags r:id="rId2"/>
              </p:custDataLst>
            </p:nvPr>
          </p:nvGraphicFramePr>
          <p:xfrm>
            <a:off x="4511824" y="2059993"/>
            <a:ext cx="3681094" cy="275808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900312"/>
                  <a:gridCol w="827880"/>
                  <a:gridCol w="928501"/>
                  <a:gridCol w="1024401"/>
                </a:tblGrid>
                <a:tr h="416314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100" dirty="0"/>
                          <a:t>车企</a:t>
                        </a:r>
                        <a:r>
                          <a:rPr lang="en-US" altLang="zh-CN" sz="1100" dirty="0"/>
                          <a:t>/</a:t>
                        </a:r>
                        <a:r>
                          <a:rPr lang="zh-CN" altLang="en-US" sz="1100" dirty="0"/>
                          <a:t>车型</a:t>
                        </a:r>
                        <a:endParaRPr lang="zh-CN" altLang="en-US" sz="11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100" dirty="0"/>
                          <a:t>硬件架构</a:t>
                        </a:r>
                        <a:endParaRPr lang="zh-CN" altLang="en-US" sz="11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100" dirty="0"/>
                          <a:t>电流与</a:t>
                        </a:r>
                        <a:endParaRPr lang="en-US" altLang="zh-CN" sz="1100" dirty="0"/>
                      </a:p>
                      <a:p>
                        <a:pPr algn="ctr">
                          <a:buNone/>
                        </a:pPr>
                        <a:r>
                          <a:rPr lang="zh-CN" altLang="en-US" sz="1100" dirty="0"/>
                          <a:t>频率</a:t>
                        </a:r>
                        <a:endParaRPr lang="zh-CN" altLang="en-US" sz="11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100" dirty="0"/>
                          <a:t>升温速率</a:t>
                        </a:r>
                        <a:endParaRPr lang="zh-CN" altLang="en-US" sz="11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</a:tr>
                <a:tr h="5828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000" dirty="0"/>
                          <a:t>比亚迪</a:t>
                        </a:r>
                        <a:endParaRPr lang="en-US" altLang="zh-CN" sz="1000" dirty="0"/>
                      </a:p>
                      <a:p>
                        <a:pPr algn="ctr">
                          <a:buNone/>
                        </a:pPr>
                        <a:r>
                          <a:rPr lang="zh-CN" altLang="en-US" sz="1000" dirty="0"/>
                          <a:t>腾势</a:t>
                        </a:r>
                        <a:r>
                          <a:rPr lang="en-US" altLang="zh-CN" sz="1000" dirty="0"/>
                          <a:t>N7</a:t>
                        </a:r>
                        <a:endParaRPr lang="en-US" altLang="zh-CN" sz="10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buNone/>
                        </a:pPr>
                        <a:r>
                          <a:rPr lang="zh-CN" altLang="en-US" sz="1000" dirty="0"/>
                          <a:t>三相单电机中性点引出，</a:t>
                        </a:r>
                        <a:r>
                          <a:rPr lang="zh-CN" altLang="en-US" sz="1000" dirty="0">
                            <a:solidFill>
                              <a:srgbClr val="B10011"/>
                            </a:solidFill>
                          </a:rPr>
                          <a:t>双电池组</a:t>
                        </a:r>
                        <a:endParaRPr lang="en-US" altLang="zh-CN" sz="10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000" dirty="0">
                            <a:sym typeface="+mn-ea"/>
                          </a:rPr>
                          <a:t>-</a:t>
                        </a:r>
                        <a:endParaRPr lang="zh-CN" altLang="en-US" sz="1000" dirty="0">
                          <a:sym typeface="+mn-ea"/>
                        </a:endParaRPr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000" dirty="0"/>
                          <a:t>4~6℃/min</a:t>
                        </a:r>
                        <a:endParaRPr lang="en-US" altLang="zh-CN" sz="1000" dirty="0"/>
                      </a:p>
                      <a:p>
                        <a:pPr algn="ctr">
                          <a:buNone/>
                        </a:pPr>
                        <a:r>
                          <a:rPr lang="en-US" altLang="zh-CN" sz="1000" dirty="0"/>
                          <a:t>(-30℃)</a:t>
                        </a:r>
                        <a:endParaRPr lang="zh-CN" altLang="en-US" sz="10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5828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000" dirty="0"/>
                          <a:t>比亚迪</a:t>
                        </a:r>
                        <a:endParaRPr lang="en-US" altLang="zh-CN" sz="1000" dirty="0"/>
                      </a:p>
                      <a:p>
                        <a:pPr algn="ctr">
                          <a:buNone/>
                        </a:pPr>
                        <a:r>
                          <a:rPr lang="zh-CN" altLang="en-US" sz="1000" dirty="0"/>
                          <a:t>商用车</a:t>
                        </a:r>
                        <a:endParaRPr lang="en-US" altLang="zh-CN" sz="10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r>
                          <a:rPr lang="zh-CN" altLang="en-US" sz="1000" dirty="0"/>
                          <a:t>三相单电机中性点引出，</a:t>
                        </a:r>
                        <a:r>
                          <a:rPr lang="zh-CN" altLang="en-US" sz="1000" dirty="0">
                            <a:solidFill>
                              <a:srgbClr val="B10011"/>
                            </a:solidFill>
                          </a:rPr>
                          <a:t>双电池组</a:t>
                        </a:r>
                        <a:endParaRPr lang="en-US" altLang="zh-CN" sz="1000" dirty="0"/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000" dirty="0">
                            <a:sym typeface="+mn-ea"/>
                          </a:rPr>
                          <a:t>500A</a:t>
                        </a:r>
                        <a:endParaRPr lang="en-US" altLang="zh-CN" sz="1000" dirty="0">
                          <a:sym typeface="+mn-ea"/>
                        </a:endParaRPr>
                      </a:p>
                      <a:p>
                        <a:pPr algn="ctr">
                          <a:buNone/>
                        </a:pPr>
                        <a:r>
                          <a:rPr lang="en-US" altLang="zh-CN" sz="1000" dirty="0">
                            <a:sym typeface="+mn-ea"/>
                          </a:rPr>
                          <a:t>50Hz</a:t>
                        </a:r>
                        <a:endParaRPr lang="zh-CN" altLang="en-US" sz="1000" dirty="0">
                          <a:sym typeface="+mn-ea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000" dirty="0"/>
                          <a:t>1.05</a:t>
                        </a:r>
                        <a:r>
                          <a:rPr lang="zh-CN" altLang="en-US" sz="1000" dirty="0"/>
                          <a:t>℃</a:t>
                        </a:r>
                        <a:r>
                          <a:rPr lang="en-US" altLang="zh-CN" sz="1000" dirty="0"/>
                          <a:t>/min</a:t>
                        </a:r>
                        <a:endParaRPr lang="en-US" altLang="zh-CN" sz="1000" dirty="0"/>
                      </a:p>
                      <a:p>
                        <a:pPr algn="ctr">
                          <a:buNone/>
                        </a:pPr>
                        <a:r>
                          <a:rPr lang="en-US" altLang="zh-CN" sz="1000" dirty="0"/>
                          <a:t>(-25</a:t>
                        </a:r>
                        <a:r>
                          <a:rPr lang="zh-CN" altLang="en-US" sz="1000" dirty="0"/>
                          <a:t>℃</a:t>
                        </a:r>
                        <a:r>
                          <a:rPr lang="en-US" altLang="zh-CN" sz="1000" dirty="0"/>
                          <a:t>)</a:t>
                        </a:r>
                        <a:endParaRPr lang="zh-CN" altLang="en-US" sz="1000" dirty="0"/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5828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000" dirty="0"/>
                          <a:t>长安</a:t>
                        </a:r>
                        <a:endParaRPr lang="en-US" altLang="zh-CN" sz="1000" dirty="0"/>
                      </a:p>
                      <a:p>
                        <a:pPr algn="ctr">
                          <a:buNone/>
                        </a:pPr>
                        <a:r>
                          <a:rPr lang="zh-CN" altLang="en-US" sz="1000" dirty="0"/>
                          <a:t>深蓝</a:t>
                        </a:r>
                        <a:r>
                          <a:rPr lang="en-US" altLang="zh-CN" sz="1000" dirty="0"/>
                          <a:t>SL03</a:t>
                        </a:r>
                        <a:endParaRPr lang="en-US" altLang="zh-CN" sz="10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buNone/>
                        </a:pPr>
                        <a:r>
                          <a:rPr lang="zh-CN" altLang="en-US" sz="1000" dirty="0">
                            <a:sym typeface="+mn-ea"/>
                          </a:rPr>
                          <a:t>三相单电机，单</a:t>
                        </a:r>
                        <a:r>
                          <a:rPr lang="zh-CN" altLang="en-US" sz="1000" dirty="0">
                            <a:solidFill>
                              <a:schemeClr val="tx1"/>
                            </a:solidFill>
                            <a:sym typeface="+mn-ea"/>
                          </a:rPr>
                          <a:t>电池组</a:t>
                        </a:r>
                        <a:r>
                          <a:rPr lang="zh-CN" altLang="en-US" sz="1000" dirty="0">
                            <a:sym typeface="+mn-ea"/>
                          </a:rPr>
                          <a:t>，</a:t>
                        </a:r>
                        <a:r>
                          <a:rPr lang="zh-CN" altLang="en-US" sz="1000" dirty="0">
                            <a:solidFill>
                              <a:srgbClr val="B10011"/>
                            </a:solidFill>
                          </a:rPr>
                          <a:t>外置电感</a:t>
                        </a:r>
                        <a:endParaRPr lang="zh-CN" altLang="en-US" sz="1000" dirty="0">
                          <a:sym typeface="+mn-ea"/>
                        </a:endParaRPr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000" dirty="0"/>
                          <a:t>-</a:t>
                        </a:r>
                        <a:endParaRPr lang="zh-CN" altLang="en-US" sz="10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000" dirty="0">
                            <a:sym typeface="+mn-ea"/>
                          </a:rPr>
                          <a:t>4℃/min</a:t>
                        </a:r>
                        <a:endParaRPr lang="en-US" altLang="zh-CN" sz="1000" dirty="0">
                          <a:sym typeface="+mn-ea"/>
                        </a:endParaRPr>
                      </a:p>
                      <a:p>
                        <a:pPr algn="ctr">
                          <a:buNone/>
                        </a:pPr>
                        <a:r>
                          <a:rPr lang="en-US" altLang="zh-CN" sz="1000" dirty="0">
                            <a:sym typeface="+mn-ea"/>
                          </a:rPr>
                          <a:t>(-30℃)</a:t>
                        </a:r>
                        <a:endParaRPr lang="en-US" altLang="zh-CN" sz="10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5828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000" dirty="0"/>
                          <a:t>东风</a:t>
                        </a:r>
                        <a:endParaRPr lang="en-US" altLang="zh-CN" sz="1000" dirty="0"/>
                      </a:p>
                      <a:p>
                        <a:pPr algn="ctr">
                          <a:buNone/>
                        </a:pPr>
                        <a:r>
                          <a:rPr lang="zh-CN" altLang="en-US" sz="1000" dirty="0"/>
                          <a:t>实车测试</a:t>
                        </a:r>
                        <a:endParaRPr lang="zh-CN" altLang="en-US" sz="1000" dirty="0"/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buNone/>
                        </a:pPr>
                        <a:r>
                          <a:rPr lang="zh-CN" altLang="en-US" sz="1000">
                            <a:sym typeface="+mn-ea"/>
                          </a:rPr>
                          <a:t>三相单电机，单</a:t>
                        </a:r>
                        <a:r>
                          <a:rPr lang="zh-CN" altLang="en-US" sz="1000">
                            <a:solidFill>
                              <a:schemeClr val="tx1"/>
                            </a:solidFill>
                            <a:sym typeface="+mn-ea"/>
                          </a:rPr>
                          <a:t>电池组，</a:t>
                        </a:r>
                        <a:r>
                          <a:rPr lang="zh-CN" altLang="en-US" sz="1000">
                            <a:solidFill>
                              <a:srgbClr val="C00000"/>
                            </a:solidFill>
                            <a:sym typeface="+mn-ea"/>
                          </a:rPr>
                          <a:t>热管理改制</a:t>
                        </a:r>
                        <a:endParaRPr lang="zh-CN" altLang="en-US" sz="1000">
                          <a:solidFill>
                            <a:srgbClr val="C00000"/>
                          </a:solidFill>
                          <a:sym typeface="+mn-ea"/>
                        </a:endParaRPr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000" dirty="0">
                            <a:sym typeface="+mn-ea"/>
                          </a:rPr>
                          <a:t>170A</a:t>
                        </a:r>
                        <a:endParaRPr lang="en-US" altLang="zh-CN" sz="1000" dirty="0">
                          <a:sym typeface="+mn-ea"/>
                        </a:endParaRPr>
                      </a:p>
                      <a:p>
                        <a:pPr algn="ctr">
                          <a:buNone/>
                        </a:pPr>
                        <a:r>
                          <a:rPr lang="en-US" altLang="zh-CN" sz="1000" dirty="0">
                            <a:sym typeface="+mn-ea"/>
                          </a:rPr>
                          <a:t>1110Hz</a:t>
                        </a:r>
                        <a:endParaRPr lang="zh-CN" altLang="en-US" sz="1000" dirty="0">
                          <a:sym typeface="+mn-ea"/>
                        </a:endParaRPr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1000" dirty="0">
                            <a:sym typeface="+mn-ea"/>
                          </a:rPr>
                          <a:t>1.1℃/min</a:t>
                        </a:r>
                        <a:endParaRPr lang="en-US" altLang="zh-CN" sz="1000" dirty="0">
                          <a:sym typeface="+mn-ea"/>
                        </a:endParaRPr>
                      </a:p>
                      <a:p>
                        <a:pPr algn="ctr">
                          <a:buNone/>
                        </a:pPr>
                        <a:r>
                          <a:rPr lang="en-US" altLang="zh-CN" sz="1000" dirty="0">
                            <a:sym typeface="+mn-ea"/>
                          </a:rPr>
                          <a:t>(-20℃)</a:t>
                        </a:r>
                        <a:endParaRPr lang="zh-CN" altLang="en-US" sz="1000" dirty="0">
                          <a:sym typeface="+mn-ea"/>
                        </a:endParaRPr>
                      </a:p>
                    </a:txBody>
                    <a:tcPr anchor="ctr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25" name="文本框 24"/>
            <p:cNvSpPr txBox="1"/>
            <p:nvPr/>
          </p:nvSpPr>
          <p:spPr>
            <a:xfrm>
              <a:off x="5312284" y="1824273"/>
              <a:ext cx="2085340" cy="22606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200" b="1" dirty="0">
                  <a:solidFill>
                    <a:srgbClr val="152A8C"/>
                  </a:solidFill>
                </a:rPr>
                <a:t>各企业脉冲加热方案</a:t>
              </a:r>
              <a:endParaRPr lang="zh-CN" altLang="en-US" sz="1200" b="1" dirty="0">
                <a:solidFill>
                  <a:srgbClr val="152A8C"/>
                </a:solidFill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00" y="3454175"/>
            <a:ext cx="3996908" cy="2242016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426980" y="1700808"/>
            <a:ext cx="79012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152A8C"/>
                </a:solidFill>
                <a:latin typeface="Calibri" panose="020F0502020204030204" charset="0"/>
              </a:rPr>
              <a:t>产热来源：</a:t>
            </a:r>
            <a:r>
              <a:rPr lang="zh-CN" altLang="en-US" sz="1400" dirty="0">
                <a:solidFill>
                  <a:srgbClr val="152A8C"/>
                </a:solidFill>
                <a:latin typeface="Calibri" panose="020F0502020204030204" charset="0"/>
              </a:rPr>
              <a:t>低温环境下电池内阻显著增大。施加脉冲电流（</a:t>
            </a:r>
            <a:r>
              <a:rPr lang="zh-CN" altLang="en-US" sz="1400" b="1" dirty="0">
                <a:solidFill>
                  <a:srgbClr val="152A8C"/>
                </a:solidFill>
                <a:latin typeface="Calibri" panose="020F0502020204030204" charset="0"/>
              </a:rPr>
              <a:t>焦耳定律</a:t>
            </a:r>
            <a:r>
              <a:rPr lang="en-US" altLang="zh-CN" sz="1400" dirty="0">
                <a:solidFill>
                  <a:srgbClr val="152A8C"/>
                </a:solidFill>
                <a:latin typeface="+mn-ea"/>
              </a:rPr>
              <a:t>Q=I</a:t>
            </a:r>
            <a:r>
              <a:rPr lang="en-US" altLang="zh-CN" sz="1400" baseline="30000" dirty="0">
                <a:solidFill>
                  <a:srgbClr val="152A8C"/>
                </a:solidFill>
                <a:latin typeface="+mn-ea"/>
              </a:rPr>
              <a:t>2</a:t>
            </a:r>
            <a:r>
              <a:rPr lang="en-US" altLang="zh-CN" sz="1400" dirty="0">
                <a:solidFill>
                  <a:srgbClr val="152A8C"/>
                </a:solidFill>
                <a:latin typeface="+mn-ea"/>
              </a:rPr>
              <a:t>Rt</a:t>
            </a:r>
            <a:r>
              <a:rPr lang="zh-CN" altLang="en-US" sz="1400" dirty="0">
                <a:solidFill>
                  <a:srgbClr val="152A8C"/>
                </a:solidFill>
                <a:latin typeface="Calibri" panose="020F0502020204030204" charset="0"/>
              </a:rPr>
              <a:t>）实现快速自加热。</a:t>
            </a:r>
            <a:endParaRPr lang="en-US" altLang="zh-CN" sz="1400" dirty="0">
              <a:solidFill>
                <a:srgbClr val="152A8C"/>
              </a:solidFill>
              <a:latin typeface="Calibri" panose="020F0502020204030204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152A8C"/>
                </a:solidFill>
                <a:latin typeface="Calibri" panose="020F0502020204030204" charset="0"/>
              </a:rPr>
              <a:t>防析锂设计：</a:t>
            </a:r>
            <a:r>
              <a:rPr lang="zh-CN" altLang="en-US" sz="1400" dirty="0">
                <a:solidFill>
                  <a:srgbClr val="152A8C"/>
                </a:solidFill>
                <a:latin typeface="Calibri" panose="020F0502020204030204" charset="0"/>
              </a:rPr>
              <a:t>采用</a:t>
            </a:r>
            <a:r>
              <a:rPr lang="zh-CN" altLang="en-US" sz="1400" b="1" dirty="0">
                <a:solidFill>
                  <a:srgbClr val="152A8C"/>
                </a:solidFill>
                <a:latin typeface="Calibri" panose="020F0502020204030204" charset="0"/>
              </a:rPr>
              <a:t>高频双向脉冲电流</a:t>
            </a:r>
            <a:r>
              <a:rPr lang="zh-CN" altLang="en-US" sz="1400" dirty="0">
                <a:solidFill>
                  <a:srgbClr val="152A8C"/>
                </a:solidFill>
                <a:latin typeface="Calibri" panose="020F0502020204030204" charset="0"/>
              </a:rPr>
              <a:t>（即正值</a:t>
            </a:r>
            <a:r>
              <a:rPr lang="en-US" altLang="zh-CN" sz="1400" dirty="0">
                <a:solidFill>
                  <a:srgbClr val="152A8C"/>
                </a:solidFill>
                <a:latin typeface="Calibri" panose="020F0502020204030204" charset="0"/>
              </a:rPr>
              <a:t>-0-</a:t>
            </a:r>
            <a:r>
              <a:rPr lang="zh-CN" altLang="en-US" sz="1400" dirty="0">
                <a:solidFill>
                  <a:srgbClr val="152A8C"/>
                </a:solidFill>
                <a:latin typeface="Calibri" panose="020F0502020204030204" charset="0"/>
              </a:rPr>
              <a:t>负值</a:t>
            </a:r>
            <a:r>
              <a:rPr lang="en-US" altLang="zh-CN" sz="1400" dirty="0">
                <a:solidFill>
                  <a:srgbClr val="152A8C"/>
                </a:solidFill>
                <a:latin typeface="Calibri" panose="020F0502020204030204" charset="0"/>
              </a:rPr>
              <a:t>-0-</a:t>
            </a:r>
            <a:r>
              <a:rPr lang="zh-CN" altLang="en-US" sz="1400" dirty="0">
                <a:solidFill>
                  <a:srgbClr val="152A8C"/>
                </a:solidFill>
                <a:latin typeface="Calibri" panose="020F0502020204030204" charset="0"/>
              </a:rPr>
              <a:t>正值交替），为负极处理锂离子留出时间和空间，有效避免低温大电流充电时锂离子在负极表面堆积形成金属锂（即“析锂”），从而保护电池寿命和安全性。</a:t>
            </a:r>
            <a:endParaRPr lang="en-US" altLang="zh-CN" sz="1400" dirty="0">
              <a:solidFill>
                <a:srgbClr val="152A8C"/>
              </a:solidFill>
              <a:latin typeface="Calibri" panose="020F0502020204030204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152A8C"/>
                </a:solidFill>
                <a:latin typeface="Calibri" panose="020F0502020204030204" charset="0"/>
              </a:rPr>
              <a:t>电脉冲生成方式：</a:t>
            </a:r>
            <a:r>
              <a:rPr lang="zh-CN" altLang="en-US" sz="1400" dirty="0">
                <a:solidFill>
                  <a:srgbClr val="152A8C"/>
                </a:solidFill>
                <a:latin typeface="Calibri" panose="020F0502020204030204" charset="0"/>
              </a:rPr>
              <a:t>利用</a:t>
            </a:r>
            <a:r>
              <a:rPr lang="en-US" altLang="zh-CN" sz="1400" b="1" dirty="0">
                <a:solidFill>
                  <a:srgbClr val="152A8C"/>
                </a:solidFill>
                <a:latin typeface="+mn-ea"/>
              </a:rPr>
              <a:t>IGBT</a:t>
            </a:r>
            <a:r>
              <a:rPr lang="zh-CN" altLang="en-US" sz="1400" b="1" dirty="0">
                <a:solidFill>
                  <a:srgbClr val="152A8C"/>
                </a:solidFill>
                <a:latin typeface="Calibri" panose="020F0502020204030204" charset="0"/>
              </a:rPr>
              <a:t>功率开关</a:t>
            </a:r>
            <a:r>
              <a:rPr lang="zh-CN" altLang="en-US" sz="1400" dirty="0">
                <a:solidFill>
                  <a:srgbClr val="152A8C"/>
                </a:solidFill>
                <a:latin typeface="Calibri" panose="020F0502020204030204" charset="0"/>
              </a:rPr>
              <a:t>和</a:t>
            </a:r>
            <a:r>
              <a:rPr lang="zh-CN" altLang="en-US" sz="1400" b="1" dirty="0">
                <a:solidFill>
                  <a:srgbClr val="152A8C"/>
                </a:solidFill>
                <a:latin typeface="Calibri" panose="020F0502020204030204" charset="0"/>
              </a:rPr>
              <a:t>储能元件</a:t>
            </a:r>
            <a:r>
              <a:rPr lang="zh-CN" altLang="en-US" sz="1400" dirty="0">
                <a:solidFill>
                  <a:srgbClr val="152A8C"/>
                </a:solidFill>
                <a:latin typeface="Calibri" panose="020F0502020204030204" charset="0"/>
              </a:rPr>
              <a:t>（电容和电感），与电池构成脉冲充放电回路。</a:t>
            </a:r>
            <a:endParaRPr lang="zh-CN" altLang="en-US" sz="1400" dirty="0">
              <a:solidFill>
                <a:srgbClr val="152A8C"/>
              </a:solidFill>
              <a:latin typeface="Calibri" panose="020F050202020403020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192" y="1536135"/>
            <a:ext cx="3593369" cy="1541965"/>
          </a:xfrm>
          <a:prstGeom prst="rect">
            <a:avLst/>
          </a:prstGeom>
        </p:spPr>
      </p:pic>
      <p:cxnSp>
        <p:nvCxnSpPr>
          <p:cNvPr id="20" name="直接连接符 19"/>
          <p:cNvCxnSpPr/>
          <p:nvPr/>
        </p:nvCxnSpPr>
        <p:spPr>
          <a:xfrm>
            <a:off x="326439" y="3140968"/>
            <a:ext cx="11610895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10429377" y="2286574"/>
            <a:ext cx="1425326" cy="791526"/>
            <a:chOff x="4583833" y="1488976"/>
            <a:chExt cx="3360846" cy="186637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5"/>
            <a:srcRect l="18994" r="12095" b="51898"/>
            <a:stretch>
              <a:fillRect/>
            </a:stretch>
          </p:blipFill>
          <p:spPr>
            <a:xfrm>
              <a:off x="4583833" y="1488976"/>
              <a:ext cx="3360846" cy="1866378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5619024" y="2056754"/>
              <a:ext cx="1765894" cy="288745"/>
            </a:xfrm>
            <a:prstGeom prst="rect">
              <a:avLst/>
            </a:prstGeom>
            <a:solidFill>
              <a:srgbClr val="F1F1F1"/>
            </a:solidFill>
          </p:spPr>
          <p:txBody>
            <a:bodyPr wrap="squar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zh-CN" altLang="en-US" sz="595" b="1" dirty="0">
                  <a:latin typeface="+mj-lt"/>
                </a:rPr>
                <a:t>高频双向脉冲电流</a:t>
              </a:r>
              <a:endParaRPr lang="zh-CN" altLang="en-US" sz="595" b="1" dirty="0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 dirty="0">
                <a:solidFill>
                  <a:schemeClr val="accent1"/>
                </a:solidFill>
                <a:sym typeface="+mn-ea"/>
              </a:rPr>
              <a:t>一、脉冲加热</a:t>
            </a:r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技术洞察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注明推荐频率范围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重点说明</a:t>
            </a:r>
            <a:r>
              <a:rPr lang="zh-CN" altLang="en-US" b="1" dirty="0">
                <a:sym typeface="+mn-ea"/>
              </a:rPr>
              <a:t>各企业脉冲加热方案表</a:t>
            </a:r>
            <a:r>
              <a:rPr lang="zh-CN" altLang="en-US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查询整车信息（</a:t>
            </a:r>
            <a:r>
              <a:rPr lang="zh-CN" altLang="en-US" dirty="0">
                <a:sym typeface="+mn-ea"/>
              </a:rPr>
              <a:t>整车电量、电压、加热</a:t>
            </a:r>
            <a:r>
              <a:rPr lang="zh-CN" altLang="en-US" dirty="0">
                <a:sym typeface="+mn-ea"/>
              </a:rPr>
              <a:t>耗电量等）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3.</a:t>
            </a:r>
            <a:r>
              <a:rPr lang="zh-CN" altLang="en-US" dirty="0">
                <a:sym typeface="+mn-ea"/>
              </a:rPr>
              <a:t>疑问：比亚迪与东风的电流频率方案差距</a:t>
            </a:r>
            <a:r>
              <a:rPr lang="zh-CN" altLang="en-US" dirty="0">
                <a:sym typeface="+mn-ea"/>
              </a:rPr>
              <a:t>很大？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4.</a:t>
            </a:r>
            <a:r>
              <a:rPr lang="zh-CN" altLang="en-US" dirty="0">
                <a:sym typeface="+mn-ea"/>
              </a:rPr>
              <a:t>突出一下技术的用户价值，反映到用户端的体验</a:t>
            </a:r>
            <a:r>
              <a:rPr lang="zh-CN" altLang="en-US" dirty="0">
                <a:sym typeface="+mn-ea"/>
              </a:rPr>
              <a:t>如何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2098" y="1988840"/>
            <a:ext cx="3456383" cy="1274900"/>
          </a:xfrm>
          <a:prstGeom prst="rect">
            <a:avLst/>
          </a:prstGeom>
        </p:spPr>
      </p:pic>
      <p:graphicFrame>
        <p:nvGraphicFramePr>
          <p:cNvPr id="3" name="表格 3"/>
          <p:cNvGraphicFramePr>
            <a:graphicFrameLocks noGrp="1"/>
          </p:cNvGraphicFramePr>
          <p:nvPr/>
        </p:nvGraphicFramePr>
        <p:xfrm>
          <a:off x="477723" y="1615400"/>
          <a:ext cx="11236557" cy="48616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9725"/>
                <a:gridCol w="1224136"/>
                <a:gridCol w="4069280"/>
                <a:gridCol w="2646708"/>
                <a:gridCol w="2646708"/>
              </a:tblGrid>
              <a:tr h="3734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分类</a:t>
                      </a:r>
                      <a:endParaRPr lang="zh-CN" altLang="en-US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配置</a:t>
                      </a:r>
                      <a:endParaRPr lang="zh-CN" altLang="en-US" sz="1600" b="1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电路拓扑</a:t>
                      </a:r>
                      <a:endParaRPr lang="zh-CN" alt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特点</a:t>
                      </a:r>
                      <a:endParaRPr lang="zh-CN" altLang="en-US" sz="1600" b="1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代价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7832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原始方案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三相单电机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电池单模组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无额外电感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不做或极小硬件改动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：完全复用现有电驱系统，仅需软件升级控制策略，成本最低</a:t>
                      </a:r>
                      <a:endParaRPr lang="zh-CN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加热电流受限：</a:t>
                      </a:r>
                      <a:r>
                        <a:rPr lang="zh-CN" altLang="en-US" sz="1200" dirty="0"/>
                        <a:t>受绕组电感和开关器件额定电流限制</a:t>
                      </a:r>
                      <a:endParaRPr lang="en-US" altLang="zh-CN" sz="1200" dirty="0"/>
                    </a:p>
                    <a:p>
                      <a:r>
                        <a:rPr lang="zh-CN" altLang="en-US" sz="1200" b="1" dirty="0"/>
                        <a:t>可能产生扭矩</a:t>
                      </a:r>
                      <a:r>
                        <a:rPr lang="en-US" altLang="zh-CN" sz="1200" b="1" dirty="0"/>
                        <a:t>/</a:t>
                      </a:r>
                      <a:r>
                        <a:rPr lang="zh-CN" altLang="en-US" sz="1200" b="1" dirty="0"/>
                        <a:t>抖动：</a:t>
                      </a:r>
                      <a:r>
                        <a:rPr lang="zh-CN" altLang="en-US" sz="1200" dirty="0"/>
                        <a:t>脉冲电流可能在电机中产生转矩，导致车辆抖动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6144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长安优化方案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三相单电机中性点引出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电池单模组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</a:rPr>
                        <a:t>额外电感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提升加热能力</a:t>
                      </a:r>
                      <a:r>
                        <a:rPr lang="zh-CN" altLang="en-US" sz="1200" dirty="0"/>
                        <a:t>：外置电感或谐振电容可以存储和释放更多能量，提高加热速率</a:t>
                      </a:r>
                      <a:endParaRPr lang="en-US" altLang="zh-CN" sz="1200" dirty="0"/>
                    </a:p>
                    <a:p>
                      <a:r>
                        <a:rPr lang="zh-CN" altLang="en-US" sz="1200" b="1" dirty="0"/>
                        <a:t>灵活控制</a:t>
                      </a:r>
                      <a:r>
                        <a:rPr lang="zh-CN" altLang="en-US" sz="1200" dirty="0"/>
                        <a:t>：可根据温度切换加热档位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i="0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需要新增电感、电容、额外的开关管等元件</a:t>
                      </a:r>
                      <a:endParaRPr lang="zh-CN" altLang="en-US" sz="1200" b="1" i="0" kern="1200" dirty="0">
                        <a:solidFill>
                          <a:schemeClr val="accent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44216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宁德时代桩端联合加热方案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充电桩内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增加</a:t>
                      </a:r>
                      <a:r>
                        <a:rPr lang="en-US" altLang="zh-CN" sz="1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DC/DC</a:t>
                      </a:r>
                      <a:r>
                        <a:rPr lang="zh-CN" altLang="en-US" sz="1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转换电路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r>
                        <a:rPr lang="zh-CN" altLang="en-US" sz="1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储能模块</a:t>
                      </a:r>
                      <a:endParaRPr lang="zh-CN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低频加热</a:t>
                      </a:r>
                      <a:r>
                        <a:rPr lang="en-US" altLang="zh-CN" sz="1200" b="1" dirty="0"/>
                        <a:t>(</a:t>
                      </a:r>
                      <a:r>
                        <a:rPr lang="zh-CN" altLang="en-US" sz="1200" b="1" dirty="0"/>
                        <a:t>几</a:t>
                      </a:r>
                      <a:r>
                        <a:rPr lang="en-US" altLang="zh-CN" sz="1200" b="1" dirty="0"/>
                        <a:t>Hz)</a:t>
                      </a:r>
                      <a:r>
                        <a:rPr lang="zh-CN" altLang="en-US" sz="1200" b="1" dirty="0"/>
                        <a:t>：</a:t>
                      </a:r>
                      <a:r>
                        <a:rPr lang="zh-CN" altLang="en-US" sz="1200" dirty="0"/>
                        <a:t>电网经过</a:t>
                      </a:r>
                      <a:r>
                        <a:rPr lang="en-US" altLang="zh-CN" sz="1200" dirty="0"/>
                        <a:t>AC/DC</a:t>
                      </a:r>
                      <a:r>
                        <a:rPr lang="zh-CN" altLang="en-US" sz="1200" dirty="0"/>
                        <a:t>和</a:t>
                      </a:r>
                      <a:r>
                        <a:rPr lang="en-US" altLang="zh-CN" sz="1200" dirty="0"/>
                        <a:t>DC/DC</a:t>
                      </a:r>
                      <a:r>
                        <a:rPr lang="zh-CN" altLang="en-US" sz="1200" dirty="0"/>
                        <a:t>转换后对电池包充放电。</a:t>
                      </a:r>
                      <a:endParaRPr lang="en-US" altLang="zh-CN" sz="1200" dirty="0"/>
                    </a:p>
                    <a:p>
                      <a:r>
                        <a:rPr lang="zh-CN" altLang="en-US" sz="1200" b="1" dirty="0"/>
                        <a:t>高频加热</a:t>
                      </a:r>
                      <a:r>
                        <a:rPr lang="en-US" altLang="zh-CN" sz="1200" b="1" dirty="0"/>
                        <a:t>(2kHz)</a:t>
                      </a:r>
                      <a:r>
                        <a:rPr lang="zh-CN" altLang="en-US" sz="1200" b="1" dirty="0"/>
                        <a:t>：</a:t>
                      </a:r>
                      <a:r>
                        <a:rPr lang="zh-CN" altLang="en-US" sz="1200" dirty="0"/>
                        <a:t>电池包与一个独立储能模块之间通过第二整流模块形成振荡回路，进行高频充放电</a:t>
                      </a:r>
                      <a:endParaRPr lang="en-US" altLang="zh-CN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电池包及电驱硬件无需修改</a:t>
                      </a:r>
                      <a:endParaRPr lang="en-US" altLang="zh-CN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需要修改电池包</a:t>
                      </a:r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BMS</a:t>
                      </a:r>
                      <a:r>
                        <a:rPr lang="zh-CN" altLang="en-US" sz="1200" b="0" dirty="0"/>
                        <a:t>向充电桩通信传递加热关键参数</a:t>
                      </a:r>
                      <a:endParaRPr lang="en-US" altLang="zh-CN" sz="12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/>
                        <a:t>标准与兼容性</a:t>
                      </a:r>
                      <a:r>
                        <a:rPr lang="zh-CN" altLang="en-US" sz="1200" dirty="0"/>
                        <a:t>：加热功能需要充电桩支持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二、脉冲加热方案分析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477520" y="883921"/>
            <a:ext cx="11271885" cy="672872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marR="0" lvl="0" indent="-285750" algn="l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检索获得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余项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相关专利，及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余篇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论文和技术文档，涵盖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比亚迪、长安、宁德时代、华为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等企业。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初步整理得出如下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种方案，原理及特性如下表所示。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3248528"/>
            <a:ext cx="3168352" cy="12749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073756" y="3443308"/>
            <a:ext cx="864096" cy="10801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81466" y="3248528"/>
            <a:ext cx="1809936" cy="332892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新增继电器开关和外置电感</a:t>
            </a:r>
            <a:endParaRPr lang="zh-CN" altLang="en-US" sz="11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00" y="4595153"/>
            <a:ext cx="3640941" cy="152703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76009" y="5792960"/>
            <a:ext cx="799894" cy="305462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交流电网</a:t>
            </a:r>
            <a:endParaRPr lang="zh-CN" altLang="en-US" sz="11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092154" y="4669521"/>
            <a:ext cx="799894" cy="305462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超充桩</a:t>
            </a:r>
            <a:endParaRPr lang="zh-CN" altLang="en-US" sz="11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688708" y="4745645"/>
            <a:ext cx="695324" cy="305462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动力电池</a:t>
            </a:r>
            <a:endParaRPr lang="zh-CN" altLang="en-US" sz="1100" b="1"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287688" y="5051107"/>
            <a:ext cx="244827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3287688" y="5173577"/>
            <a:ext cx="244827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071664" y="4787798"/>
            <a:ext cx="936104" cy="305462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rgbClr val="C00000"/>
                </a:solidFill>
                <a:latin typeface="+mj-lt"/>
              </a:rPr>
              <a:t>低频加热路径</a:t>
            </a:r>
            <a:endParaRPr lang="zh-CN" altLang="en-US" sz="1100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5601800" y="5461609"/>
            <a:ext cx="338778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5591944" y="5461609"/>
            <a:ext cx="0" cy="5760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5380829" y="5317593"/>
            <a:ext cx="338778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5407412" y="5389601"/>
            <a:ext cx="0" cy="5760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251555" y="6049922"/>
            <a:ext cx="936104" cy="305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2"/>
                </a:solidFill>
                <a:latin typeface="+mj-lt"/>
              </a:rPr>
              <a:t>高频加热路径</a:t>
            </a:r>
            <a:endParaRPr lang="zh-CN" altLang="en-US" sz="11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279576" y="3017358"/>
            <a:ext cx="14161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CN112977173B</a:t>
            </a:r>
            <a:endParaRPr lang="zh-CN" altLang="en-US" sz="1200" b="1" dirty="0">
              <a:solidFill>
                <a:schemeClr val="accent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79576" y="4307663"/>
            <a:ext cx="14161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CN112977171B</a:t>
            </a:r>
            <a:endParaRPr lang="zh-CN" altLang="en-US" sz="1200" b="1" dirty="0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279576" y="6230650"/>
            <a:ext cx="14161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accent1"/>
                </a:solidFill>
              </a:rPr>
              <a:t>CN116761739A</a:t>
            </a:r>
            <a:endParaRPr lang="zh-CN" altLang="en-US" sz="12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3"/>
          <p:cNvGraphicFramePr>
            <a:graphicFrameLocks noGrp="1"/>
          </p:cNvGraphicFramePr>
          <p:nvPr/>
        </p:nvGraphicFramePr>
        <p:xfrm>
          <a:off x="477723" y="1052736"/>
          <a:ext cx="11236557" cy="532859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21733"/>
                <a:gridCol w="1152128"/>
                <a:gridCol w="4069280"/>
                <a:gridCol w="2646708"/>
                <a:gridCol w="2646708"/>
              </a:tblGrid>
              <a:tr h="517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分类</a:t>
                      </a:r>
                      <a:endParaRPr lang="zh-CN" altLang="en-US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配置</a:t>
                      </a:r>
                      <a:endParaRPr lang="zh-CN" altLang="en-US" sz="1600" b="1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电路拓扑</a:t>
                      </a:r>
                      <a:endParaRPr lang="zh-CN" alt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特点</a:t>
                      </a:r>
                      <a:endParaRPr lang="zh-CN" altLang="en-US" sz="1600" b="1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缺点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0225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比亚迪双电池方案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三相单电机中性点引出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</a:rPr>
                        <a:t>双电池模组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</a:rPr>
                        <a:t>额外电感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加热效率高，电机转矩影响小</a:t>
                      </a:r>
                      <a:endParaRPr lang="en-US" altLang="zh-CN" sz="1200" b="1" dirty="0"/>
                    </a:p>
                    <a:p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适合多</a:t>
                      </a:r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Pack</a:t>
                      </a:r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商用车场景</a:t>
                      </a:r>
                      <a:endParaRPr lang="en-US" altLang="zh-CN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需改动电池包结构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1200" b="1" i="0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必须将电池包分成电气隔离的两部分并引出中点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，增加了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BMS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的复杂性和成本。</a:t>
                      </a:r>
                      <a:endParaRPr lang="zh-CN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增加高压部件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12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需增加至少一个高压继电器和相应线束</a:t>
                      </a:r>
                      <a:endParaRPr lang="zh-CN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5429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比亚迪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双向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DCDC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方案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串联双电池包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</a:rPr>
                        <a:t>增加高功率双向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DCDC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</a:rPr>
                        <a:t>变换器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通过控制</a:t>
                      </a:r>
                      <a:r>
                        <a:rPr lang="en-US" altLang="zh-CN" sz="1200" dirty="0"/>
                        <a:t>DCDC</a:t>
                      </a:r>
                      <a:r>
                        <a:rPr lang="zh-CN" altLang="en-US" sz="1200" dirty="0"/>
                        <a:t>变换器，使电池包内部分隔的两组电池进行高频的</a:t>
                      </a:r>
                      <a:r>
                        <a:rPr lang="zh-CN" altLang="en-US" sz="1200" b="1" dirty="0"/>
                        <a:t>相互充放电</a:t>
                      </a:r>
                      <a:endParaRPr lang="en-US" altLang="zh-CN" sz="12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不依赖车辆电机和电机控制器产生脉冲电流</a:t>
                      </a:r>
                      <a:endParaRPr lang="en-US" altLang="zh-CN" sz="1200" b="1" dirty="0">
                        <a:solidFill>
                          <a:srgbClr val="C00000"/>
                        </a:solidFill>
                      </a:endParaRPr>
                    </a:p>
                    <a:p>
                      <a:endParaRPr lang="zh-CN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i="0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需增加高功率双向</a:t>
                      </a:r>
                      <a:r>
                        <a:rPr lang="en-US" altLang="zh-CN" sz="1200" b="1" i="0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DCDC</a:t>
                      </a:r>
                      <a:r>
                        <a:rPr lang="zh-CN" altLang="en-US" sz="1200" b="1" i="0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变换器</a:t>
                      </a:r>
                      <a:endParaRPr lang="en-US" altLang="zh-CN" sz="1200" b="1" i="0" kern="1200" dirty="0">
                        <a:solidFill>
                          <a:schemeClr val="accent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200" b="1" dirty="0"/>
                        <a:t>控制算法</a:t>
                      </a:r>
                      <a:r>
                        <a:rPr lang="zh-CN" altLang="en-US" sz="1200" dirty="0"/>
                        <a:t>需精确管理充放电时序、频率与电压平衡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若子电池组电压不平衡，可能导致个别电芯过充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过放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5429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比亚迪全场景方案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三相单电机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电池单模组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</a:rPr>
                        <a:t>增加行车加热专用桥臂与储能元件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电机驱动和电池自加热互不影响</a:t>
                      </a:r>
                      <a:endParaRPr lang="en-US" altLang="zh-CN" sz="1200" b="1" dirty="0">
                        <a:solidFill>
                          <a:srgbClr val="C00000"/>
                        </a:solidFill>
                      </a:endParaRPr>
                    </a:p>
                    <a:p>
                      <a:r>
                        <a:rPr lang="zh-CN" altLang="en-US" sz="1200" b="1" dirty="0"/>
                        <a:t>场景扩展</a:t>
                      </a:r>
                      <a:r>
                        <a:rPr lang="zh-CN" altLang="en-US" sz="1200" dirty="0"/>
                        <a:t>：行驶中、充电中、驻车时均可脉冲加热，且具备</a:t>
                      </a:r>
                      <a:r>
                        <a:rPr lang="zh-CN" altLang="en-US" sz="1200" b="1" dirty="0"/>
                        <a:t>升压充电</a:t>
                      </a:r>
                      <a:r>
                        <a:rPr lang="zh-CN" altLang="en-US" sz="1200" dirty="0"/>
                        <a:t>功能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系统复杂，成本高</a:t>
                      </a:r>
                      <a:r>
                        <a:rPr lang="zh-CN" altLang="en-US" sz="1200" dirty="0"/>
                        <a:t>：</a:t>
                      </a:r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需要</a:t>
                      </a:r>
                      <a:r>
                        <a:rPr lang="zh-CN" altLang="en-US" sz="1200" b="1" dirty="0">
                          <a:solidFill>
                            <a:schemeClr val="accent4"/>
                          </a:solidFill>
                        </a:rPr>
                        <a:t>额外的充电系统功率电路和复杂的继电器网络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二、脉冲加热方案分析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4869" y="1606998"/>
            <a:ext cx="2954465" cy="153397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039295" y="1994452"/>
            <a:ext cx="344826" cy="73967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76009" y="1882609"/>
            <a:ext cx="638861" cy="71940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增加电池中线，把电池分为两组</a:t>
            </a:r>
            <a:endParaRPr lang="zh-CN" altLang="en-US" sz="11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4433"/>
          <a:stretch>
            <a:fillRect/>
          </a:stretch>
        </p:blipFill>
        <p:spPr>
          <a:xfrm>
            <a:off x="2927648" y="4797152"/>
            <a:ext cx="2551814" cy="1453961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792140" y="5595263"/>
            <a:ext cx="1348544" cy="63610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140684" y="5614624"/>
            <a:ext cx="955316" cy="71940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增加加热桥臂与储能电容、电感</a:t>
            </a:r>
            <a:endParaRPr lang="zh-CN" altLang="en-US" sz="11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318961" y="4499797"/>
            <a:ext cx="1391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CN212373187U</a:t>
            </a:r>
            <a:endParaRPr lang="zh-CN" altLang="en-US" sz="1200" b="1" dirty="0">
              <a:solidFill>
                <a:schemeClr val="accen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395" y="3156656"/>
            <a:ext cx="1792057" cy="1603568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727848" y="3958441"/>
            <a:ext cx="751614" cy="4066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27452" y="3910754"/>
            <a:ext cx="955316" cy="71940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增加双向</a:t>
            </a:r>
            <a:r>
              <a:rPr lang="en-US" altLang="zh-CN" sz="1100" b="1" dirty="0">
                <a:solidFill>
                  <a:schemeClr val="accent1"/>
                </a:solidFill>
                <a:latin typeface="+mj-lt"/>
              </a:rPr>
              <a:t>DCDC</a:t>
            </a: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变换器</a:t>
            </a:r>
            <a:endParaRPr lang="zh-CN" altLang="en-US" sz="11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305270" y="2882433"/>
            <a:ext cx="1391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CN114566740B</a:t>
            </a:r>
            <a:endParaRPr lang="zh-CN" altLang="en-US" sz="1200" b="1" dirty="0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318961" y="6092868"/>
            <a:ext cx="1391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kern="1200" dirty="0">
                <a:solidFill>
                  <a:srgbClr val="152A8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CN113752875B</a:t>
            </a:r>
            <a:endParaRPr lang="zh-CN" altLang="zh-CN" sz="1200" dirty="0"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二、脉冲加热方案分析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479425" y="908685"/>
            <a:ext cx="11589429" cy="2880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备选概念方案评估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graphicFrame>
        <p:nvGraphicFramePr>
          <p:cNvPr id="6" name="表格 6"/>
          <p:cNvGraphicFramePr>
            <a:graphicFrameLocks noGrp="1"/>
          </p:cNvGraphicFramePr>
          <p:nvPr/>
        </p:nvGraphicFramePr>
        <p:xfrm>
          <a:off x="263352" y="1196752"/>
          <a:ext cx="11665296" cy="5278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/>
                <a:gridCol w="1872208"/>
                <a:gridCol w="1512168"/>
                <a:gridCol w="1440160"/>
                <a:gridCol w="1008112"/>
                <a:gridCol w="1296144"/>
                <a:gridCol w="1296144"/>
                <a:gridCol w="1080120"/>
                <a:gridCol w="1512168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方案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原理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性能优劣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适用场景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可行性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成本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可靠性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成熟度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结论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0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原始</a:t>
                      </a:r>
                      <a:endParaRPr lang="en-US" altLang="zh-CN" sz="1200" dirty="0"/>
                    </a:p>
                    <a:p>
                      <a:pPr algn="ctr"/>
                      <a:r>
                        <a:rPr lang="zh-CN" altLang="en-US" sz="1200" dirty="0"/>
                        <a:t>方案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不做硬件改动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★★☆☆☆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效率低下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驻车场景</a:t>
                      </a:r>
                      <a:r>
                        <a:rPr lang="zh-CN" altLang="en-US" sz="1200" dirty="0"/>
                        <a:t>，车辆静止时加热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★★★★★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★★★★★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无新增硬件成本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可能产生扭矩脉动或噪声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r>
                        <a:rPr lang="zh-CN" altLang="en-US" sz="1200" dirty="0"/>
                        <a:t>级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r>
                        <a:rPr lang="zh-CN" altLang="en-US" sz="1200" dirty="0"/>
                        <a:t>原始方案适用于原理验证。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针对多电池包商用车场景且尽量不改动电池包或电机内部电路，方案</a:t>
                      </a:r>
                      <a:r>
                        <a:rPr lang="en-US" altLang="zh-CN" sz="1200" dirty="0"/>
                        <a:t>5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6</a:t>
                      </a:r>
                      <a:r>
                        <a:rPr lang="zh-CN" altLang="en-US" sz="1200" dirty="0"/>
                        <a:t>似更适合。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40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长安优化方案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电机中性点引出</a:t>
                      </a:r>
                      <a:r>
                        <a:rPr lang="en-US" altLang="zh-CN" sz="1200" dirty="0"/>
                        <a:t>+</a:t>
                      </a:r>
                      <a:r>
                        <a:rPr lang="zh-CN" altLang="en-US" sz="1200" dirty="0"/>
                        <a:t>额外电感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★★★★☆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加热速率显著提升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驻车场景</a:t>
                      </a:r>
                      <a:r>
                        <a:rPr lang="zh-CN" altLang="en-US" sz="1200" dirty="0"/>
                        <a:t>，低温环境快速升温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★★★☆☆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★★★☆☆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增加电感、开关等硬件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存在轻微电机噪声，且新增器件可能引入故障点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r>
                        <a:rPr lang="zh-CN" altLang="en-US" sz="1200" dirty="0"/>
                        <a:t>级（深蓝汽车装车）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4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宁德时代桩端联合加热方案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车辆只修改电池包</a:t>
                      </a:r>
                      <a:r>
                        <a:rPr lang="en-US" altLang="zh-CN" sz="1200" dirty="0"/>
                        <a:t>BMS+</a:t>
                      </a:r>
                      <a:r>
                        <a:rPr lang="zh-CN" altLang="en-US" sz="1200" dirty="0"/>
                        <a:t>充电桩增加</a:t>
                      </a:r>
                      <a:r>
                        <a:rPr lang="en-US" altLang="zh-CN" sz="1200" dirty="0"/>
                        <a:t>DCDC</a:t>
                      </a:r>
                      <a:r>
                        <a:rPr lang="zh-CN" altLang="en-US" sz="1200" dirty="0"/>
                        <a:t>转换电路和储能模块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★★★★☆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可提供高频脉冲电流且不占用车内空间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充电场景</a:t>
                      </a:r>
                      <a:r>
                        <a:rPr lang="zh-CN" altLang="en-US" sz="1200" dirty="0"/>
                        <a:t>，适用于充电前预热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★★☆☆☆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车端改动小，但充电桩端需增加电路与模块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★★★★☆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桩端专业设备，控制相对独立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r>
                        <a:rPr lang="zh-CN" altLang="en-US" sz="1200" dirty="0"/>
                        <a:t>级（北汽极狐验证）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40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比亚迪双电池方案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电池包分成电气隔离的两部分并引出中点</a:t>
                      </a:r>
                      <a:r>
                        <a:rPr lang="en-US" altLang="zh-CN" sz="1200" dirty="0"/>
                        <a:t>+</a:t>
                      </a:r>
                      <a:r>
                        <a:rPr lang="zh-CN" altLang="en-US" sz="1200" dirty="0"/>
                        <a:t>电机引出中性点</a:t>
                      </a:r>
                      <a:r>
                        <a:rPr lang="en-US" altLang="zh-CN" sz="1200" dirty="0"/>
                        <a:t>+</a:t>
                      </a:r>
                      <a:r>
                        <a:rPr lang="zh-CN" altLang="en-US" sz="1200" dirty="0"/>
                        <a:t>额外电感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★★★★☆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可更大限度利用电机电感，加热效率较高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驻车场景</a:t>
                      </a:r>
                      <a:r>
                        <a:rPr lang="zh-CN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z="1200" dirty="0"/>
                        <a:t>实现两组电池同时加热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★★☆☆☆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★★☆☆☆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电池包与电机均需改动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★★☆☆☆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系统较复杂，涉及电池包拆分与连接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r>
                        <a:rPr lang="zh-CN" altLang="en-US" sz="1200" dirty="0"/>
                        <a:t>级（腾势</a:t>
                      </a:r>
                      <a:r>
                        <a:rPr lang="en-US" altLang="zh-CN" sz="1200" dirty="0"/>
                        <a:t>N7</a:t>
                      </a:r>
                      <a:r>
                        <a:rPr lang="zh-CN" altLang="en-US" sz="1200" dirty="0"/>
                        <a:t>装车）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40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比亚迪</a:t>
                      </a:r>
                      <a:endParaRPr lang="en-US" altLang="zh-CN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双向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DCDC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方案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串联双电池包</a:t>
                      </a:r>
                      <a:r>
                        <a:rPr lang="en-US" altLang="zh-CN" sz="1200" dirty="0"/>
                        <a:t>+</a:t>
                      </a:r>
                      <a:r>
                        <a:rPr lang="zh-CN" altLang="en-US" sz="1200" dirty="0"/>
                        <a:t>增加高功率双向</a:t>
                      </a:r>
                      <a:r>
                        <a:rPr lang="en-US" altLang="zh-CN" sz="1200" dirty="0"/>
                        <a:t>DCDC</a:t>
                      </a:r>
                      <a:r>
                        <a:rPr lang="zh-CN" altLang="en-US" sz="1200" dirty="0"/>
                        <a:t>变换器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可实现两部分电池同时加热，但依赖双向</a:t>
                      </a:r>
                      <a:r>
                        <a:rPr lang="en-US" altLang="zh-CN" sz="1200" dirty="0"/>
                        <a:t>DCDC</a:t>
                      </a:r>
                      <a:r>
                        <a:rPr lang="zh-CN" altLang="en-US" sz="1200" dirty="0"/>
                        <a:t>功率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驻车场景</a:t>
                      </a:r>
                      <a:r>
                        <a:rPr lang="zh-CN" altLang="en-US" sz="1200" dirty="0"/>
                        <a:t>，适用于电池系统为双电池组或可分割架构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★★★★☆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★★★☆☆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增加额外的双向</a:t>
                      </a:r>
                      <a:r>
                        <a:rPr lang="en-US" altLang="zh-CN" sz="1200" dirty="0"/>
                        <a:t>DCDC</a:t>
                      </a:r>
                      <a:r>
                        <a:rPr lang="zh-CN" altLang="en-US" sz="1200" dirty="0"/>
                        <a:t>变换器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新增器件增加系统控制复杂度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r>
                        <a:rPr lang="zh-CN" altLang="en-US" sz="1200" dirty="0"/>
                        <a:t>级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40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比亚迪全场景方案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增加行车加热专用桥臂与储能元件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★★★★★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专有加热回路，与驱动解耦，加热效率高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全场景</a:t>
                      </a:r>
                      <a:r>
                        <a:rPr lang="zh-CN" altLang="en-US" sz="1200" dirty="0"/>
                        <a:t>，行车、驻车、充电均可加热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★★★☆☆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★★☆☆☆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新增专用硬件较多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★★★★☆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加热与驱动功能独立，互不干扰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r>
                        <a:rPr lang="zh-CN" altLang="en-US" sz="1200" dirty="0"/>
                        <a:t>级（海狮</a:t>
                      </a:r>
                      <a:r>
                        <a:rPr lang="en-US" altLang="zh-CN" sz="1200" dirty="0"/>
                        <a:t>07EV</a:t>
                      </a:r>
                      <a:r>
                        <a:rPr lang="zh-CN" altLang="en-US" sz="1200" dirty="0"/>
                        <a:t>首发）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二、脉冲加热方案分析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77520" y="1052830"/>
            <a:ext cx="11233150" cy="3531870"/>
          </a:xfrm>
        </p:spPr>
        <p:txBody>
          <a:bodyPr/>
          <a:p>
            <a:r>
              <a:rPr lang="zh-CN" altLang="en-US" dirty="0">
                <a:sym typeface="+mn-ea"/>
              </a:rPr>
              <a:t>方案讨论：查看方案</a:t>
            </a:r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是否需要改电池包（比较中意，看重成本低）；方案</a:t>
            </a:r>
            <a:r>
              <a:rPr lang="en-US" altLang="zh-CN" dirty="0">
                <a:sym typeface="+mn-ea"/>
              </a:rPr>
              <a:t>5</a:t>
            </a:r>
            <a:r>
              <a:rPr lang="zh-CN" altLang="en-US" dirty="0">
                <a:sym typeface="+mn-ea"/>
              </a:rPr>
              <a:t>的</a:t>
            </a:r>
            <a:r>
              <a:rPr lang="en-US" altLang="zh-CN" dirty="0">
                <a:sym typeface="+mn-ea"/>
              </a:rPr>
              <a:t>DCDC</a:t>
            </a:r>
            <a:r>
              <a:rPr lang="zh-CN" altLang="en-US" dirty="0">
                <a:sym typeface="+mn-ea"/>
              </a:rPr>
              <a:t>元件价格多少、功率要求；方案</a:t>
            </a:r>
            <a:r>
              <a:rPr lang="en-US" altLang="zh-CN" dirty="0">
                <a:sym typeface="+mn-ea"/>
              </a:rPr>
              <a:t>6</a:t>
            </a:r>
            <a:r>
              <a:rPr lang="zh-CN" altLang="en-US" dirty="0">
                <a:sym typeface="+mn-ea"/>
              </a:rPr>
              <a:t>的元件价格多少、功率要求（等电控团队</a:t>
            </a:r>
            <a:r>
              <a:rPr lang="zh-CN" altLang="en-US" dirty="0">
                <a:sym typeface="+mn-ea"/>
              </a:rPr>
              <a:t>结果）。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表格头更新。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三、脉冲加热开发节点计划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74675" y="2443480"/>
          <a:ext cx="11137900" cy="3956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370"/>
                <a:gridCol w="927735"/>
                <a:gridCol w="937895"/>
                <a:gridCol w="918845"/>
                <a:gridCol w="927735"/>
                <a:gridCol w="928370"/>
                <a:gridCol w="928370"/>
                <a:gridCol w="936625"/>
                <a:gridCol w="919480"/>
                <a:gridCol w="928370"/>
                <a:gridCol w="927735"/>
                <a:gridCol w="928370"/>
              </a:tblGrid>
              <a:tr h="13188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</a:tr>
              <a:tr h="13188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13188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圆角矩形 5"/>
          <p:cNvSpPr/>
          <p:nvPr/>
        </p:nvSpPr>
        <p:spPr>
          <a:xfrm>
            <a:off x="1021715" y="2602865"/>
            <a:ext cx="1404000" cy="216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电芯低温性能实验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" y="6400165"/>
            <a:ext cx="7067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327640" y="6400165"/>
            <a:ext cx="8210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507490" y="2893060"/>
            <a:ext cx="1427480" cy="213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电芯电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热耦合建模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82820" y="6400165"/>
            <a:ext cx="7067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953170" y="2893060"/>
            <a:ext cx="1836000" cy="2069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Pack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三维热模型建模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370034" y="2602865"/>
            <a:ext cx="1661022" cy="21209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电芯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/Pack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脉冲加热实验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953170" y="3169920"/>
            <a:ext cx="2243885" cy="213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脉冲加热方案设计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9030" y="4086575"/>
            <a:ext cx="362585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拓扑设计和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策略实现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63630" y="6400165"/>
            <a:ext cx="8210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27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zh-CN" altLang="en-US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807370" y="2898357"/>
            <a:ext cx="1325460" cy="2080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脉冲加热寿命评估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361055" y="3982085"/>
            <a:ext cx="3228340" cy="215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simulink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脉冲加热仿真系统开发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958025" y="3456522"/>
            <a:ext cx="2174806" cy="17758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脉冲加热算法开发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021715" y="4309110"/>
            <a:ext cx="2339775" cy="213360"/>
          </a:xfrm>
          <a:prstGeom prst="roundRect">
            <a:avLst/>
          </a:prstGeom>
          <a:gradFill>
            <a:gsLst>
              <a:gs pos="0">
                <a:srgbClr val="4964E4"/>
              </a:gs>
              <a:gs pos="100000">
                <a:srgbClr val="FF374A"/>
              </a:gs>
            </a:gsLst>
            <a:lin ang="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拓扑结构初步设计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0798810" y="5928855"/>
            <a:ext cx="913765" cy="21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实车测试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597775" y="5673090"/>
            <a:ext cx="1807845" cy="215900"/>
          </a:xfrm>
          <a:prstGeom prst="roundRect">
            <a:avLst/>
          </a:prstGeom>
          <a:gradFill flip="none" rotWithShape="1">
            <a:gsLst>
              <a:gs pos="0">
                <a:srgbClr val="4964E4"/>
              </a:gs>
              <a:gs pos="50000">
                <a:srgbClr val="FF374A"/>
              </a:gs>
              <a:gs pos="100000">
                <a:srgbClr val="00B050"/>
              </a:gs>
            </a:gsLst>
            <a:lin ang="0" scaled="1"/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台架耐久性测试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5202555" y="4776470"/>
            <a:ext cx="1854200" cy="2159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系统控制软件集成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589395" y="5161915"/>
            <a:ext cx="1008000" cy="21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台架原型准备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9867265" y="5806667"/>
            <a:ext cx="919480" cy="460375"/>
          </a:xfrm>
          <a:prstGeom prst="roundRect">
            <a:avLst/>
          </a:prstGeom>
          <a:gradFill>
            <a:gsLst>
              <a:gs pos="0">
                <a:srgbClr val="4964E4"/>
              </a:gs>
              <a:gs pos="50000">
                <a:srgbClr val="FF374A"/>
              </a:gs>
              <a:gs pos="100000">
                <a:srgbClr val="00B050"/>
              </a:gs>
            </a:gsLst>
            <a:lin ang="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电气调整、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软件更新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7520" y="883920"/>
            <a:ext cx="11271885" cy="8629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marR="0" lvl="0" indent="-285750" algn="l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策略与算法开发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完成从电芯到电池包的理论建模，设计高效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脉冲加热方案，开发自适应脉冲加热算法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拓扑设计与策略实现：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根据总体方案设计加热拓扑结构，建立脉冲加热系统模型，输出可集成的加热控制程序；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集成与测试验证：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通过系统台架实验完成性能和耐久性考核；完成在实车上的最终集成、冬季标定和项目验收。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00380" y="1747520"/>
            <a:ext cx="1296035" cy="360000"/>
          </a:xfrm>
          <a:prstGeom prst="rect">
            <a:avLst/>
          </a:prstGeom>
          <a:solidFill>
            <a:srgbClr val="496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动力总成前瞻部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917700" y="1748155"/>
            <a:ext cx="1296000" cy="360000"/>
          </a:xfrm>
          <a:prstGeom prst="rect">
            <a:avLst/>
          </a:prstGeom>
          <a:solidFill>
            <a:srgbClr val="FF374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新能源开发部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335020" y="1747520"/>
            <a:ext cx="1296000" cy="360000"/>
          </a:xfrm>
          <a:prstGeom prst="rect">
            <a:avLst/>
          </a:prstGeom>
          <a:solidFill>
            <a:srgbClr val="00B050"/>
          </a:solidFill>
          <a:ln>
            <a:solidFill>
              <a:srgbClr val="0F298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中重型车开发部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74676" y="2602865"/>
            <a:ext cx="420370" cy="24676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总体方案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选择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597140" y="5405755"/>
            <a:ext cx="1808480" cy="215900"/>
          </a:xfrm>
          <a:prstGeom prst="roundRect">
            <a:avLst/>
          </a:prstGeom>
          <a:gradFill flip="none" rotWithShape="1">
            <a:gsLst>
              <a:gs pos="0">
                <a:srgbClr val="4964E4"/>
              </a:gs>
              <a:gs pos="50000">
                <a:srgbClr val="FF374A"/>
              </a:gs>
              <a:gs pos="100000">
                <a:srgbClr val="00B050"/>
              </a:gs>
            </a:gsLst>
            <a:lin ang="0" scaled="1"/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台架脉冲加热性能测试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2" name="等腰三角形 11"/>
          <p:cNvSpPr/>
          <p:nvPr/>
        </p:nvSpPr>
        <p:spPr>
          <a:xfrm rot="10800000">
            <a:off x="2383790" y="2366645"/>
            <a:ext cx="89535" cy="7683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176145" y="2103120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3B9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TDR1</a:t>
            </a:r>
            <a:endParaRPr kumimoji="0" lang="en-US" altLang="zh-CN" sz="1200" b="1" i="0" u="none" strike="noStrike" kern="1200" cap="none" spc="0" normalizeH="0" baseline="0" noProof="0" dirty="0" err="1">
              <a:ln>
                <a:noFill/>
              </a:ln>
              <a:solidFill>
                <a:srgbClr val="003B9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30" name="等腰三角形 29"/>
          <p:cNvSpPr/>
          <p:nvPr/>
        </p:nvSpPr>
        <p:spPr>
          <a:xfrm rot="10800000">
            <a:off x="4240530" y="2379980"/>
            <a:ext cx="89535" cy="7683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032885" y="2116455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3B9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TDR2</a:t>
            </a:r>
            <a:endParaRPr kumimoji="0" lang="en-US" altLang="zh-CN" sz="1200" b="1" i="0" u="none" strike="noStrike" kern="1200" cap="none" spc="0" normalizeH="0" baseline="0" noProof="0" dirty="0" err="1">
              <a:ln>
                <a:noFill/>
              </a:ln>
              <a:solidFill>
                <a:srgbClr val="003B9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38" name="等腰三角形 37"/>
          <p:cNvSpPr/>
          <p:nvPr/>
        </p:nvSpPr>
        <p:spPr>
          <a:xfrm rot="10800000">
            <a:off x="9829229" y="2383790"/>
            <a:ext cx="89535" cy="7683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621584" y="2120265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3B9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TDR3</a:t>
            </a:r>
            <a:endParaRPr kumimoji="0" lang="en-US" altLang="zh-CN" sz="1200" b="1" i="0" u="none" strike="noStrike" kern="1200" cap="none" spc="0" normalizeH="0" baseline="0" noProof="0" dirty="0" err="1">
              <a:ln>
                <a:noFill/>
              </a:ln>
              <a:solidFill>
                <a:srgbClr val="003B9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48" name="菱形 47"/>
          <p:cNvSpPr/>
          <p:nvPr/>
        </p:nvSpPr>
        <p:spPr>
          <a:xfrm flipV="1">
            <a:off x="6093902" y="235944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4545" y="2120265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PDCP</a:t>
            </a:r>
            <a:endParaRPr kumimoji="0" lang="en-US" altLang="zh-CN" sz="1200" b="1" i="0" u="none" strike="noStrike" kern="1200" cap="none" spc="0" normalizeH="0" baseline="0" noProof="0" dirty="0" err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51" name="菱形 50"/>
          <p:cNvSpPr/>
          <p:nvPr/>
        </p:nvSpPr>
        <p:spPr>
          <a:xfrm flipV="1">
            <a:off x="10236646" y="235585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0055036" y="2116455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TDCP</a:t>
            </a:r>
            <a:endParaRPr kumimoji="0" lang="en-US" altLang="zh-CN" sz="1200" b="1" i="0" u="none" strike="noStrike" kern="1200" cap="none" spc="0" normalizeH="0" baseline="0" noProof="0" dirty="0" err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53" name="菱形 52"/>
          <p:cNvSpPr/>
          <p:nvPr/>
        </p:nvSpPr>
        <p:spPr>
          <a:xfrm flipV="1">
            <a:off x="11670665" y="235966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1195685" y="2120265"/>
            <a:ext cx="101092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END-DCP</a:t>
            </a:r>
            <a:endParaRPr kumimoji="0" lang="en-US" altLang="zh-CN" sz="1200" b="1" i="0" u="none" strike="noStrike" kern="1200" cap="none" spc="0" normalizeH="0" baseline="0" noProof="0" dirty="0" err="1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3402965" y="4560570"/>
            <a:ext cx="1800000" cy="215900"/>
          </a:xfrm>
          <a:prstGeom prst="roundRect">
            <a:avLst/>
          </a:prstGeom>
          <a:gradFill>
            <a:gsLst>
              <a:gs pos="0">
                <a:srgbClr val="4964E4"/>
              </a:gs>
              <a:gs pos="100000">
                <a:srgbClr val="FF374A"/>
              </a:gs>
            </a:gsLst>
            <a:lin ang="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机械结构与电子元器件设计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6589395" y="3982085"/>
            <a:ext cx="1008000" cy="216000"/>
          </a:xfrm>
          <a:prstGeom prst="roundRect">
            <a:avLst/>
          </a:prstGeom>
          <a:gradFill>
            <a:gsLst>
              <a:gs pos="0">
                <a:srgbClr val="4964E4"/>
              </a:gs>
              <a:gs pos="100000">
                <a:srgbClr val="FF374A"/>
              </a:gs>
            </a:gsLst>
            <a:lin ang="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快速原型测试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8932545" y="5916930"/>
            <a:ext cx="913765" cy="21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性能验收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8" name="右大括号 57"/>
          <p:cNvSpPr/>
          <p:nvPr/>
        </p:nvSpPr>
        <p:spPr>
          <a:xfrm>
            <a:off x="6652895" y="2557145"/>
            <a:ext cx="165735" cy="1076960"/>
          </a:xfrm>
          <a:prstGeom prst="rightBrace">
            <a:avLst>
              <a:gd name="adj1" fmla="val 104526"/>
              <a:gd name="adj2" fmla="val 50000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7026275" y="2750820"/>
            <a:ext cx="4643755" cy="72009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交付：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①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实验测试报告；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②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仿真报告；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③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脉冲加热策略方案（不同温度下的脉冲幅值、频率、占空比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对照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MAP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）；④脉冲加热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右大括号 59"/>
          <p:cNvSpPr/>
          <p:nvPr/>
        </p:nvSpPr>
        <p:spPr>
          <a:xfrm>
            <a:off x="7691755" y="3915410"/>
            <a:ext cx="165735" cy="1076960"/>
          </a:xfrm>
          <a:prstGeom prst="rightBrace">
            <a:avLst>
              <a:gd name="adj1" fmla="val 104526"/>
              <a:gd name="adj2" fmla="val 50000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8030845" y="4086860"/>
            <a:ext cx="3639185" cy="720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衔接：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脉冲加热方案和算法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交付：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  <a:sym typeface="+mn-ea"/>
              </a:rPr>
              <a:t>①总体方案；②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含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拓扑设计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和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算法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的系统模型；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  <a:sym typeface="+mn-ea"/>
              </a:rPr>
              <a:t>③快速原型测试报告；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④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  <a:sym typeface="+mn-ea"/>
              </a:rPr>
              <a:t>集成后的软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  <a:sym typeface="+mn-ea"/>
              </a:rPr>
              <a:t>/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  <a:sym typeface="+mn-ea"/>
              </a:rPr>
              <a:t>硬件；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62" name="右大括号 61"/>
          <p:cNvSpPr/>
          <p:nvPr/>
        </p:nvSpPr>
        <p:spPr>
          <a:xfrm flipH="1">
            <a:off x="6270625" y="5173345"/>
            <a:ext cx="165600" cy="1076960"/>
          </a:xfrm>
          <a:prstGeom prst="rightBrace">
            <a:avLst>
              <a:gd name="adj1" fmla="val 104526"/>
              <a:gd name="adj2" fmla="val 50000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2473325" y="5316855"/>
            <a:ext cx="3639185" cy="720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衔接：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集成算法与拓扑结构的软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/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硬件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交付：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  <a:sym typeface="+mn-ea"/>
              </a:rPr>
              <a:t>①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  <a:sym typeface="+mn-ea"/>
              </a:rPr>
              <a:t>台架测试报告；②算法及拓扑的最终确认；③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整车冬标及测试报告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  <a:sym typeface="+mn-ea"/>
              </a:rPr>
              <a:t>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64" name="菱形 63"/>
          <p:cNvSpPr/>
          <p:nvPr/>
        </p:nvSpPr>
        <p:spPr>
          <a:xfrm flipV="1">
            <a:off x="528320" y="235585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93040" y="2116455"/>
            <a:ext cx="82931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Charter</a:t>
            </a:r>
            <a:endParaRPr kumimoji="0" lang="en-US" altLang="zh-CN" sz="1200" b="1" i="0" u="none" strike="noStrike" kern="1200" cap="none" spc="0" normalizeH="0" baseline="0" noProof="0" dirty="0" err="1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72050" y="2773395"/>
            <a:ext cx="362585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策略与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算法开发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72085" y="5377815"/>
            <a:ext cx="362585" cy="7150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集成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测试验证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3388159" y="4309110"/>
            <a:ext cx="2744671" cy="213360"/>
          </a:xfrm>
          <a:prstGeom prst="roundRect">
            <a:avLst/>
          </a:prstGeom>
          <a:gradFill>
            <a:gsLst>
              <a:gs pos="0">
                <a:srgbClr val="4964E4"/>
              </a:gs>
              <a:gs pos="100000">
                <a:srgbClr val="FF374A"/>
              </a:gs>
            </a:gsLst>
            <a:lin ang="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拓扑结构优化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三、脉冲加热开发节点计划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77520" y="1052830"/>
            <a:ext cx="11233150" cy="3531870"/>
          </a:xfrm>
        </p:spPr>
        <p:txBody>
          <a:bodyPr/>
          <a:p>
            <a:r>
              <a:rPr lang="zh-CN" altLang="en-US" dirty="0">
                <a:sym typeface="+mn-ea"/>
              </a:rPr>
              <a:t>时间压缩至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年。</a:t>
            </a:r>
            <a:r>
              <a:rPr lang="en-US" altLang="zh-CN" dirty="0">
                <a:sym typeface="+mn-ea"/>
              </a:rPr>
              <a:t>26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月份。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台架、实车测试的安排时间过长，验证时间可以压缩吗（重新调整第三</a:t>
            </a:r>
            <a:r>
              <a:rPr lang="zh-CN" altLang="en-US" dirty="0">
                <a:sym typeface="+mn-ea"/>
              </a:rPr>
              <a:t>阶段的</a:t>
            </a:r>
            <a:r>
              <a:rPr lang="zh-CN" altLang="en-US" dirty="0">
                <a:sym typeface="+mn-ea"/>
              </a:rPr>
              <a:t>时间）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给一个性能和耐久性的评价标准（参考解放实验和</a:t>
            </a:r>
            <a:r>
              <a:rPr lang="zh-CN" altLang="en-US" dirty="0">
                <a:sym typeface="+mn-ea"/>
              </a:rPr>
              <a:t>文献），比如需要多少次循环，</a:t>
            </a:r>
            <a:r>
              <a:rPr lang="zh-CN" altLang="en-US" dirty="0">
                <a:sym typeface="+mn-ea"/>
              </a:rPr>
              <a:t>多长时间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人员支持首先进行专业识别，根据所需要的专业来找人，比如是否需要电驱、多合一</a:t>
            </a:r>
            <a:r>
              <a:rPr lang="zh-CN" altLang="en-US" dirty="0">
                <a:sym typeface="+mn-ea"/>
              </a:rPr>
              <a:t>等。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1500" y="955890"/>
            <a:ext cx="113631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p"/>
              <a:defRPr/>
            </a:pP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假设电池包结构：</a:t>
            </a:r>
            <a:r>
              <a:rPr lang="pt-BR" altLang="zh-CN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230Ah</a:t>
            </a:r>
            <a:r>
              <a:rPr lang="en-US" altLang="zh-CN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LFP</a:t>
            </a: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电芯，</a:t>
            </a:r>
            <a:r>
              <a:rPr lang="en-US" altLang="zh-CN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400kWh</a:t>
            </a: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136S4P </a:t>
            </a: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~435</a:t>
            </a:r>
            <a:r>
              <a:rPr lang="pt-BR" altLang="zh-CN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平台；需要幅值为</a:t>
            </a:r>
            <a:r>
              <a:rPr lang="en-US" altLang="zh-CN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2C</a:t>
            </a: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倍率的脉冲电流。</a:t>
            </a:r>
            <a:endParaRPr lang="zh-CN" altLang="en-US" sz="1400" b="1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90389" y="1316535"/>
          <a:ext cx="11210925" cy="5392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2719"/>
                <a:gridCol w="947683"/>
                <a:gridCol w="1611803"/>
                <a:gridCol w="1611803"/>
                <a:gridCol w="1611803"/>
                <a:gridCol w="1611803"/>
                <a:gridCol w="1611803"/>
                <a:gridCol w="1611803"/>
              </a:tblGrid>
              <a:tr h="203220">
                <a:tc rowSpan="2"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rowSpan="2" hMerge="1"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策略与算法开发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拓扑设计和策略实现</a:t>
                      </a:r>
                      <a:endParaRPr lang="zh-CN" altLang="en-US" sz="1200" b="1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集成与测试验证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rowSpan="2">
                  <a:txBody>
                    <a:bodyPr/>
                    <a:p>
                      <a:pPr algn="ctr" fontAlgn="b">
                        <a:buNone/>
                      </a:pP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</a:tr>
              <a:tr h="276686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电芯拆解实验</a:t>
                      </a:r>
                      <a:endParaRPr lang="zh-CN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电芯低温充放电实验</a:t>
                      </a:r>
                      <a:endParaRPr lang="zh-CN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电芯脉冲加热实验</a:t>
                      </a:r>
                      <a:endParaRPr lang="zh-CN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电池包脉冲加热实验</a:t>
                      </a:r>
                      <a:endParaRPr lang="zh-CN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低温试验　</a:t>
                      </a:r>
                      <a:endParaRPr lang="zh-CN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vMerge="1">
                  <a:tcPr marL="8156" marR="8156" marT="8156" marB="0" anchor="ctr">
                    <a:solidFill>
                      <a:srgbClr val="152A8C"/>
                    </a:solidFill>
                  </a:tcPr>
                </a:tc>
              </a:tr>
              <a:tr h="59230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实验目的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获取电芯建模所需参数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对电芯模型进行验证与标定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验证脉冲电流加热效果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明确安全的脉冲边界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评估电池包层面加热策略的有效性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测试真实低温环境和复杂工况下，脉冲加热的最终表现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 rowSpan="11">
                  <a:txBody>
                    <a:bodyPr/>
                    <a:p>
                      <a:pPr algn="l" fontAlgn="t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</a:tr>
              <a:tr h="9813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实验数据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200" u="none" strike="noStrike" dirty="0">
                          <a:effectLst/>
                        </a:rPr>
                        <a:t>电芯结构、尺寸、比热容、导热系数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200" u="none" strike="noStrike" dirty="0">
                          <a:effectLst/>
                        </a:rPr>
                        <a:t>电极材料电化学反应传输参数</a:t>
                      </a:r>
                      <a:endParaRPr lang="en-US" altLang="zh-CN" sz="1200" u="none" strike="noStrike" dirty="0">
                        <a:effectLst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200" u="none" strike="noStrike" dirty="0">
                          <a:effectLst/>
                        </a:rPr>
                        <a:t>EIS</a:t>
                      </a:r>
                      <a:r>
                        <a:rPr lang="zh-CN" altLang="en-US" sz="1200" u="none" strike="noStrike" dirty="0">
                          <a:effectLst/>
                        </a:rPr>
                        <a:t>测试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200" u="none" strike="noStrike" dirty="0">
                          <a:effectLst/>
                        </a:rPr>
                        <a:t>SOC-OCV</a:t>
                      </a:r>
                      <a:r>
                        <a:rPr lang="zh-CN" altLang="en-US" sz="1200" u="none" strike="noStrike" dirty="0">
                          <a:effectLst/>
                        </a:rPr>
                        <a:t>测试</a:t>
                      </a:r>
                      <a:endParaRPr lang="zh-CN" altLang="en-US" sz="1200" u="none" strike="noStrike" dirty="0">
                        <a:effectLst/>
                      </a:endParaRPr>
                    </a:p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200" u="none" strike="noStrike" dirty="0">
                          <a:effectLst/>
                        </a:rPr>
                        <a:t>常温</a:t>
                      </a:r>
                      <a:r>
                        <a:rPr lang="en-US" altLang="zh-CN" sz="1200" u="none" strike="noStrike" dirty="0">
                          <a:effectLst/>
                        </a:rPr>
                        <a:t>/</a:t>
                      </a:r>
                      <a:r>
                        <a:rPr lang="zh-CN" altLang="en-US" sz="1200" u="none" strike="noStrike" dirty="0">
                          <a:effectLst/>
                        </a:rPr>
                        <a:t>低温容量、倍率充放电、</a:t>
                      </a:r>
                      <a:r>
                        <a:rPr lang="en-US" altLang="zh-CN" sz="1200" u="none" strike="noStrike" dirty="0">
                          <a:effectLst/>
                        </a:rPr>
                        <a:t>HPPC</a:t>
                      </a:r>
                      <a:r>
                        <a:rPr lang="zh-CN" altLang="en-US" sz="1200" u="none" strike="noStrike" dirty="0">
                          <a:effectLst/>
                        </a:rPr>
                        <a:t>测试</a:t>
                      </a:r>
                      <a:endParaRPr lang="zh-CN" altLang="en-US" sz="1200" u="none" strike="noStrike" dirty="0">
                        <a:effectLst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200" u="none" strike="noStrike" dirty="0">
                          <a:effectLst/>
                        </a:rPr>
                        <a:t>不同方案的温升速率、温度均匀性、能耗等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200" u="none" strike="noStrike" dirty="0">
                          <a:effectLst/>
                        </a:rPr>
                        <a:t>不同温度和</a:t>
                      </a:r>
                      <a:r>
                        <a:rPr lang="en-US" altLang="zh-CN" sz="1200" u="none" strike="noStrike" dirty="0">
                          <a:effectLst/>
                        </a:rPr>
                        <a:t>SOC</a:t>
                      </a:r>
                      <a:r>
                        <a:rPr lang="zh-CN" altLang="en-US" sz="1200" u="none" strike="noStrike" dirty="0">
                          <a:effectLst/>
                        </a:rPr>
                        <a:t>下，电芯最优脉冲加热方案</a:t>
                      </a:r>
                      <a:r>
                        <a:rPr lang="en-US" altLang="zh-CN" sz="1200" u="none" strike="noStrike" dirty="0">
                          <a:effectLst/>
                        </a:rPr>
                        <a:t>MAP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defRPr/>
                      </a:pPr>
                      <a:r>
                        <a:rPr lang="zh-CN" altLang="en-US" sz="1200" u="none" strike="noStrike" dirty="0">
                          <a:effectLst/>
                        </a:rPr>
                        <a:t>电池包温升速率、温度均匀性、能耗等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200" u="none" strike="noStrike" dirty="0">
                          <a:effectLst/>
                        </a:rPr>
                        <a:t>验证电路拓扑、加热逻辑、系统响应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200" u="none" strike="noStrike" dirty="0">
                          <a:effectLst/>
                        </a:rPr>
                        <a:t>不同温度整车升温速率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200" u="none" strike="noStrike" dirty="0">
                          <a:effectLst/>
                        </a:rPr>
                        <a:t>温度均匀性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marL="171450" indent="-171450" algn="l" fontAlgn="b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200" u="none" strike="noStrike" dirty="0">
                          <a:effectLst/>
                        </a:rPr>
                        <a:t>整车续航</a:t>
                      </a:r>
                      <a:r>
                        <a:rPr lang="en-US" altLang="zh-CN" sz="1200" u="none" strike="noStrike" dirty="0">
                          <a:effectLst/>
                        </a:rPr>
                        <a:t>/</a:t>
                      </a:r>
                      <a:r>
                        <a:rPr lang="zh-CN" altLang="en-US" sz="1200" u="none" strike="noStrike" dirty="0">
                          <a:effectLst/>
                        </a:rPr>
                        <a:t>寿命衰减数据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 vMerge="1">
                  <a:tcPr marL="8156" marR="8156" marT="8156" marB="0" anchor="ctr"/>
                </a:tc>
              </a:tr>
              <a:tr h="260662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委外测试价格预计</a:t>
                      </a:r>
                      <a:r>
                        <a:rPr lang="en-US" altLang="zh-C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万元</a:t>
                      </a:r>
                      <a:r>
                        <a:rPr lang="en-US" altLang="zh-C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zh-CN" sz="12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</a:rPr>
                        <a:t>12(</a:t>
                      </a:r>
                      <a:r>
                        <a:rPr lang="zh-CN" altLang="en-US" sz="1200" u="none" strike="noStrike" dirty="0">
                          <a:effectLst/>
                        </a:rPr>
                        <a:t>易来科得</a:t>
                      </a:r>
                      <a:r>
                        <a:rPr lang="en-US" altLang="zh-CN" sz="1200" u="none" strike="noStrike" dirty="0">
                          <a:effectLst/>
                        </a:rPr>
                        <a:t>)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</a:rPr>
                        <a:t>10(</a:t>
                      </a:r>
                      <a:r>
                        <a:rPr lang="zh-CN" altLang="en-US" sz="1200" u="none" strike="noStrike" dirty="0">
                          <a:effectLst/>
                        </a:rPr>
                        <a:t>易来科得</a:t>
                      </a:r>
                      <a:r>
                        <a:rPr lang="en-US" altLang="zh-CN" sz="1200" u="none" strike="noStrike" dirty="0">
                          <a:effectLst/>
                        </a:rPr>
                        <a:t>)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（没有问到）</a:t>
                      </a:r>
                      <a:endParaRPr lang="zh-CN" altLang="en-US" sz="12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/>
                </a:tc>
                <a:tc row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设备需求待新能源开发部补充</a:t>
                      </a:r>
                      <a:endParaRPr lang="en-US" altLang="zh-CN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b">
                        <a:buNone/>
                      </a:pPr>
                      <a:endParaRPr lang="en-US" altLang="zh-CN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b">
                        <a:buNone/>
                      </a:pPr>
                      <a:r>
                        <a:rPr lang="zh-CN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预计费用</a:t>
                      </a:r>
                      <a:r>
                        <a:rPr lang="en-US" altLang="zh-CN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zh-CN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万元</a:t>
                      </a:r>
                      <a:endParaRPr lang="zh-CN" alt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/>
                </a:tc>
                <a:tc row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设备需求待中重型车开发部补充</a:t>
                      </a:r>
                      <a:endParaRPr lang="en-US" altLang="zh-CN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b">
                        <a:buNone/>
                      </a:pPr>
                      <a:endParaRPr lang="en-US" altLang="zh-CN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b">
                        <a:buNone/>
                      </a:pPr>
                      <a:r>
                        <a:rPr lang="zh-CN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预计费用</a:t>
                      </a:r>
                      <a:r>
                        <a:rPr lang="en-US" altLang="zh-CN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zh-CN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万元</a:t>
                      </a:r>
                      <a:endParaRPr lang="zh-CN" alt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/>
                </a:tc>
                <a:tc vMerge="1">
                  <a:tcPr marL="8156" marR="8156" marT="8156" marB="0" anchor="ctr"/>
                </a:tc>
              </a:tr>
              <a:tr h="30111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实验时长预估</a:t>
                      </a:r>
                      <a:r>
                        <a:rPr lang="en-US" altLang="zh-C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日</a:t>
                      </a:r>
                      <a:r>
                        <a:rPr lang="en-US" altLang="zh-C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zh-CN" sz="12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30-45(</a:t>
                      </a:r>
                      <a:r>
                        <a:rPr lang="zh-CN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视排队情况定</a:t>
                      </a:r>
                      <a:r>
                        <a:rPr lang="en-US" altLang="zh-CN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30-45</a:t>
                      </a:r>
                      <a:endParaRPr lang="zh-CN" alt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20-30</a:t>
                      </a:r>
                      <a:endParaRPr lang="en-US" altLang="zh-CN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63488">
                <a:tc row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自建实验设备需求</a:t>
                      </a:r>
                      <a:r>
                        <a:rPr lang="en-US" altLang="zh-C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万元</a:t>
                      </a:r>
                      <a:r>
                        <a:rPr lang="en-US" altLang="zh-C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zh-CN" sz="12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电池测试仪</a:t>
                      </a: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(5</a:t>
                      </a:r>
                      <a:r>
                        <a:rPr lang="pt-B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V;±500A)</a:t>
                      </a:r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——</a:t>
                      </a:r>
                      <a:endParaRPr lang="zh-CN" altLang="en-US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</a:rPr>
                        <a:t>10(</a:t>
                      </a:r>
                      <a:r>
                        <a:rPr lang="zh-CN" altLang="en-US" sz="1200" u="none" strike="noStrike" dirty="0">
                          <a:effectLst/>
                        </a:rPr>
                        <a:t>湖南恩智</a:t>
                      </a:r>
                      <a:r>
                        <a:rPr lang="en-US" altLang="zh-CN" sz="1200" u="none" strike="noStrike" dirty="0">
                          <a:effectLst/>
                        </a:rPr>
                        <a:t>)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——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63488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高低温环境仓</a:t>
                      </a:r>
                      <a:endParaRPr lang="en-US" altLang="zh-CN" sz="1200" u="none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(-40℃)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vMerge="1">
                  <a:tcPr marL="8156" marR="8156" marT="8156" marB="0" anchor="ctr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泵所已有</a:t>
                      </a:r>
                      <a:endParaRPr lang="en-US" altLang="zh-CN" sz="1200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待明确温度范围</a:t>
                      </a:r>
                      <a:endParaRPr lang="zh-CN" altLang="en-US" sz="1200" u="none" strike="noStrike" dirty="0">
                        <a:effectLst/>
                      </a:endParaRPr>
                    </a:p>
                  </a:txBody>
                  <a:tcPr marL="8156" marR="8156" marT="8156" marB="0" anchor="ctr"/>
                </a:tc>
                <a:tc hMerge="1">
                  <a:tcPr marL="8156" marR="8156" marT="8156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63488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数据采集仪</a:t>
                      </a:r>
                      <a:endParaRPr lang="en-US" altLang="zh-CN" sz="120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altLang="zh-CN" sz="12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2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电流 电压 温度</a:t>
                      </a:r>
                      <a:r>
                        <a:rPr lang="en-US" altLang="zh-CN" sz="12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20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vMerge="1">
                  <a:tcPr marL="8156" marR="8156" marT="8156" marB="0" anchor="ctr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</a:rPr>
                        <a:t>0.4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 hMerge="1">
                  <a:tcPr marL="8156" marR="8156" marT="8156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39737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电化学工作站</a:t>
                      </a:r>
                      <a:endParaRPr lang="zh-CN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vMerge="1"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</a:rPr>
                        <a:t>7(</a:t>
                      </a:r>
                      <a:r>
                        <a:rPr lang="zh-CN" altLang="en-US" sz="1200" u="none" strike="noStrike" dirty="0">
                          <a:effectLst/>
                        </a:rPr>
                        <a:t>东华分析仪器</a:t>
                      </a:r>
                      <a:r>
                        <a:rPr lang="en-US" altLang="zh-CN" sz="1200" u="none" strike="noStrike" dirty="0">
                          <a:effectLst/>
                        </a:rPr>
                        <a:t>)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——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39737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脉冲电源</a:t>
                      </a:r>
                      <a:endParaRPr lang="zh-CN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vMerge="1"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——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39737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上位机</a:t>
                      </a:r>
                      <a:endParaRPr lang="zh-CN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vMerge="1">
                  <a:tcPr marL="8156" marR="8156" marT="8156" marB="0" anchor="ctr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</a:rPr>
                        <a:t>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 hMerge="1">
                  <a:tcPr marL="8156" marR="8156" marT="8156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39737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购买设备总价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>
                    <a:solidFill>
                      <a:srgbClr val="152A8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>
                          <a:effectLst/>
                        </a:rPr>
                        <a:t>18.4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</a:rPr>
                        <a:t>10.4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8156" marR="8156" marT="8156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5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77723" y="175966"/>
            <a:ext cx="9218727" cy="559059"/>
          </a:xfrm>
        </p:spPr>
        <p:txBody>
          <a:bodyPr/>
          <a:lstStyle/>
          <a:p>
            <a:r>
              <a:rPr lang="zh-CN" altLang="en-US" dirty="0"/>
              <a:t>四、脉冲加热资源需求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四、脉冲加热资源需求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77520" y="1052830"/>
            <a:ext cx="11233150" cy="3531870"/>
          </a:xfrm>
        </p:spPr>
        <p:txBody>
          <a:bodyPr/>
          <a:p>
            <a:r>
              <a:rPr lang="zh-CN" altLang="en-US" dirty="0">
                <a:sym typeface="+mn-ea"/>
              </a:rPr>
              <a:t>电芯没确定，考虑有宁德</a:t>
            </a:r>
            <a:r>
              <a:rPr lang="en-US" altLang="zh-CN" dirty="0">
                <a:sym typeface="+mn-ea"/>
              </a:rPr>
              <a:t>324</a:t>
            </a:r>
            <a:r>
              <a:rPr lang="zh-CN" altLang="en-US" dirty="0">
                <a:sym typeface="+mn-ea"/>
              </a:rPr>
              <a:t>、国轩、力神</a:t>
            </a:r>
            <a:r>
              <a:rPr lang="zh-CN" altLang="en-US" dirty="0">
                <a:sym typeface="+mn-ea"/>
              </a:rPr>
              <a:t>电芯。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等方案价格估计完毕后，在资源需求表中也</a:t>
            </a:r>
            <a:r>
              <a:rPr lang="zh-CN" altLang="en-US" dirty="0">
                <a:sym typeface="+mn-ea"/>
              </a:rPr>
              <a:t>加上。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考虑能够直接从电芯厂拿数据的情况，缩短实验</a:t>
            </a:r>
            <a:r>
              <a:rPr lang="zh-CN" altLang="en-US" dirty="0">
                <a:sym typeface="+mn-ea"/>
              </a:rPr>
              <a:t>时间。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五、</a:t>
            </a:r>
            <a:r>
              <a:rPr lang="zh-CN" altLang="en-US" sz="2800" b="1" dirty="0">
                <a:solidFill>
                  <a:schemeClr val="accent1"/>
                </a:solidFill>
                <a:latin typeface="+mj-lt"/>
              </a:rPr>
              <a:t>技术风险及控制措施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79425" y="1846911"/>
          <a:ext cx="6624687" cy="3706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63"/>
                <a:gridCol w="1296144"/>
                <a:gridCol w="1080120"/>
                <a:gridCol w="3240360"/>
              </a:tblGrid>
              <a:tr h="405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风险类型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风险点</a:t>
                      </a:r>
                      <a:r>
                        <a:rPr lang="en-US" altLang="zh-CN" sz="1400" dirty="0"/>
                        <a:t> </a:t>
                      </a:r>
                      <a:endParaRPr lang="en-US" altLang="zh-CN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风险等级</a:t>
                      </a:r>
                      <a:r>
                        <a:rPr lang="en-US" altLang="zh-CN" sz="1400" dirty="0"/>
                        <a:t> </a:t>
                      </a:r>
                      <a:endParaRPr lang="en-US" altLang="zh-CN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控制措施</a:t>
                      </a:r>
                      <a:r>
                        <a:rPr lang="en-US" altLang="zh-CN" sz="1400" dirty="0"/>
                        <a:t> </a:t>
                      </a:r>
                      <a:endParaRPr lang="en-US" altLang="zh-CN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7565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 err="1">
                          <a:solidFill>
                            <a:schemeClr val="tx1"/>
                          </a:solidFill>
                          <a:latin typeface="+mj-lt"/>
                          <a:sym typeface="+mn-ea"/>
                        </a:rPr>
                        <a:t>电池</a:t>
                      </a:r>
                      <a:endParaRPr lang="zh-CN" altLang="en-US" sz="1400" b="0" dirty="0" err="1">
                        <a:solidFill>
                          <a:schemeClr val="tx1"/>
                        </a:solidFill>
                        <a:latin typeface="+mj-lt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0" dirty="0" err="1">
                          <a:solidFill>
                            <a:schemeClr val="tx1"/>
                          </a:solidFill>
                          <a:latin typeface="+mj-lt"/>
                          <a:sym typeface="+mn-ea"/>
                        </a:rPr>
                        <a:t>电化学</a:t>
                      </a:r>
                      <a:endParaRPr lang="zh-CN" altLang="en-US" sz="1400" b="0" dirty="0" err="1">
                        <a:solidFill>
                          <a:schemeClr val="tx1"/>
                        </a:solidFill>
                        <a:latin typeface="+mj-lt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容量衰减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中</a:t>
                      </a:r>
                      <a:endParaRPr lang="zh-CN" alt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根据温度、</a:t>
                      </a:r>
                      <a:r>
                        <a:rPr lang="en-US" altLang="zh-CN" sz="1400" dirty="0"/>
                        <a:t>SOC</a:t>
                      </a:r>
                      <a:r>
                        <a:rPr lang="zh-CN" altLang="en-US" sz="1400" dirty="0"/>
                        <a:t>实时调整脉冲参数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593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充电析锂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高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高频交流激励、避免析锂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001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 err="1">
                          <a:solidFill>
                            <a:schemeClr val="tx1"/>
                          </a:solidFill>
                          <a:latin typeface="+mj-lt"/>
                          <a:sym typeface="+mn-ea"/>
                        </a:rPr>
                        <a:t>电机系统</a:t>
                      </a:r>
                      <a:endParaRPr lang="zh-CN" altLang="en-US" sz="1400" b="0" dirty="0" err="1">
                        <a:solidFill>
                          <a:schemeClr val="tx1"/>
                        </a:solidFill>
                        <a:latin typeface="+mj-lt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电机噪声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中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频率调制、相位控制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593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电机损伤</a:t>
                      </a:r>
                      <a:endParaRPr lang="zh-CN" alt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低</a:t>
                      </a:r>
                      <a:endParaRPr lang="zh-CN" alt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占空比控制，电机主动热管理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5655">
                <a:tc vMerge="1"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意外扭矩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中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预先调整转子位置、电流闭环控制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79425" y="908685"/>
            <a:ext cx="11589429" cy="36007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风险评估：</a:t>
            </a:r>
            <a:r>
              <a:rPr lang="zh-CN" altLang="en-US" sz="1400" b="1" dirty="0">
                <a:solidFill>
                  <a:srgbClr val="C00000"/>
                </a:solidFill>
                <a:latin typeface="+mj-lt"/>
                <a:sym typeface="+mn-ea"/>
              </a:rPr>
              <a:t>不合理的脉冲方案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  <a:sym typeface="+mn-ea"/>
              </a:rPr>
              <a:t>可能导致电池性能衰退、电机噪音与机械损伤，需使用车辆实装的电芯、电池包、电机开展测试。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93942" y="4149080"/>
            <a:ext cx="4405014" cy="1457698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pPr marL="171450" indent="-17145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关键技术</a:t>
            </a:r>
            <a:endParaRPr lang="en-US" altLang="zh-CN" sz="1600" b="1" dirty="0">
              <a:solidFill>
                <a:srgbClr val="152A8C"/>
              </a:solidFill>
              <a:latin typeface="Calibri" panose="020F0502020204030204" charset="0"/>
              <a:sym typeface="+mn-ea"/>
            </a:endParaRPr>
          </a:p>
          <a:p>
            <a:pPr marL="228600" indent="-228600" algn="l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1600" dirty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环境温度自适应电芯脉冲加热算法开发</a:t>
            </a:r>
            <a:r>
              <a:rPr lang="en-US" altLang="zh-CN" sz="1600" dirty="0">
                <a:solidFill>
                  <a:srgbClr val="152A8C"/>
                </a:solidFill>
                <a:latin typeface="+mj-lt"/>
                <a:sym typeface="+mn-ea"/>
              </a:rPr>
              <a:t>——</a:t>
            </a:r>
            <a:r>
              <a:rPr lang="zh-CN" altLang="en-US" sz="1600" dirty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合理平衡电芯加热速度与电池电机的可靠耐久</a:t>
            </a:r>
            <a:endParaRPr lang="en-US" altLang="zh-CN" sz="1600" dirty="0">
              <a:solidFill>
                <a:srgbClr val="152A8C"/>
              </a:solidFill>
              <a:latin typeface="Calibri" panose="020F0502020204030204" charset="0"/>
              <a:sym typeface="+mn-ea"/>
            </a:endParaRPr>
          </a:p>
          <a:p>
            <a:pPr marL="228600" indent="-228600" algn="l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1600" dirty="0">
                <a:solidFill>
                  <a:srgbClr val="152A8C"/>
                </a:solidFill>
                <a:latin typeface="+mj-lt"/>
                <a:sym typeface="+mn-ea"/>
              </a:rPr>
              <a:t>多电池组间均衡加热拓扑结构设计</a:t>
            </a:r>
            <a:r>
              <a:rPr lang="en-US" altLang="zh-CN" sz="1600" dirty="0">
                <a:solidFill>
                  <a:srgbClr val="152A8C"/>
                </a:solidFill>
                <a:latin typeface="+mj-lt"/>
                <a:sym typeface="+mn-ea"/>
              </a:rPr>
              <a:t>——</a:t>
            </a:r>
            <a:r>
              <a:rPr lang="zh-CN" altLang="en-US" sz="1600" dirty="0">
                <a:solidFill>
                  <a:srgbClr val="152A8C"/>
                </a:solidFill>
                <a:latin typeface="+mj-lt"/>
                <a:sym typeface="+mn-ea"/>
              </a:rPr>
              <a:t>解决商用车多电池组间的脉冲配合难题</a:t>
            </a:r>
            <a:endParaRPr lang="zh-CN" altLang="en-US" sz="1600" dirty="0">
              <a:solidFill>
                <a:srgbClr val="152A8C"/>
              </a:solidFill>
              <a:latin typeface="+mj-lt"/>
              <a:sym typeface="+mn-ea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7689652" y="1859948"/>
          <a:ext cx="3888432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592"/>
                <a:gridCol w="1742586"/>
                <a:gridCol w="1199254"/>
              </a:tblGrid>
              <a:tr h="3729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价值特性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指标</a:t>
                      </a:r>
                      <a:endParaRPr lang="en-US" altLang="zh-CN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26</a:t>
                      </a:r>
                      <a:r>
                        <a:rPr lang="zh-CN" altLang="en-US" sz="1400" dirty="0"/>
                        <a:t>年</a:t>
                      </a:r>
                      <a:endParaRPr lang="en-US" altLang="zh-CN" sz="1400" dirty="0"/>
                    </a:p>
                    <a:p>
                      <a:pPr algn="ctr">
                        <a:buNone/>
                      </a:pPr>
                      <a:r>
                        <a:rPr lang="zh-CN" altLang="en-US" sz="1400" dirty="0"/>
                        <a:t>达成方式</a:t>
                      </a:r>
                      <a:endParaRPr lang="zh-CN" altLang="en-US" sz="1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29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低成本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——</a:t>
                      </a:r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现有电机控制器实现</a:t>
                      </a:r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29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低能耗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加热电耗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4.4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百度电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/10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℃温升</a:t>
                      </a:r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试验</a:t>
                      </a:r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29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高品质</a:t>
                      </a:r>
                      <a:endParaRPr lang="zh-CN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低温加热速率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℃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/min</a:t>
                      </a:r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试验</a:t>
                      </a:r>
                      <a:endParaRPr lang="en-US" altLang="zh-C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702217" y="1485252"/>
            <a:ext cx="1891160" cy="22606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400" b="1" dirty="0">
                <a:solidFill>
                  <a:srgbClr val="152A8C"/>
                </a:solidFill>
              </a:rPr>
              <a:t>开发目标</a:t>
            </a:r>
            <a:endParaRPr lang="zh-CN" altLang="en-US" sz="1400" b="1" dirty="0">
              <a:solidFill>
                <a:srgbClr val="152A8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五、</a:t>
            </a:r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技术风险及控制措施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77520" y="1052830"/>
            <a:ext cx="11233150" cy="3531870"/>
          </a:xfrm>
        </p:spPr>
        <p:txBody>
          <a:bodyPr/>
          <a:p>
            <a:r>
              <a:rPr lang="zh-CN" altLang="en-US" dirty="0">
                <a:sym typeface="+mn-ea"/>
              </a:rPr>
              <a:t>在目标表格中把现状也写清楚。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236*46"/>
  <p:tag name="TABLE_ENDDRAG_RECT" val="49*162*236*46"/>
</p:tagLst>
</file>

<file path=ppt/tags/tag2.xml><?xml version="1.0" encoding="utf-8"?>
<p:tagLst xmlns:p="http://schemas.openxmlformats.org/presentationml/2006/main">
  <p:tag name="TABLE_ENDDRAG_ORIGIN_RECT" val="281*89"/>
  <p:tag name="TABLE_ENDDRAG_RECT" val="26*295*281*89"/>
</p:tagLst>
</file>

<file path=ppt/tags/tag3.xml><?xml version="1.0" encoding="utf-8"?>
<p:tagLst xmlns:p="http://schemas.openxmlformats.org/presentationml/2006/main">
  <p:tag name="TABLE_ENDDRAG_ORIGIN_RECT" val="877*311"/>
  <p:tag name="TABLE_ENDDRAG_RECT" val="45*192*877*311"/>
</p:tagLst>
</file>

<file path=ppt/tags/tag4.xml><?xml version="1.0" encoding="utf-8"?>
<p:tagLst xmlns:p="http://schemas.openxmlformats.org/presentationml/2006/main">
  <p:tag name="TABLE_ENDDRAG_ORIGIN_RECT" val="321*197"/>
  <p:tag name="TABLE_ENDDRAG_RECT" val="603*161*321*197"/>
</p:tagLst>
</file>

<file path=ppt/tags/tag5.xml><?xml version="1.0" encoding="utf-8"?>
<p:tagLst xmlns:p="http://schemas.openxmlformats.org/presentationml/2006/main">
  <p:tag name="TABLE_ENDDRAG_ORIGIN_RECT" val="236*46"/>
  <p:tag name="TABLE_ENDDRAG_RECT" val="49*162*236*46"/>
</p:tagLst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5355</Words>
  <Application>WPS 演示</Application>
  <PresentationFormat>宽屏</PresentationFormat>
  <Paragraphs>853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Calibri</vt:lpstr>
      <vt:lpstr>等线</vt:lpstr>
      <vt:lpstr>Times New Roman</vt:lpstr>
      <vt:lpstr>Arial Unicode MS</vt:lpstr>
      <vt:lpstr>Office 主题​​</vt:lpstr>
      <vt:lpstr>脉冲加热技术研究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WPS_1632448344</cp:lastModifiedBy>
  <cp:revision>723</cp:revision>
  <cp:lastPrinted>2023-05-19T05:02:00Z</cp:lastPrinted>
  <dcterms:created xsi:type="dcterms:W3CDTF">2015-12-28T03:19:00Z</dcterms:created>
  <dcterms:modified xsi:type="dcterms:W3CDTF">2025-12-23T06:53:06Z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9D9F2A2BFF624BC381673FEAA0894894_13</vt:lpwstr>
  </property>
  <property fmtid="{D5CDD505-2E9C-101B-9397-08002B2CF9AE}" pid="3" name="KSOProductBuildVer">
    <vt:lpwstr>2052-12.1.0.24034</vt:lpwstr>
  </property>
</Properties>
</file>
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74" r:id="rId3"/>
    <p:sldId id="390" r:id="rId4"/>
    <p:sldId id="389" r:id="rId5"/>
    <p:sldId id="379" r:id="rId7"/>
    <p:sldId id="376" r:id="rId8"/>
    <p:sldId id="378" r:id="rId9"/>
  </p:sldIdLst>
  <p:sldSz cx="12192000" cy="6858000"/>
  <p:notesSz cx="6797675" cy="992632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吴俊樑" initials="吴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F374A"/>
    <a:srgbClr val="4964E4"/>
    <a:srgbClr val="152A8C"/>
    <a:srgbClr val="84EB7A"/>
    <a:srgbClr val="B10011"/>
    <a:srgbClr val="F5B482"/>
    <a:srgbClr val="66FF66"/>
    <a:srgbClr val="A7A9AC"/>
    <a:srgbClr val="0F29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21" autoAdjust="0"/>
    <p:restoredTop sz="82896" autoAdjust="0"/>
  </p:normalViewPr>
  <p:slideViewPr>
    <p:cSldViewPr snapToObjects="1">
      <p:cViewPr varScale="1">
        <p:scale>
          <a:sx n="96" d="100"/>
          <a:sy n="96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42" d="100"/>
          <a:sy n="42" d="100"/>
        </p:scale>
        <p:origin x="-1757" y="-96"/>
      </p:cViewPr>
      <p:guideLst>
        <p:guide orient="horz" pos="3280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0259903-FC65-400A-9E76-C4C330AD3D6E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7DAE94-9449-4026-AC54-378A5A1A863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1pPr>
    <a:lvl2pPr marL="48577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2pPr>
    <a:lvl3pPr marL="97155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3pPr>
    <a:lvl4pPr marL="145732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4pPr>
    <a:lvl5pPr marL="194310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5pPr>
    <a:lvl6pPr marL="242951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6pPr>
    <a:lvl7pPr marL="291528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7pPr>
    <a:lvl8pPr marL="340106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8pPr>
    <a:lvl9pPr marL="388683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6942142"/>
            <a:ext cx="12192000" cy="614361"/>
            <a:chOff x="0" y="6942142"/>
            <a:chExt cx="12192000" cy="614361"/>
          </a:xfrm>
        </p:grpSpPr>
        <p:sp>
          <p:nvSpPr>
            <p:cNvPr id="6" name="同侧圆角矩形 3"/>
            <p:cNvSpPr/>
            <p:nvPr userDrawn="1"/>
          </p:nvSpPr>
          <p:spPr>
            <a:xfrm rot="10800000">
              <a:off x="0" y="6942142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5903385" y="7004052"/>
              <a:ext cx="1512000" cy="468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解放蓝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21/42/140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7431809" y="7004052"/>
              <a:ext cx="1512000" cy="4683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39/150/212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0488656" y="7004052"/>
              <a:ext cx="1512000" cy="4683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辅助红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177/0/17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封面页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960233" y="7004052"/>
              <a:ext cx="1512000" cy="468311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辅助灰</a:t>
              </a:r>
              <a:endPara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167/169/172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16" name="图形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19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电池脉冲加热原理</a:t>
            </a:r>
            <a:r>
              <a:rPr lang="zh-CN" altLang="en-US" dirty="0"/>
              <a:t>实验设计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2026.01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框 5"/>
          <p:cNvSpPr txBox="1"/>
          <p:nvPr>
            <p:custDataLst>
              <p:tags r:id="rId1"/>
            </p:custDataLst>
          </p:nvPr>
        </p:nvSpPr>
        <p:spPr>
          <a:xfrm>
            <a:off x="3286893" y="1750209"/>
            <a:ext cx="6480175" cy="488176"/>
          </a:xfrm>
          <a:prstGeom prst="rect">
            <a:avLst/>
          </a:prstGeom>
          <a:noFill/>
          <a:ln w="19050">
            <a:solidFill>
              <a:srgbClr val="102A8D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 b="1">
                <a:solidFill>
                  <a:srgbClr val="102A8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实验</a:t>
            </a:r>
            <a:r>
              <a:rPr lang="zh-CN" altLang="en-US" dirty="0">
                <a:sym typeface="+mn-ea"/>
              </a:rPr>
              <a:t>介绍</a:t>
            </a:r>
            <a:endParaRPr lang="zh-CN" altLang="en-US" dirty="0">
              <a:sym typeface="+mn-ea"/>
            </a:endParaRPr>
          </a:p>
        </p:txBody>
      </p:sp>
      <p:sp>
        <p:nvSpPr>
          <p:cNvPr id="4" name="文本框 4"/>
          <p:cNvSpPr txBox="1"/>
          <p:nvPr>
            <p:custDataLst>
              <p:tags r:id="rId2"/>
            </p:custDataLst>
          </p:nvPr>
        </p:nvSpPr>
        <p:spPr>
          <a:xfrm>
            <a:off x="2566169" y="1750209"/>
            <a:ext cx="576263" cy="488176"/>
          </a:xfrm>
          <a:prstGeom prst="rect">
            <a:avLst/>
          </a:prstGeom>
          <a:solidFill>
            <a:srgbClr val="102A8D"/>
          </a:solidFill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一</a:t>
            </a:r>
            <a:endParaRPr lang="zh-CN" altLang="en-US" dirty="0"/>
          </a:p>
        </p:txBody>
      </p:sp>
      <p:sp>
        <p:nvSpPr>
          <p:cNvPr id="5" name="文本框 5"/>
          <p:cNvSpPr txBox="1"/>
          <p:nvPr>
            <p:custDataLst>
              <p:tags r:id="rId3"/>
            </p:custDataLst>
          </p:nvPr>
        </p:nvSpPr>
        <p:spPr>
          <a:xfrm>
            <a:off x="3286124" y="2453989"/>
            <a:ext cx="6480175" cy="488176"/>
          </a:xfrm>
          <a:prstGeom prst="rect">
            <a:avLst/>
          </a:prstGeom>
          <a:noFill/>
          <a:ln w="19050">
            <a:solidFill>
              <a:srgbClr val="102A8D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 b="1">
                <a:solidFill>
                  <a:srgbClr val="102A8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实验设备</a:t>
            </a:r>
            <a:r>
              <a:rPr lang="zh-CN" altLang="en-US" dirty="0"/>
              <a:t>清单</a:t>
            </a:r>
            <a:endParaRPr lang="zh-CN" altLang="en-US" dirty="0"/>
          </a:p>
        </p:txBody>
      </p:sp>
      <p:sp>
        <p:nvSpPr>
          <p:cNvPr id="6" name="文本框 4"/>
          <p:cNvSpPr txBox="1"/>
          <p:nvPr>
            <p:custDataLst>
              <p:tags r:id="rId4"/>
            </p:custDataLst>
          </p:nvPr>
        </p:nvSpPr>
        <p:spPr>
          <a:xfrm>
            <a:off x="2565400" y="2453989"/>
            <a:ext cx="576263" cy="488176"/>
          </a:xfrm>
          <a:prstGeom prst="rect">
            <a:avLst/>
          </a:prstGeom>
          <a:solidFill>
            <a:srgbClr val="102A8D"/>
          </a:solidFill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二</a:t>
            </a:r>
            <a:endParaRPr lang="zh-CN" altLang="en-US" dirty="0"/>
          </a:p>
        </p:txBody>
      </p:sp>
      <p:sp>
        <p:nvSpPr>
          <p:cNvPr id="9" name="文本框 5"/>
          <p:cNvSpPr txBox="1"/>
          <p:nvPr>
            <p:custDataLst>
              <p:tags r:id="rId5"/>
            </p:custDataLst>
          </p:nvPr>
        </p:nvSpPr>
        <p:spPr>
          <a:xfrm>
            <a:off x="3287528" y="3140480"/>
            <a:ext cx="6480175" cy="488176"/>
          </a:xfrm>
          <a:prstGeom prst="rect">
            <a:avLst/>
          </a:prstGeom>
          <a:noFill/>
          <a:ln w="19050">
            <a:solidFill>
              <a:srgbClr val="102A8D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 b="1">
                <a:solidFill>
                  <a:srgbClr val="102A8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实验</a:t>
            </a:r>
            <a:r>
              <a:rPr lang="zh-CN" altLang="en-US" dirty="0"/>
              <a:t>步骤</a:t>
            </a:r>
            <a:endParaRPr lang="zh-CN" altLang="en-US" dirty="0"/>
          </a:p>
        </p:txBody>
      </p:sp>
      <p:sp>
        <p:nvSpPr>
          <p:cNvPr id="10" name="文本框 4"/>
          <p:cNvSpPr txBox="1"/>
          <p:nvPr>
            <p:custDataLst>
              <p:tags r:id="rId6"/>
            </p:custDataLst>
          </p:nvPr>
        </p:nvSpPr>
        <p:spPr>
          <a:xfrm>
            <a:off x="2566804" y="3140480"/>
            <a:ext cx="576263" cy="488176"/>
          </a:xfrm>
          <a:prstGeom prst="rect">
            <a:avLst/>
          </a:prstGeom>
          <a:solidFill>
            <a:srgbClr val="102A8D"/>
          </a:solidFill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</a:t>
            </a:r>
            <a:endParaRPr lang="zh-CN" altLang="en-US" dirty="0"/>
          </a:p>
        </p:txBody>
      </p:sp>
      <p:sp>
        <p:nvSpPr>
          <p:cNvPr id="11" name="文本框 5"/>
          <p:cNvSpPr txBox="1"/>
          <p:nvPr>
            <p:custDataLst>
              <p:tags r:id="rId7"/>
            </p:custDataLst>
          </p:nvPr>
        </p:nvSpPr>
        <p:spPr>
          <a:xfrm>
            <a:off x="3287528" y="3842699"/>
            <a:ext cx="6480175" cy="488176"/>
          </a:xfrm>
          <a:prstGeom prst="rect">
            <a:avLst/>
          </a:prstGeom>
          <a:noFill/>
          <a:ln w="19050">
            <a:solidFill>
              <a:srgbClr val="102A8D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 b="1">
                <a:solidFill>
                  <a:srgbClr val="102A8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结果报告</a:t>
            </a:r>
            <a:endParaRPr lang="zh-CN" altLang="en-US" dirty="0"/>
          </a:p>
        </p:txBody>
      </p:sp>
      <p:sp>
        <p:nvSpPr>
          <p:cNvPr id="12" name="文本框 4"/>
          <p:cNvSpPr txBox="1"/>
          <p:nvPr>
            <p:custDataLst>
              <p:tags r:id="rId8"/>
            </p:custDataLst>
          </p:nvPr>
        </p:nvSpPr>
        <p:spPr>
          <a:xfrm>
            <a:off x="2566804" y="3842699"/>
            <a:ext cx="576263" cy="488176"/>
          </a:xfrm>
          <a:prstGeom prst="rect">
            <a:avLst/>
          </a:prstGeom>
          <a:solidFill>
            <a:srgbClr val="102A8D"/>
          </a:solidFill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四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一、</a:t>
            </a:r>
            <a:r>
              <a:rPr lang="zh-CN" altLang="en-US" dirty="0">
                <a:sym typeface="+mn-ea"/>
              </a:rPr>
              <a:t>实验</a:t>
            </a:r>
            <a:r>
              <a:rPr lang="zh-CN" altLang="en-US" dirty="0">
                <a:sym typeface="+mn-ea"/>
              </a:rPr>
              <a:t>介绍</a:t>
            </a:r>
            <a:endParaRPr lang="zh-CN" altLang="en-US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7670" y="904240"/>
            <a:ext cx="11324590" cy="579818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实验目的：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验证脉冲电流（特别是双向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/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变幅脉冲）对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150Ah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磷酸铁锂电池在低温环境下的加热效果，测量温升速率、能耗（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SOC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消耗）等关键数据，为后续电池电热耦合仿真模型提供参数辨识和验证依据。</a:t>
            </a:r>
            <a:endParaRPr lang="zh-CN" altLang="en-US" sz="1600" dirty="0">
              <a:solidFill>
                <a:schemeClr val="accent1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实验原理：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通过外部控制电路（如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MOS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管），让电池以设定的频率和占空比进行脉冲式大电流自放电。电流流经电池内阻产生焦耳热（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Q = I</a:t>
            </a:r>
            <a:r>
              <a:rPr lang="en-US" altLang="zh-CN" sz="1600" baseline="30000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R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），从而从内部加热电池。通过调节脉冲参数（频率、占空比、幅值、正负脉冲比例），可以优化加热速率和效率。</a:t>
            </a:r>
            <a:endParaRPr lang="zh-CN" altLang="en-US" sz="1600" dirty="0">
              <a:solidFill>
                <a:schemeClr val="accent1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实验</a:t>
            </a: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电路：</a:t>
            </a:r>
            <a:endParaRPr lang="zh-CN" altLang="en-US" sz="1600" b="1" dirty="0">
              <a:solidFill>
                <a:schemeClr val="accent1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endParaRPr lang="zh-CN" altLang="en-US" sz="1600" b="1" dirty="0">
              <a:solidFill>
                <a:schemeClr val="accent1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endParaRPr lang="zh-CN" altLang="en-US" sz="1600" b="1" dirty="0">
              <a:solidFill>
                <a:schemeClr val="accent1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endParaRPr lang="zh-CN" altLang="en-US" sz="1600" b="1" dirty="0">
              <a:solidFill>
                <a:schemeClr val="accent1"/>
              </a:solidFill>
              <a:latin typeface="+mj-lt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endParaRPr lang="zh-CN" altLang="en-US" sz="1600" b="1" dirty="0">
              <a:solidFill>
                <a:schemeClr val="accent1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endParaRPr lang="zh-CN" altLang="en-US" sz="1600" b="1" dirty="0">
              <a:solidFill>
                <a:schemeClr val="accent1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实验</a:t>
            </a: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条件：</a:t>
            </a:r>
            <a:endParaRPr lang="zh-CN" altLang="en-US" sz="1600" b="1" dirty="0">
              <a:solidFill>
                <a:schemeClr val="accent1"/>
              </a:solidFill>
              <a:latin typeface="+mj-lt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1.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环境温度：设为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-20</a:t>
            </a:r>
            <a:r>
              <a:rPr lang="en-US" altLang="en-US" sz="1600" dirty="0">
                <a:solidFill>
                  <a:schemeClr val="accent1"/>
                </a:solidFill>
                <a:latin typeface="+mj-lt"/>
              </a:rPr>
              <a:t>℃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（常见低温工况）。</a:t>
            </a:r>
            <a:endParaRPr lang="zh-CN" altLang="en-US" sz="1600" dirty="0">
              <a:solidFill>
                <a:schemeClr val="accent1"/>
              </a:solidFill>
              <a:latin typeface="+mj-lt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2.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初始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SOC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：设为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80%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（文档指出中间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SOC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加热效果较好）。</a:t>
            </a:r>
            <a:endParaRPr lang="zh-CN" altLang="en-US" sz="1600" dirty="0">
              <a:solidFill>
                <a:schemeClr val="accent1"/>
              </a:solidFill>
              <a:latin typeface="+mj-lt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3.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脉冲频率：可设为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1kHz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或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10Hz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（文档中常用频率）。</a:t>
            </a:r>
            <a:endParaRPr lang="zh-CN" altLang="en-US" sz="1600" dirty="0">
              <a:solidFill>
                <a:schemeClr val="accent1"/>
              </a:solidFill>
              <a:latin typeface="+mj-lt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4.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占空比（如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20%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，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 50%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，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 80%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），</a:t>
            </a:r>
            <a:endParaRPr lang="zh-CN" altLang="en-US" sz="1600" dirty="0">
              <a:solidFill>
                <a:schemeClr val="accent1"/>
              </a:solidFill>
              <a:latin typeface="+mj-lt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5.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脉冲电流大小：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1C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，即改变平衡电阻（如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30mΩ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，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 130mΩ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，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 300mΩ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）。</a:t>
            </a:r>
            <a:endParaRPr lang="zh-CN" altLang="en-US" sz="1600" dirty="0">
              <a:solidFill>
                <a:schemeClr val="accent1"/>
              </a:solidFill>
              <a:latin typeface="+mj-lt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观察对温升速率和</a:t>
            </a:r>
            <a:r>
              <a:rPr lang="en-US" altLang="zh-CN" sz="1600" dirty="0">
                <a:solidFill>
                  <a:schemeClr val="accent1"/>
                </a:solidFill>
                <a:latin typeface="+mj-lt"/>
              </a:rPr>
              <a:t>SOC</a:t>
            </a:r>
            <a:r>
              <a:rPr lang="zh-CN" altLang="en-US" sz="1600" dirty="0">
                <a:solidFill>
                  <a:schemeClr val="accent1"/>
                </a:solidFill>
                <a:latin typeface="+mj-lt"/>
              </a:rPr>
              <a:t>消耗的影响。</a:t>
            </a:r>
            <a:endParaRPr lang="zh-CN" altLang="en-US" sz="1600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450" y="2493010"/>
            <a:ext cx="5875020" cy="1516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二、</a:t>
            </a:r>
            <a:r>
              <a:rPr lang="zh-CN" altLang="en-US" dirty="0">
                <a:sym typeface="+mn-ea"/>
              </a:rPr>
              <a:t>实验设备清单</a:t>
            </a:r>
            <a:endParaRPr lang="zh-CN" altLang="en-US" dirty="0"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56540" y="908685"/>
          <a:ext cx="11698605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960"/>
                <a:gridCol w="1630680"/>
                <a:gridCol w="4189730"/>
                <a:gridCol w="4540885"/>
                <a:gridCol w="641350"/>
              </a:tblGrid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类型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设备名称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参数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功能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成本</a:t>
                      </a:r>
                      <a:endParaRPr lang="zh-CN" altLang="en-US" sz="1200"/>
                    </a:p>
                  </a:txBody>
                  <a:tcPr/>
                </a:tc>
              </a:tr>
              <a:tr h="457200">
                <a:tc row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1.</a:t>
                      </a:r>
                      <a:r>
                        <a:rPr lang="zh-CN" altLang="en-US" sz="1200"/>
                        <a:t>控制与数据采集系统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主控制器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STM32</a:t>
                      </a:r>
                      <a:r>
                        <a:rPr lang="zh-CN" altLang="en-US" sz="1200"/>
                        <a:t>、</a:t>
                      </a:r>
                      <a:r>
                        <a:rPr lang="en-US" altLang="zh-CN" sz="1200"/>
                        <a:t>Arduino Mega</a:t>
                      </a:r>
                      <a:r>
                        <a:rPr lang="zh-CN" altLang="en-US" sz="1200"/>
                        <a:t>、树莓派等，或专用电池测试设备（如</a:t>
                      </a:r>
                      <a:r>
                        <a:rPr lang="en-US" altLang="zh-CN" sz="1200"/>
                        <a:t>Arbin</a:t>
                      </a:r>
                      <a:r>
                        <a:rPr lang="zh-CN" altLang="en-US" sz="1200"/>
                        <a:t>、</a:t>
                      </a:r>
                      <a:r>
                        <a:rPr lang="en-US" altLang="zh-CN" sz="1200"/>
                        <a:t>LAND</a:t>
                      </a:r>
                      <a:r>
                        <a:rPr lang="zh-CN" altLang="en-US" sz="1200"/>
                        <a:t>）。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产生</a:t>
                      </a:r>
                      <a:r>
                        <a:rPr lang="en-US" altLang="zh-CN" sz="1200"/>
                        <a:t>PWM</a:t>
                      </a:r>
                      <a:r>
                        <a:rPr lang="zh-CN" altLang="en-US" sz="1200"/>
                        <a:t>信号控制</a:t>
                      </a:r>
                      <a:r>
                        <a:rPr lang="en-US" altLang="zh-CN" sz="1200"/>
                        <a:t>MOS</a:t>
                      </a:r>
                      <a:r>
                        <a:rPr lang="zh-CN" altLang="en-US" sz="1200"/>
                        <a:t>管通断；采集电压、电流、温度数据。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 vMerge="1"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>
                          <a:sym typeface="+mn-ea"/>
                        </a:rPr>
                        <a:t>MOS</a:t>
                      </a:r>
                      <a:r>
                        <a:rPr lang="zh-CN" altLang="en-US" sz="1200">
                          <a:sym typeface="+mn-ea"/>
                        </a:rPr>
                        <a:t>管驱动模块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例如</a:t>
                      </a:r>
                      <a:r>
                        <a:rPr lang="en-US" altLang="zh-CN" sz="1200"/>
                        <a:t>IR2110</a:t>
                      </a:r>
                      <a:r>
                        <a:rPr lang="zh-CN" altLang="en-US" sz="1200"/>
                        <a:t>、</a:t>
                      </a:r>
                      <a:r>
                        <a:rPr lang="en-US" altLang="zh-CN" sz="1200"/>
                        <a:t>EG2133</a:t>
                      </a:r>
                      <a:r>
                        <a:rPr lang="zh-CN" altLang="en-US" sz="1200"/>
                        <a:t>等半桥</a:t>
                      </a:r>
                      <a:r>
                        <a:rPr lang="en-US" altLang="zh-CN" sz="1200"/>
                        <a:t>/</a:t>
                      </a:r>
                      <a:r>
                        <a:rPr lang="zh-CN" altLang="en-US" sz="1200"/>
                        <a:t>全桥驱动器。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将控制器输出的低压</a:t>
                      </a:r>
                      <a:r>
                        <a:rPr lang="en-US" altLang="zh-CN" sz="1200"/>
                        <a:t>PWM</a:t>
                      </a:r>
                      <a:r>
                        <a:rPr lang="zh-CN" altLang="en-US" sz="1200"/>
                        <a:t>信号放大，以驱动大功率</a:t>
                      </a:r>
                      <a:r>
                        <a:rPr lang="en-US" altLang="zh-CN" sz="1200"/>
                        <a:t>MOS</a:t>
                      </a:r>
                      <a:r>
                        <a:rPr lang="zh-CN" altLang="en-US" sz="1200"/>
                        <a:t>管。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数据采集卡</a:t>
                      </a:r>
                      <a:r>
                        <a:rPr lang="en-US" altLang="zh-CN" sz="1200"/>
                        <a:t>/</a:t>
                      </a:r>
                      <a:r>
                        <a:rPr lang="zh-CN" altLang="en-US" sz="1200"/>
                        <a:t>示波器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多通道高频数据记录仪或示波器（如</a:t>
                      </a:r>
                      <a:r>
                        <a:rPr lang="en-US" altLang="zh-CN" sz="1200"/>
                        <a:t>Keysight, RIGOL</a:t>
                      </a:r>
                      <a:r>
                        <a:rPr lang="zh-CN" altLang="en-US" sz="1200"/>
                        <a:t>）。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高频率记录电池端电压、加热电流、温度变化过程。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4572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上位机软件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LabVIEW, MATLAB/Simulink, </a:t>
                      </a:r>
                      <a:r>
                        <a:rPr lang="zh-CN" altLang="en-US" sz="1200"/>
                        <a:t>或控制器配套软件。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设置实验参数（频率、占空比）、启动</a:t>
                      </a:r>
                      <a:r>
                        <a:rPr lang="en-US" altLang="zh-CN" sz="1200"/>
                        <a:t>/</a:t>
                      </a:r>
                      <a:r>
                        <a:rPr lang="zh-CN" altLang="en-US" sz="1200"/>
                        <a:t>停止实验、实时监控与数据存储。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457200">
                <a:tc rowSpan="6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2. </a:t>
                      </a:r>
                      <a:r>
                        <a:rPr lang="zh-CN" altLang="en-US" sz="1200"/>
                        <a:t>加热执行回路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功率</a:t>
                      </a:r>
                      <a:r>
                        <a:rPr lang="en-US" altLang="zh-CN" sz="1200"/>
                        <a:t>MOS</a:t>
                      </a:r>
                      <a:r>
                        <a:rPr lang="zh-CN" altLang="en-US" sz="1200"/>
                        <a:t>管模块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耐压值</a:t>
                      </a:r>
                      <a:r>
                        <a:rPr lang="en-US" altLang="zh-CN" sz="1200"/>
                        <a:t> &gt; </a:t>
                      </a:r>
                      <a:r>
                        <a:rPr lang="zh-CN" altLang="en-US" sz="1200"/>
                        <a:t>电池最大电压的</a:t>
                      </a:r>
                      <a:r>
                        <a:rPr lang="en-US" altLang="zh-CN" sz="1200"/>
                        <a:t>1.5</a:t>
                      </a:r>
                      <a:r>
                        <a:rPr lang="zh-CN" altLang="en-US" sz="1200"/>
                        <a:t>倍。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r>
                        <a:rPr lang="zh-CN" altLang="en-US" sz="1200"/>
                        <a:t>连续电流</a:t>
                      </a:r>
                      <a:r>
                        <a:rPr lang="en-US" altLang="zh-CN" sz="1200"/>
                        <a:t> &gt; </a:t>
                      </a:r>
                      <a:r>
                        <a:rPr lang="zh-CN" altLang="en-US" sz="1200"/>
                        <a:t>预期最大脉冲电流的</a:t>
                      </a:r>
                      <a:r>
                        <a:rPr lang="en-US" altLang="zh-CN" sz="1200"/>
                        <a:t>1.5</a:t>
                      </a:r>
                      <a:r>
                        <a:rPr lang="zh-CN" altLang="en-US" sz="1200"/>
                        <a:t>倍。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作为高速开关，控制电池放电回路的通断，产生脉冲电流。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64008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平衡电阻</a:t>
                      </a:r>
                      <a:r>
                        <a:rPr lang="en-US" altLang="zh-CN" sz="1200"/>
                        <a:t> / </a:t>
                      </a:r>
                      <a:r>
                        <a:rPr lang="zh-CN" altLang="en-US" sz="1200"/>
                        <a:t>限流电阻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功率电阻，阻值可调（如</a:t>
                      </a:r>
                      <a:r>
                        <a:rPr lang="en-US" altLang="zh-CN" sz="1200"/>
                        <a:t>30mΩ, 130mΩ, 600mΩ</a:t>
                      </a:r>
                      <a:r>
                        <a:rPr lang="zh-CN" altLang="en-US" sz="1200"/>
                        <a:t>）。功率额定值需能承受脉冲电流下的发热。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限流与安全：限制最大放电电流，防止电流过大损坏电池或</a:t>
                      </a:r>
                      <a:r>
                        <a:rPr lang="en-US" altLang="zh-CN" sz="1200"/>
                        <a:t>MOS</a:t>
                      </a:r>
                      <a:r>
                        <a:rPr lang="zh-CN" altLang="en-US" sz="1200"/>
                        <a:t>管。调节加热功率：改变电阻可改变回路总电阻，从而调节电流和加热功率。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4572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电流传感器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霍尔电流传感器（如</a:t>
                      </a:r>
                      <a:r>
                        <a:rPr lang="en-US" altLang="zh-CN" sz="1200"/>
                        <a:t>LEM</a:t>
                      </a:r>
                      <a:r>
                        <a:rPr lang="zh-CN" altLang="en-US" sz="1200"/>
                        <a:t>系列）。量程需覆盖正负最大脉冲电流，带宽足够高（</a:t>
                      </a:r>
                      <a:r>
                        <a:rPr lang="en-US" altLang="zh-CN" sz="1200"/>
                        <a:t>&gt;10kHz</a:t>
                      </a:r>
                      <a:r>
                        <a:rPr lang="zh-CN" altLang="en-US" sz="1200"/>
                        <a:t>）。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实时测量流过电池的脉冲电流。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电压采样电路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高精度差分运放电路或隔离电压传感器。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实时测量电池端电压，用于监控电压边界，防止过放。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4572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温度传感器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K</a:t>
                      </a:r>
                      <a:r>
                        <a:rPr lang="zh-CN" altLang="en-US" sz="1200"/>
                        <a:t>型或</a:t>
                      </a:r>
                      <a:r>
                        <a:rPr lang="en-US" altLang="zh-CN" sz="1200"/>
                        <a:t>T</a:t>
                      </a:r>
                      <a:r>
                        <a:rPr lang="zh-CN" altLang="en-US" sz="1200"/>
                        <a:t>型热电偶，或多点</a:t>
                      </a:r>
                      <a:r>
                        <a:rPr lang="en-US" altLang="zh-CN" sz="1200"/>
                        <a:t>PT100</a:t>
                      </a:r>
                      <a:r>
                        <a:rPr lang="zh-CN" altLang="en-US" sz="1200"/>
                        <a:t>。数据采集仪或多通道温度记录仪。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粘贴在电池表面（中心、边缘等多点），测量电池温度变化。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大电流试验线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满足</a:t>
                      </a:r>
                      <a:r>
                        <a:rPr lang="en-US" altLang="zh-CN" sz="1200"/>
                        <a:t>500A</a:t>
                      </a:r>
                      <a:r>
                        <a:rPr lang="zh-CN" altLang="en-US" sz="1200"/>
                        <a:t>电流。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连接</a:t>
                      </a:r>
                      <a:r>
                        <a:rPr lang="zh-CN" altLang="en-US" sz="1200"/>
                        <a:t>元件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 row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3. </a:t>
                      </a:r>
                      <a:r>
                        <a:rPr lang="zh-CN" altLang="en-US" sz="1200"/>
                        <a:t>电池与环境模拟系统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实验电池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150Ah </a:t>
                      </a:r>
                      <a:r>
                        <a:rPr lang="zh-CN" altLang="en-US" sz="1200"/>
                        <a:t>磷酸铁锂（</a:t>
                      </a:r>
                      <a:r>
                        <a:rPr lang="en-US" altLang="zh-CN" sz="1200"/>
                        <a:t>LiFePO4</a:t>
                      </a:r>
                      <a:r>
                        <a:rPr lang="zh-CN" altLang="en-US" sz="1200"/>
                        <a:t>）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被加热对象。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高低温试验箱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温度范围至少覆盖</a:t>
                      </a:r>
                      <a:r>
                        <a:rPr lang="en-US" altLang="zh-CN" sz="1200"/>
                        <a:t> -20</a:t>
                      </a:r>
                      <a:r>
                        <a:rPr lang="" altLang="en-US" sz="1200"/>
                        <a:t>℃</a:t>
                      </a:r>
                      <a:r>
                        <a:rPr lang="en-US" altLang="zh-CN" sz="1200"/>
                        <a:t> </a:t>
                      </a:r>
                      <a:r>
                        <a:rPr lang="zh-CN" altLang="en-US" sz="1200"/>
                        <a:t>至</a:t>
                      </a:r>
                      <a:r>
                        <a:rPr lang="en-US" altLang="zh-CN" sz="1200"/>
                        <a:t> 25</a:t>
                      </a:r>
                      <a:r>
                        <a:rPr lang="" altLang="en-US" sz="1200"/>
                        <a:t>℃</a:t>
                      </a:r>
                      <a:r>
                        <a:rPr lang="zh-CN" altLang="en-US" sz="1200"/>
                        <a:t>，精度</a:t>
                      </a:r>
                      <a:r>
                        <a:rPr lang="en-US" altLang="en-US" sz="1200"/>
                        <a:t>±</a:t>
                      </a:r>
                      <a:r>
                        <a:rPr lang="en-US" altLang="zh-CN" sz="1200"/>
                        <a:t>1</a:t>
                      </a:r>
                      <a:r>
                        <a:rPr lang="" altLang="en-US" sz="1200"/>
                        <a:t>℃</a:t>
                      </a:r>
                      <a:r>
                        <a:rPr lang="zh-CN" altLang="en-US" sz="1200"/>
                        <a:t>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为电池提供稳定、可控的低温实验环境。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4572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电池充放电设备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电池测试系统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用于在实验前将电池调整至指定的初始</a:t>
                      </a:r>
                      <a:r>
                        <a:rPr lang="en-US" altLang="zh-CN" sz="1200"/>
                        <a:t>SOC</a:t>
                      </a:r>
                      <a:r>
                        <a:rPr lang="zh-CN" altLang="en-US" sz="1200"/>
                        <a:t>（如</a:t>
                      </a:r>
                      <a:r>
                        <a:rPr lang="en-US" altLang="zh-CN" sz="1200"/>
                        <a:t>80%</a:t>
                      </a:r>
                      <a:r>
                        <a:rPr lang="zh-CN" altLang="en-US" sz="1200"/>
                        <a:t>），并在实验后测量容量变化。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安全保护箱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防爆箱或坚固的金属箱体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将电池和加热回路置于其中，以防万一发生热失控等安全问题。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1500" y="955890"/>
            <a:ext cx="11363131" cy="3938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p"/>
              <a:defRPr/>
            </a:pP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准备与标定：用充放电设备将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150Ah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磷酸铁锂电池充至指定初始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）。将电池放入高低温试验箱，设定目标环境温度（如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-20</a:t>
            </a:r>
            <a:r>
              <a:rPr lang="en-US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℃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），静置足够时间（如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6-12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小时）使电池内外温度均匀稳定。将热电偶牢固粘贴在电池表面关键位置（中心、极耳附近）。</a:t>
            </a:r>
            <a:endParaRPr lang="en-US" altLang="zh-CN" sz="1400" dirty="0">
              <a:solidFill>
                <a:srgbClr val="152A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p"/>
              <a:defRPr/>
            </a:pPr>
            <a:endParaRPr lang="zh-CN" altLang="en-US" sz="1400" dirty="0">
              <a:solidFill>
                <a:srgbClr val="152A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p"/>
              <a:defRPr/>
            </a:pP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系统连接与检查：按原理图连接所有电路元件，特别注意大电流路径的导线要足够粗，连接要牢固。将整个加热回路（除控制器和采集设备外）放入安全保护箱。给控制器、驱动板上电，检查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信号输出是否正常。设置电压保护限值（如放电截止电压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2.5V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，充电上限电压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3.65V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1400" dirty="0">
              <a:solidFill>
                <a:srgbClr val="152A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None/>
              <a:defRPr/>
            </a:pPr>
            <a:endParaRPr lang="en-US" altLang="zh-CN" sz="1400" dirty="0">
              <a:solidFill>
                <a:srgbClr val="152A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p"/>
              <a:defRPr/>
            </a:pP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执行实验：在上位机设置好本组实验的脉冲参数（频率、占空比）。启动数据记录仪和控制器程序。控制器开始输出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信号，启动脉冲加热过程。实时监控电池温度、电压、电流。当电池平均温度达到目标温度（如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℃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）或触发电压保护时，控制器自动停止加热。</a:t>
            </a:r>
            <a:endParaRPr lang="zh-CN" altLang="en-US" sz="1400" dirty="0">
              <a:solidFill>
                <a:srgbClr val="152A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p"/>
              <a:defRPr/>
            </a:pPr>
            <a:endParaRPr lang="en-US" altLang="zh-CN" sz="1400" dirty="0">
              <a:solidFill>
                <a:srgbClr val="152A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p"/>
              <a:defRPr/>
            </a:pP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数据记录与分析：记录整个过程的时间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温度曲线，计算平均温升速率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记录时间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电流曲线，计算总的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消耗</a:t>
            </a:r>
            <a:r>
              <a:rPr 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记录时间</a:t>
            </a: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电压曲线，观察电压波动范围。对比不同参数下的加热效果（温升速率、能耗、电压平台）。</a:t>
            </a:r>
            <a:endParaRPr lang="zh-CN" altLang="en-US" sz="1400" dirty="0">
              <a:solidFill>
                <a:srgbClr val="152A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p"/>
              <a:defRPr/>
            </a:pPr>
            <a:endParaRPr lang="en-US" altLang="zh-CN" sz="1400" dirty="0">
              <a:solidFill>
                <a:srgbClr val="152A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p"/>
              <a:defRPr/>
            </a:pPr>
            <a:r>
              <a:rPr lang="en-US" altLang="zh-CN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14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安全与后续：实验结束后，断开所有电源。让电池在试验箱内自然冷却至环境温度。可进行容量测试，评估本次脉冲加热对电池容量的短期影响（可选）。</a:t>
            </a:r>
            <a:endParaRPr lang="zh-CN" altLang="en-US" sz="1400" dirty="0">
              <a:solidFill>
                <a:srgbClr val="152A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77723" y="175966"/>
            <a:ext cx="9218727" cy="559059"/>
          </a:xfrm>
        </p:spPr>
        <p:txBody>
          <a:bodyPr/>
          <a:lstStyle/>
          <a:p>
            <a:r>
              <a:rPr lang="zh-CN" altLang="en-US" dirty="0"/>
              <a:t>三、</a:t>
            </a:r>
            <a:r>
              <a:rPr lang="zh-CN" altLang="en-US" dirty="0"/>
              <a:t>实验步骤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四、</a:t>
            </a:r>
            <a:r>
              <a:rPr lang="zh-CN" altLang="en-US" sz="2800" b="1" dirty="0">
                <a:solidFill>
                  <a:schemeClr val="accent1"/>
                </a:solidFill>
                <a:latin typeface="+mj-lt"/>
              </a:rPr>
              <a:t>结果报告</a:t>
            </a:r>
            <a:endParaRPr lang="zh-CN" alt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9425" y="908685"/>
            <a:ext cx="11186160" cy="39814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endParaRPr lang="zh-CN" altLang="en-US" sz="16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7670" y="904240"/>
            <a:ext cx="11324590" cy="579818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实验</a:t>
            </a: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数据：</a:t>
            </a:r>
            <a:endParaRPr lang="zh-CN" altLang="en-US" sz="1600" b="1" dirty="0">
              <a:solidFill>
                <a:schemeClr val="accent1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en-US" altLang="zh-CN" sz="1600" b="1" dirty="0">
                <a:solidFill>
                  <a:schemeClr val="accent1"/>
                </a:solidFill>
                <a:latin typeface="+mj-lt"/>
              </a:rPr>
              <a:t>1.</a:t>
            </a: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电池电压曲线（电压</a:t>
            </a:r>
            <a:r>
              <a:rPr lang="en-US" altLang="zh-CN" sz="1600" b="1" dirty="0">
                <a:solidFill>
                  <a:schemeClr val="accent1"/>
                </a:solidFill>
                <a:latin typeface="+mj-lt"/>
              </a:rPr>
              <a:t>V-</a:t>
            </a: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时间</a:t>
            </a:r>
            <a:r>
              <a:rPr lang="en-US" altLang="zh-CN" sz="1600" b="1" dirty="0">
                <a:solidFill>
                  <a:schemeClr val="accent1"/>
                </a:solidFill>
                <a:latin typeface="+mj-lt"/>
              </a:rPr>
              <a:t>min</a:t>
            </a: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）</a:t>
            </a:r>
            <a:endParaRPr lang="zh-CN" altLang="en-US" sz="1600" b="1" dirty="0">
              <a:solidFill>
                <a:schemeClr val="accent1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en-US" altLang="zh-CN" sz="1600" b="1" dirty="0">
                <a:solidFill>
                  <a:schemeClr val="accent1"/>
                </a:solidFill>
                <a:latin typeface="+mj-lt"/>
              </a:rPr>
              <a:t>2.</a:t>
            </a: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温升速率曲线（温度</a:t>
            </a:r>
            <a:r>
              <a:rPr lang="en-US" altLang="zh-CN" sz="1600" b="1" dirty="0">
                <a:solidFill>
                  <a:schemeClr val="accent1"/>
                </a:solidFill>
                <a:latin typeface="+mj-lt"/>
              </a:rPr>
              <a:t>℃-</a:t>
            </a: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时间</a:t>
            </a:r>
            <a:r>
              <a:rPr lang="en-US" altLang="zh-CN" sz="1600" b="1" dirty="0">
                <a:solidFill>
                  <a:schemeClr val="accent1"/>
                </a:solidFill>
                <a:latin typeface="+mj-lt"/>
              </a:rPr>
              <a:t>min</a:t>
            </a: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）</a:t>
            </a:r>
            <a:endParaRPr lang="zh-CN" altLang="en-US" sz="1600" b="1" dirty="0">
              <a:solidFill>
                <a:schemeClr val="accent1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en-US" altLang="zh-CN" sz="1600" b="1" dirty="0">
                <a:solidFill>
                  <a:schemeClr val="accent1"/>
                </a:solidFill>
                <a:latin typeface="+mj-lt"/>
              </a:rPr>
              <a:t>3.SOC</a:t>
            </a: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消耗</a:t>
            </a:r>
            <a:r>
              <a:rPr lang="zh-CN" altLang="en-US" sz="1600" b="1" dirty="0">
                <a:solidFill>
                  <a:schemeClr val="accent1"/>
                </a:solidFill>
                <a:latin typeface="+mj-lt"/>
                <a:sym typeface="+mn-ea"/>
              </a:rPr>
              <a:t>（</a:t>
            </a:r>
            <a:r>
              <a:rPr lang="en-US" altLang="zh-CN" sz="1600" b="1" dirty="0">
                <a:solidFill>
                  <a:schemeClr val="accent1"/>
                </a:solidFill>
                <a:latin typeface="+mj-lt"/>
                <a:sym typeface="+mn-ea"/>
              </a:rPr>
              <a:t>SOC%-</a:t>
            </a:r>
            <a:r>
              <a:rPr lang="zh-CN" altLang="en-US" sz="1600" b="1" dirty="0">
                <a:solidFill>
                  <a:schemeClr val="accent1"/>
                </a:solidFill>
                <a:latin typeface="+mj-lt"/>
                <a:sym typeface="+mn-ea"/>
              </a:rPr>
              <a:t>温度°</a:t>
            </a:r>
            <a:r>
              <a:rPr lang="en-US" altLang="zh-CN" sz="1600" b="1" dirty="0">
                <a:solidFill>
                  <a:schemeClr val="accent1"/>
                </a:solidFill>
                <a:latin typeface="+mj-lt"/>
                <a:sym typeface="+mn-ea"/>
              </a:rPr>
              <a:t>C</a:t>
            </a:r>
            <a:r>
              <a:rPr lang="zh-CN" altLang="en-US" sz="1600" b="1" dirty="0">
                <a:solidFill>
                  <a:schemeClr val="accent1"/>
                </a:solidFill>
                <a:latin typeface="+mj-lt"/>
                <a:sym typeface="+mn-ea"/>
              </a:rPr>
              <a:t>）</a:t>
            </a:r>
            <a:endParaRPr lang="zh-CN" altLang="en-US" sz="1600" b="1" dirty="0">
              <a:solidFill>
                <a:schemeClr val="accent1"/>
              </a:solidFill>
              <a:latin typeface="+mj-lt"/>
              <a:sym typeface="+mn-ea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endParaRPr lang="zh-CN" altLang="en-US" sz="1600" b="1" dirty="0">
              <a:solidFill>
                <a:schemeClr val="accent1"/>
              </a:solidFill>
              <a:latin typeface="+mj-lt"/>
              <a:sym typeface="+mn-ea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chemeClr val="accent1"/>
                </a:solidFill>
                <a:latin typeface="+mj-lt"/>
                <a:sym typeface="+mn-ea"/>
              </a:rPr>
              <a:t>实验</a:t>
            </a:r>
            <a:r>
              <a:rPr lang="zh-CN" altLang="en-US" sz="1600" b="1" dirty="0">
                <a:solidFill>
                  <a:schemeClr val="accent1"/>
                </a:solidFill>
                <a:latin typeface="+mj-lt"/>
                <a:sym typeface="+mn-ea"/>
              </a:rPr>
              <a:t>结论：</a:t>
            </a:r>
            <a:endParaRPr lang="zh-CN" altLang="en-US" sz="1600" b="1" dirty="0">
              <a:solidFill>
                <a:schemeClr val="accent1"/>
              </a:solidFill>
              <a:latin typeface="+mj-lt"/>
              <a:sym typeface="+mn-ea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endParaRPr lang="zh-CN" altLang="en-US" sz="1600" b="1" dirty="0">
              <a:solidFill>
                <a:schemeClr val="accent1"/>
              </a:solidFill>
              <a:latin typeface="+mj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2.40204724409443,&quot;left&quot;:196.5,&quot;top&quot;:128.26173228346457,&quot;width&quot;:572.6104724409449}"/>
</p:tagLst>
</file>

<file path=ppt/tags/tag2.xml><?xml version="1.0" encoding="utf-8"?>
<p:tagLst xmlns:p="http://schemas.openxmlformats.org/presentationml/2006/main">
  <p:tag name="KSO_WM_DIAGRAM_VIRTUALLY_FRAME" val="{&quot;height&quot;:332.40204724409443,&quot;left&quot;:196.5,&quot;top&quot;:128.26173228346457,&quot;width&quot;:572.6104724409449}"/>
</p:tagLst>
</file>

<file path=ppt/tags/tag3.xml><?xml version="1.0" encoding="utf-8"?>
<p:tagLst xmlns:p="http://schemas.openxmlformats.org/presentationml/2006/main">
  <p:tag name="KSO_WM_DIAGRAM_VIRTUALLY_FRAME" val="{&quot;height&quot;:332.40204724409443,&quot;left&quot;:196.5,&quot;top&quot;:128.26173228346457,&quot;width&quot;:572.6104724409449}"/>
</p:tagLst>
</file>

<file path=ppt/tags/tag4.xml><?xml version="1.0" encoding="utf-8"?>
<p:tagLst xmlns:p="http://schemas.openxmlformats.org/presentationml/2006/main">
  <p:tag name="KSO_WM_DIAGRAM_VIRTUALLY_FRAME" val="{&quot;height&quot;:332.40204724409443,&quot;left&quot;:196.5,&quot;top&quot;:128.26173228346457,&quot;width&quot;:572.6104724409449}"/>
</p:tagLst>
</file>

<file path=ppt/tags/tag5.xml><?xml version="1.0" encoding="utf-8"?>
<p:tagLst xmlns:p="http://schemas.openxmlformats.org/presentationml/2006/main">
  <p:tag name="KSO_WM_DIAGRAM_VIRTUALLY_FRAME" val="{&quot;height&quot;:332.40204724409443,&quot;left&quot;:196.5,&quot;top&quot;:128.26173228346457,&quot;width&quot;:572.6104724409449}"/>
</p:tagLst>
</file>

<file path=ppt/tags/tag6.xml><?xml version="1.0" encoding="utf-8"?>
<p:tagLst xmlns:p="http://schemas.openxmlformats.org/presentationml/2006/main">
  <p:tag name="KSO_WM_DIAGRAM_VIRTUALLY_FRAME" val="{&quot;height&quot;:332.40204724409443,&quot;left&quot;:196.5,&quot;top&quot;:128.26173228346457,&quot;width&quot;:572.6104724409449}"/>
</p:tagLst>
</file>

<file path=ppt/tags/tag7.xml><?xml version="1.0" encoding="utf-8"?>
<p:tagLst xmlns:p="http://schemas.openxmlformats.org/presentationml/2006/main">
  <p:tag name="KSO_WM_DIAGRAM_VIRTUALLY_FRAME" val="{&quot;height&quot;:332.40204724409443,&quot;left&quot;:196.5,&quot;top&quot;:128.26173228346457,&quot;width&quot;:572.6104724409449}"/>
</p:tagLst>
</file>

<file path=ppt/tags/tag8.xml><?xml version="1.0" encoding="utf-8"?>
<p:tagLst xmlns:p="http://schemas.openxmlformats.org/presentationml/2006/main">
  <p:tag name="KSO_WM_DIAGRAM_VIRTUALLY_FRAME" val="{&quot;height&quot;:332.40204724409443,&quot;left&quot;:196.5,&quot;top&quot;:128.26173228346457,&quot;width&quot;:572.6104724409449}"/>
</p:tagLst>
</file>

<file path=ppt/tags/tag9.xml><?xml version="1.0" encoding="utf-8"?>
<p:tagLst xmlns:p="http://schemas.openxmlformats.org/presentationml/2006/main">
  <p:tag name="TABLE_ENDDRAG_ORIGIN_RECT" val="921*368"/>
  <p:tag name="TABLE_ENDDRAG_RECT" val="20*71*921*368"/>
</p:tagLst>
</file>

<file path=ppt/theme/theme1.xml><?xml version="1.0" encoding="utf-8"?>
<a:theme xmlns:a="http://schemas.openxmlformats.org/drawingml/2006/main" name="Office 主题​​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600"/>
          </a:spcBef>
          <a:defRPr dirty="0" err="1" smtClean="0">
            <a:solidFill>
              <a:srgbClr val="003B90"/>
            </a:solidFill>
            <a:latin typeface="+mj-lt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2067</Words>
  <Application>WPS 演示</Application>
  <PresentationFormat>宽屏</PresentationFormat>
  <Paragraphs>185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Wingdings</vt:lpstr>
      <vt:lpstr>Arial Unicode MS</vt:lpstr>
      <vt:lpstr>等线</vt:lpstr>
      <vt:lpstr>system-ui</vt:lpstr>
      <vt:lpstr>Segoe Print</vt:lpstr>
      <vt:lpstr>Office 主题​​</vt:lpstr>
      <vt:lpstr>电池脉冲加热原理实验设计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一汽解放PPT模板</dc:title>
  <dc:creator>一汽解放</dc:creator>
  <cp:lastModifiedBy>WPS_1632448344</cp:lastModifiedBy>
  <cp:revision>698</cp:revision>
  <cp:lastPrinted>2023-05-19T05:02:00Z</cp:lastPrinted>
  <dcterms:created xsi:type="dcterms:W3CDTF">2015-12-28T03:19:00Z</dcterms:created>
  <dcterms:modified xsi:type="dcterms:W3CDTF">2025-12-30T06:32:06Z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C0BBD2C2334E409494CF41392E5EAE65_13</vt:lpwstr>
  </property>
  <property fmtid="{D5CDD505-2E9C-101B-9397-08002B2CF9AE}" pid="3" name="KSOProductBuildVer">
    <vt:lpwstr>2052-12.1.0.24034</vt:lpwstr>
  </property>
</Properties>
</file>
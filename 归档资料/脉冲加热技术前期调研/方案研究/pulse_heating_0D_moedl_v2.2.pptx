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77" r:id="rId3"/>
    <p:sldId id="378" r:id="rId5"/>
  </p:sldIdLst>
  <p:sldSz cx="12192000" cy="6858000"/>
  <p:notesSz cx="6797675" cy="992632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  <p:cmAuthor id="2" name="吴俊樑" initials="吴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A8C"/>
    <a:srgbClr val="00B050"/>
    <a:srgbClr val="F1F1F1"/>
    <a:srgbClr val="F2F2F2"/>
    <a:srgbClr val="FF374A"/>
    <a:srgbClr val="4964E4"/>
    <a:srgbClr val="84EB7A"/>
    <a:srgbClr val="B10011"/>
    <a:srgbClr val="F5B482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21" autoAdjust="0"/>
    <p:restoredTop sz="82896" autoAdjust="0"/>
  </p:normalViewPr>
  <p:slideViewPr>
    <p:cSldViewPr snapToObjects="1">
      <p:cViewPr varScale="1">
        <p:scale>
          <a:sx n="96" d="100"/>
          <a:sy n="96" d="100"/>
        </p:scale>
        <p:origin x="9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42" d="100"/>
          <a:sy n="42" d="100"/>
        </p:scale>
        <p:origin x="-1757" y="-96"/>
      </p:cViewPr>
      <p:guideLst>
        <p:guide orient="horz" pos="3365"/>
        <p:guide pos="216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826" y="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0259903-FC65-400A-9E76-C4C330AD3D6E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08" tIns="46054" rIns="92108" bIns="4605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288" y="4777245"/>
            <a:ext cx="5439101" cy="3908363"/>
          </a:xfrm>
          <a:prstGeom prst="rect">
            <a:avLst/>
          </a:prstGeom>
        </p:spPr>
        <p:txBody>
          <a:bodyPr vert="horz" lIns="92108" tIns="46054" rIns="92108" bIns="46054" rtlCol="0"/>
          <a:lstStyle/>
          <a:p>
            <a:pPr lv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31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826" y="942831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67DAE94-9449-4026-AC54-378A5A1A863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1pPr>
    <a:lvl2pPr marL="48577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2pPr>
    <a:lvl3pPr marL="97155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3pPr>
    <a:lvl4pPr marL="145732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4pPr>
    <a:lvl5pPr marL="194310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5pPr>
    <a:lvl6pPr marL="242951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6pPr>
    <a:lvl7pPr marL="291528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7pPr>
    <a:lvl8pPr marL="340106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8pPr>
    <a:lvl9pPr marL="388683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图6：电机参数空间可行性边界图</a:t>
            </a:r>
            <a:endParaRPr lang="en-US" altLang="zh-CN"/>
          </a:p>
          <a:p>
            <a:r>
              <a:rPr lang="zh-CN" altLang="en-US"/>
              <a:t>横轴频率(1~3000</a:t>
            </a:r>
            <a:r>
              <a:rPr lang="en-US" altLang="zh-CN"/>
              <a:t>Hz)、</a:t>
            </a:r>
            <a:r>
              <a:rPr lang="zh-CN" altLang="en-US"/>
              <a:t>纵轴电感(0.05~0.25</a:t>
            </a:r>
            <a:r>
              <a:rPr lang="en-US" altLang="zh-CN"/>
              <a:t>mH)，</a:t>
            </a:r>
            <a:r>
              <a:rPr lang="zh-CN" altLang="en-US"/>
              <a:t>背景色为初始温升速率(°</a:t>
            </a:r>
            <a:r>
              <a:rPr lang="en-US" altLang="zh-CN"/>
              <a:t>C/min)。</a:t>
            </a:r>
            <a:r>
              <a:rPr lang="zh-CN" altLang="en-US"/>
              <a:t>图中包含：</a:t>
            </a:r>
            <a:endParaRPr lang="en-US" altLang="zh-CN"/>
          </a:p>
          <a:p>
            <a:r>
              <a:rPr lang="zh-CN" altLang="en-US"/>
              <a:t>红线：器件电流限制（峰值电流=额定上限），红线以上区域电流超限不可用</a:t>
            </a:r>
            <a:endParaRPr lang="zh-CN" altLang="en-US"/>
          </a:p>
          <a:p>
            <a:r>
              <a:rPr lang="zh-CN" altLang="en-US"/>
              <a:t>品红线：析锂安全边界（峰值电流=析锂限值），品红线以上区域有析锂风险</a:t>
            </a:r>
            <a:endParaRPr lang="zh-CN" altLang="en-US"/>
          </a:p>
          <a:p>
            <a:r>
              <a:rPr lang="zh-CN" altLang="en-US"/>
              <a:t>绿/青虚线：1°</a:t>
            </a:r>
            <a:r>
              <a:rPr lang="en-US" altLang="zh-CN"/>
              <a:t>C/min </a:t>
            </a:r>
            <a:r>
              <a:rPr lang="zh-CN" altLang="en-US"/>
              <a:t>和 0.5°</a:t>
            </a:r>
            <a:r>
              <a:rPr lang="en-US" altLang="zh-CN"/>
              <a:t>C/min </a:t>
            </a:r>
            <a:r>
              <a:rPr lang="zh-CN" altLang="en-US"/>
              <a:t>温升目标等值线</a:t>
            </a:r>
            <a:endParaRPr lang="zh-CN" altLang="en-US"/>
          </a:p>
          <a:p>
            <a:r>
              <a:rPr lang="zh-CN" altLang="en-US"/>
              <a:t>白色水平线：当前盘毂电机 </a:t>
            </a:r>
            <a:r>
              <a:rPr lang="en-US" altLang="zh-CN"/>
              <a:t>L_d=0.12mH，</a:t>
            </a:r>
            <a:r>
              <a:rPr lang="zh-CN" altLang="en-US"/>
              <a:t>表示在该电感下可调频率的工作范围</a:t>
            </a:r>
            <a:endParaRPr lang="zh-CN" altLang="en-US"/>
          </a:p>
          <a:p>
            <a:r>
              <a:rPr lang="zh-CN" altLang="en-US"/>
              <a:t>读图要点：沿白色电感线水平看，左侧低频温升快但受析锂/电流限制约束，右侧高频安全但温升速率下降。最优工作频率在两条限制线之间、温升速率尽可能高的区域。</a:t>
            </a:r>
            <a:endParaRPr lang="en-US" altLang="zh-CN"/>
          </a:p>
          <a:p>
            <a:r>
              <a:rPr lang="zh-CN" altLang="en-US"/>
              <a:t>图7：电池组配置对温升速率的影响</a:t>
            </a:r>
            <a:endParaRPr lang="en-US" altLang="zh-CN"/>
          </a:p>
          <a:p>
            <a:r>
              <a:rPr lang="zh-CN" altLang="en-US"/>
              <a:t>横轴</a:t>
            </a:r>
            <a:r>
              <a:rPr lang="en-US" altLang="zh-CN"/>
              <a:t>Pack</a:t>
            </a:r>
            <a:r>
              <a:rPr lang="zh-CN" altLang="en-US"/>
              <a:t>额定电压(350~750</a:t>
            </a:r>
            <a:r>
              <a:rPr lang="en-US" altLang="zh-CN"/>
              <a:t>V)、</a:t>
            </a:r>
            <a:r>
              <a:rPr lang="zh-CN" altLang="en-US"/>
              <a:t>纵轴</a:t>
            </a:r>
            <a:r>
              <a:rPr lang="en-US" altLang="zh-CN"/>
              <a:t>Pack</a:t>
            </a:r>
            <a:r>
              <a:rPr lang="zh-CN" altLang="en-US"/>
              <a:t>总能量(80~500</a:t>
            </a:r>
            <a:r>
              <a:rPr lang="en-US" altLang="zh-CN"/>
              <a:t>kWh)，</a:t>
            </a:r>
            <a:r>
              <a:rPr lang="zh-CN" altLang="en-US"/>
              <a:t>背景色为初始温升速率。图中包含：</a:t>
            </a:r>
            <a:endParaRPr lang="en-US" altLang="zh-CN"/>
          </a:p>
          <a:p>
            <a:r>
              <a:rPr lang="zh-CN" altLang="en-US"/>
              <a:t>红线：器件电流限制边界</a:t>
            </a:r>
            <a:endParaRPr lang="zh-CN" altLang="en-US"/>
          </a:p>
          <a:p>
            <a:r>
              <a:rPr lang="zh-CN" altLang="en-US"/>
              <a:t>品红线：析锂限制边界（并联数少时单芯电流大，析锂风险高）</a:t>
            </a:r>
            <a:endParaRPr lang="zh-CN" altLang="en-US"/>
          </a:p>
          <a:p>
            <a:r>
              <a:rPr lang="zh-CN" altLang="en-US"/>
              <a:t>绿/青虚线：温升目标等值线</a:t>
            </a:r>
            <a:endParaRPr lang="zh-CN" altLang="en-US"/>
          </a:p>
          <a:p>
            <a:r>
              <a:rPr lang="zh-CN" altLang="en-US"/>
              <a:t>白色星号+参考线：当前配置（614</a:t>
            </a:r>
            <a:r>
              <a:rPr lang="en-US" altLang="zh-CN"/>
              <a:t>V / 424kWh, 192S3P）</a:t>
            </a:r>
            <a:endParaRPr lang="en-US" altLang="zh-CN"/>
          </a:p>
          <a:p>
            <a:r>
              <a:rPr lang="zh-CN" altLang="en-US"/>
              <a:t>读图要点：高电压+低能量（左下区域）温升快但受电流/析锂约束；低电压+高能量（右上区域）安全但温升慢。电压平台主要决定驱动能力，能量（并联数）主要决定热容和析锂裕度。</a:t>
            </a:r>
            <a:endParaRPr lang="en-US" altLang="zh-CN"/>
          </a:p>
          <a:p>
            <a:r>
              <a:rPr lang="zh-CN" altLang="en-US"/>
              <a:t>图5</a:t>
            </a:r>
            <a:r>
              <a:rPr lang="en-US" altLang="zh-CN"/>
              <a:t>b：</a:t>
            </a:r>
            <a:r>
              <a:rPr lang="zh-CN" altLang="en-US"/>
              <a:t>加热效率与</a:t>
            </a:r>
            <a:r>
              <a:rPr lang="en-US" altLang="zh-CN"/>
              <a:t>SOC</a:t>
            </a:r>
            <a:r>
              <a:rPr lang="zh-CN" altLang="en-US"/>
              <a:t>消耗随温度变化</a:t>
            </a:r>
            <a:endParaRPr lang="en-US" altLang="zh-CN"/>
          </a:p>
          <a:p>
            <a:r>
              <a:rPr lang="zh-CN" altLang="en-US"/>
              <a:t>上图为系统加热效率 </a:t>
            </a:r>
            <a:r>
              <a:rPr lang="en-US" altLang="zh-CN"/>
              <a:t>η_sys vs </a:t>
            </a:r>
            <a:r>
              <a:rPr lang="zh-CN" altLang="en-US"/>
              <a:t>温度，下图为单位温升</a:t>
            </a:r>
            <a:r>
              <a:rPr lang="en-US" altLang="zh-CN"/>
              <a:t>SOC</a:t>
            </a:r>
            <a:r>
              <a:rPr lang="zh-CN" altLang="en-US"/>
              <a:t>消耗(</a:t>
            </a:r>
            <a:r>
              <a:rPr lang="en-US" altLang="zh-CN"/>
              <a:t>ΔSOC/ΔT) vs </a:t>
            </a:r>
            <a:r>
              <a:rPr lang="zh-CN" altLang="en-US"/>
              <a:t>温度。</a:t>
            </a:r>
            <a:endParaRPr lang="en-US" altLang="zh-CN"/>
          </a:p>
          <a:p>
            <a:r>
              <a:rPr lang="zh-CN" altLang="en-US"/>
              <a:t>读图要点：低温时电池内阻大 → 电池自身产热占比高 → 加热效率高；随温度升高内阻下降，电机铜耗占比增大，效率下降</a:t>
            </a:r>
            <a:endParaRPr lang="zh-CN" altLang="en-US"/>
          </a:p>
          <a:p>
            <a:r>
              <a:rPr lang="zh-CN" altLang="en-US"/>
              <a:t>低温时内阻大、产热功率高 → 单位温升消耗的</a:t>
            </a:r>
            <a:r>
              <a:rPr lang="en-US" altLang="zh-CN"/>
              <a:t>SOC</a:t>
            </a:r>
            <a:r>
              <a:rPr lang="zh-CN" altLang="en-US"/>
              <a:t>反而少；温度升高后加热"性价比"下降</a:t>
            </a:r>
            <a:endParaRPr lang="zh-CN" altLang="en-US"/>
          </a:p>
          <a:p>
            <a:r>
              <a:rPr lang="zh-CN" altLang="en-US"/>
              <a:t>三张图合在一起的结论：图6确定电机选型下的最优频率窗口，图7确定电池组配置的温升能力边界，图5</a:t>
            </a:r>
            <a:r>
              <a:rPr lang="en-US" altLang="zh-CN"/>
              <a:t>b</a:t>
            </a:r>
            <a:r>
              <a:rPr lang="zh-CN" altLang="en-US"/>
              <a:t>说明低温环境下脉冲加热的效率优势——温度越低加热效率越高、</a:t>
            </a:r>
            <a:r>
              <a:rPr lang="en-US" altLang="zh-CN"/>
              <a:t>SOC</a:t>
            </a:r>
            <a:r>
              <a:rPr lang="zh-CN" altLang="en-US"/>
              <a:t>消耗越经济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0" y="2564904"/>
            <a:ext cx="12192000" cy="1775292"/>
          </a:xfrm>
          <a:prstGeom prst="rect">
            <a:avLst/>
          </a:prstGeom>
        </p:spPr>
        <p:txBody>
          <a:bodyPr anchor="ctr" anchorCtr="0"/>
          <a:lstStyle>
            <a:lvl1pPr algn="ctr">
              <a:lnSpc>
                <a:spcPct val="100000"/>
              </a:lnSpc>
              <a:defRPr sz="5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76097"/>
            <a:ext cx="9921552" cy="165576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6942142"/>
            <a:ext cx="12192000" cy="614361"/>
            <a:chOff x="0" y="6942142"/>
            <a:chExt cx="12192000" cy="614361"/>
          </a:xfrm>
        </p:grpSpPr>
        <p:sp>
          <p:nvSpPr>
            <p:cNvPr id="6" name="同侧圆角矩形 3"/>
            <p:cNvSpPr/>
            <p:nvPr userDrawn="1"/>
          </p:nvSpPr>
          <p:spPr>
            <a:xfrm rot="10800000">
              <a:off x="0" y="6942142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5903385" y="7004052"/>
              <a:ext cx="1512000" cy="4683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解放蓝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21/42/140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7431809" y="7004052"/>
              <a:ext cx="1512000" cy="4683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39/150/212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10488656" y="7004052"/>
              <a:ext cx="1512000" cy="4683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辅助红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177/0/17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封面页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8960233" y="7004052"/>
              <a:ext cx="1512000" cy="468311"/>
            </a:xfrm>
            <a:prstGeom prst="rect">
              <a:avLst/>
            </a:prstGeom>
            <a:solidFill>
              <a:srgbClr val="A7A9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辅助灰</a:t>
              </a:r>
              <a:endPara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167/169/172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65" y="-14605"/>
            <a:ext cx="12230735" cy="1291590"/>
          </a:xfrm>
          <a:prstGeom prst="rect">
            <a:avLst/>
          </a:prstGeom>
        </p:spPr>
      </p:pic>
      <p:pic>
        <p:nvPicPr>
          <p:cNvPr id="16" name="图形 3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2897" y="327314"/>
            <a:ext cx="2881252" cy="63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/>
          <p:cNvSpPr/>
          <p:nvPr userDrawn="1"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19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  <p:sp>
        <p:nvSpPr>
          <p:cNvPr id="11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7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  <a:endParaRPr lang="zh-CN" altLang="en-US" dirty="0"/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477723" y="1063639"/>
            <a:ext cx="11231448" cy="468452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532091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  <a:endParaRPr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052513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accent1"/>
                </a:solidFill>
                <a:latin typeface="+mj-lt"/>
                <a:sym typeface="+mn-ea"/>
              </a:rPr>
              <a:t>二、技术可行性分析</a:t>
            </a:r>
            <a:r>
              <a:rPr lang="en-US" altLang="zh-CN" dirty="0">
                <a:solidFill>
                  <a:schemeClr val="accent1"/>
                </a:solidFill>
                <a:latin typeface="+mj-lt"/>
                <a:sym typeface="+mn-ea"/>
              </a:rPr>
              <a:t>——</a:t>
            </a:r>
            <a:r>
              <a:rPr lang="zh-CN" altLang="en-US" dirty="0">
                <a:solidFill>
                  <a:schemeClr val="accent1"/>
                </a:solidFill>
                <a:latin typeface="+mj-lt"/>
                <a:sym typeface="+mn-ea"/>
              </a:rPr>
              <a:t>脉冲加热零维</a:t>
            </a:r>
            <a:r>
              <a:rPr lang="zh-CN" altLang="en-US" dirty="0">
                <a:solidFill>
                  <a:schemeClr val="accent1"/>
                </a:solidFill>
                <a:latin typeface="+mj-lt"/>
                <a:sym typeface="+mn-ea"/>
              </a:rPr>
              <a:t>模型</a:t>
            </a:r>
            <a:endParaRPr lang="zh-CN" altLang="en-US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9425" y="908685"/>
            <a:ext cx="11242675" cy="571157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lstStyle/>
          <a:p>
            <a:pPr marL="285750" indent="-285750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>
                <a:solidFill>
                  <a:schemeClr val="accent1"/>
                </a:solidFill>
                <a:latin typeface="+mj-lt"/>
              </a:rPr>
              <a:t>复用电驱系统的电池脉冲自加热在技术原理上可行，在极低温环境中具备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  <a:sym typeface="+mn-ea"/>
              </a:rPr>
              <a:t>加热速率与效率的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</a:rPr>
              <a:t>优势：</a:t>
            </a:r>
            <a:r>
              <a:rPr lang="en-US" altLang="zh-CN" sz="1400" b="1" dirty="0">
                <a:solidFill>
                  <a:schemeClr val="accent1"/>
                </a:solidFill>
                <a:latin typeface="+mj-lt"/>
              </a:rPr>
              <a:t>&gt;0.5℃/min(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</a:rPr>
              <a:t>蓝色虚线</a:t>
            </a:r>
            <a:r>
              <a:rPr lang="en-US" altLang="zh-CN" sz="1400" b="1" dirty="0">
                <a:solidFill>
                  <a:schemeClr val="accent1"/>
                </a:solidFill>
                <a:latin typeface="+mj-lt"/>
              </a:rPr>
              <a:t>)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</a:rPr>
              <a:t>，</a:t>
            </a:r>
            <a:r>
              <a:rPr lang="en-US" altLang="zh-CN" sz="1400" b="1" dirty="0">
                <a:solidFill>
                  <a:schemeClr val="accent1"/>
                </a:solidFill>
                <a:latin typeface="+mj-lt"/>
              </a:rPr>
              <a:t>&gt;80%(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</a:rPr>
              <a:t>右图</a:t>
            </a:r>
            <a:r>
              <a:rPr lang="en-US" altLang="zh-CN" sz="1400" b="1" dirty="0">
                <a:solidFill>
                  <a:schemeClr val="accent1"/>
                </a:solidFill>
                <a:latin typeface="+mj-lt"/>
              </a:rPr>
              <a:t>)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</a:rPr>
              <a:t>。</a:t>
            </a:r>
            <a:endParaRPr lang="zh-CN" altLang="en-US" sz="1400" b="1" dirty="0">
              <a:solidFill>
                <a:schemeClr val="accent1"/>
              </a:solidFill>
              <a:latin typeface="+mj-lt"/>
            </a:endParaRPr>
          </a:p>
          <a:p>
            <a:pPr marL="285750" indent="-285750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>
                <a:solidFill>
                  <a:schemeClr val="accent1"/>
                </a:solidFill>
                <a:latin typeface="+mj-lt"/>
              </a:rPr>
              <a:t>仿真表明，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  <a:sym typeface="+mn-ea"/>
              </a:rPr>
              <a:t>电机的选型</a:t>
            </a:r>
            <a:r>
              <a:rPr lang="en-US" altLang="zh-CN" sz="1400" b="1" dirty="0">
                <a:solidFill>
                  <a:schemeClr val="accent1"/>
                </a:solidFill>
                <a:latin typeface="+mj-lt"/>
                <a:sym typeface="+mn-ea"/>
              </a:rPr>
              <a:t>(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  <a:sym typeface="+mn-ea"/>
              </a:rPr>
              <a:t>左图</a:t>
            </a:r>
            <a:r>
              <a:rPr lang="en-US" altLang="zh-CN" sz="1400" b="1" dirty="0">
                <a:solidFill>
                  <a:schemeClr val="accent1"/>
                </a:solidFill>
                <a:latin typeface="+mj-lt"/>
                <a:sym typeface="+mn-ea"/>
              </a:rPr>
              <a:t>)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</a:rPr>
              <a:t>与电池组的配置</a:t>
            </a:r>
            <a:r>
              <a:rPr lang="en-US" altLang="zh-CN" sz="1400" b="1" dirty="0">
                <a:solidFill>
                  <a:schemeClr val="accent1"/>
                </a:solidFill>
                <a:latin typeface="+mj-lt"/>
                <a:sym typeface="+mn-ea"/>
              </a:rPr>
              <a:t>(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  <a:sym typeface="+mn-ea"/>
              </a:rPr>
              <a:t>中图</a:t>
            </a:r>
            <a:r>
              <a:rPr lang="en-US" altLang="zh-CN" sz="1400" b="1" dirty="0">
                <a:solidFill>
                  <a:schemeClr val="accent1"/>
                </a:solidFill>
                <a:latin typeface="+mj-lt"/>
                <a:sym typeface="+mn-ea"/>
              </a:rPr>
              <a:t>)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</a:rPr>
              <a:t>直接决定了安全脉冲频率范围和温升速率</a:t>
            </a:r>
            <a:r>
              <a:rPr lang="zh-CN" altLang="en-US" sz="1400" b="1" dirty="0">
                <a:solidFill>
                  <a:schemeClr val="accent1"/>
                </a:solidFill>
                <a:latin typeface="+mj-lt"/>
              </a:rPr>
              <a:t>上限。</a:t>
            </a:r>
            <a:endParaRPr lang="zh-CN" altLang="en-US" sz="1400" b="1" dirty="0">
              <a:solidFill>
                <a:schemeClr val="accent1"/>
              </a:solidFill>
              <a:latin typeface="+mj-lt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endParaRPr lang="en-US" altLang="zh-CN" sz="1400" b="1" dirty="0">
              <a:solidFill>
                <a:schemeClr val="accent1"/>
              </a:solidFill>
              <a:latin typeface="+mj-lt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endParaRPr lang="en-US" altLang="zh-CN" sz="1400" b="1" dirty="0">
              <a:solidFill>
                <a:schemeClr val="accent1"/>
              </a:solidFill>
              <a:latin typeface="+mj-lt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3863340" y="1699260"/>
            <a:ext cx="0" cy="478599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7596505" y="1699260"/>
            <a:ext cx="0" cy="478599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 descr="Figure_6_263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80" y="1556703"/>
            <a:ext cx="3336206" cy="2520000"/>
          </a:xfrm>
          <a:prstGeom prst="rect">
            <a:avLst/>
          </a:prstGeom>
        </p:spPr>
      </p:pic>
      <p:pic>
        <p:nvPicPr>
          <p:cNvPr id="4" name="图片 3" descr="Figure_6_253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4185920"/>
            <a:ext cx="3336206" cy="2520000"/>
          </a:xfrm>
          <a:prstGeom prst="rect">
            <a:avLst/>
          </a:prstGeom>
        </p:spPr>
      </p:pic>
      <p:pic>
        <p:nvPicPr>
          <p:cNvPr id="5" name="图片 4" descr="Figure_7_253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5110" y="4185920"/>
            <a:ext cx="3314308" cy="2520000"/>
          </a:xfrm>
          <a:prstGeom prst="rect">
            <a:avLst/>
          </a:prstGeom>
        </p:spPr>
      </p:pic>
      <p:pic>
        <p:nvPicPr>
          <p:cNvPr id="8" name="图片 7" descr="Figure_7_263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5110" y="1556703"/>
            <a:ext cx="3314308" cy="2520000"/>
          </a:xfrm>
          <a:prstGeom prst="rect">
            <a:avLst/>
          </a:prstGeom>
        </p:spPr>
      </p:pic>
      <p:pic>
        <p:nvPicPr>
          <p:cNvPr id="19" name="图片 18" descr="Figure_55_SOC_T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2715" y="1628775"/>
            <a:ext cx="4123690" cy="4523740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2622550" y="4371340"/>
            <a:ext cx="497840" cy="16319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 b="1"/>
              <a:t>-20℃</a:t>
            </a:r>
            <a:endParaRPr lang="en-US" altLang="zh-CN" sz="900" b="1"/>
          </a:p>
        </p:txBody>
      </p:sp>
      <p:sp>
        <p:nvSpPr>
          <p:cNvPr id="15" name="矩形 14"/>
          <p:cNvSpPr/>
          <p:nvPr/>
        </p:nvSpPr>
        <p:spPr>
          <a:xfrm>
            <a:off x="2639695" y="1751965"/>
            <a:ext cx="497840" cy="16319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 b="1"/>
              <a:t>-10℃</a:t>
            </a:r>
            <a:endParaRPr lang="en-US" altLang="zh-CN" sz="900" b="1"/>
          </a:p>
        </p:txBody>
      </p:sp>
      <p:sp>
        <p:nvSpPr>
          <p:cNvPr id="16" name="矩形 15"/>
          <p:cNvSpPr/>
          <p:nvPr/>
        </p:nvSpPr>
        <p:spPr>
          <a:xfrm>
            <a:off x="6384290" y="1751965"/>
            <a:ext cx="497840" cy="16319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 b="1"/>
              <a:t>-10℃</a:t>
            </a:r>
            <a:endParaRPr lang="en-US" altLang="zh-CN" sz="900" b="1"/>
          </a:p>
        </p:txBody>
      </p:sp>
      <p:sp>
        <p:nvSpPr>
          <p:cNvPr id="18" name="矩形 17"/>
          <p:cNvSpPr/>
          <p:nvPr/>
        </p:nvSpPr>
        <p:spPr>
          <a:xfrm>
            <a:off x="6384290" y="4371340"/>
            <a:ext cx="497840" cy="163195"/>
          </a:xfrm>
          <a:prstGeom prst="rect">
            <a:avLst/>
          </a:prstGeom>
        </p:spPr>
        <p:style>
          <a:lnRef idx="0">
            <a:srgbClr val="FFFFFF"/>
          </a:lnRef>
          <a:fillRef idx="3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900" b="1"/>
              <a:t>-20℃</a:t>
            </a:r>
            <a:endParaRPr lang="en-US" altLang="zh-CN" sz="9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lang="zh-CN" altLang="en-US"/>
              <a:t>说明：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477723" y="980123"/>
            <a:ext cx="11233150" cy="1176830"/>
          </a:xfrm>
        </p:spPr>
        <p:txBody>
          <a:bodyPr/>
          <a:p>
            <a:pPr marL="0" indent="0" algn="l">
              <a:buNone/>
            </a:pPr>
            <a:r>
              <a:rPr lang="zh-CN" altLang="en-US" sz="1200">
                <a:sym typeface="+mn-ea"/>
              </a:rPr>
              <a:t>图</a:t>
            </a:r>
            <a:r>
              <a:rPr lang="en-US" altLang="zh-CN" sz="1200">
                <a:sym typeface="+mn-ea"/>
              </a:rPr>
              <a:t>6</a:t>
            </a:r>
            <a:r>
              <a:rPr lang="zh-CN" altLang="en-US" sz="1200">
                <a:sym typeface="+mn-ea"/>
              </a:rPr>
              <a:t>和图</a:t>
            </a:r>
            <a:r>
              <a:rPr lang="en-US" altLang="zh-CN" sz="1200">
                <a:sym typeface="+mn-ea"/>
              </a:rPr>
              <a:t>7</a:t>
            </a:r>
            <a:r>
              <a:rPr lang="zh-CN" altLang="en-US" sz="1200">
                <a:sym typeface="+mn-ea"/>
              </a:rPr>
              <a:t>是对电机和电池组的控制变量研究，图</a:t>
            </a:r>
            <a:r>
              <a:rPr lang="en-US" altLang="zh-CN" sz="1200">
                <a:sym typeface="+mn-ea"/>
              </a:rPr>
              <a:t>6</a:t>
            </a:r>
            <a:r>
              <a:rPr lang="zh-CN" altLang="en-US" sz="1200">
                <a:sym typeface="+mn-ea"/>
              </a:rPr>
              <a:t>控制电池组参数一定，图</a:t>
            </a:r>
            <a:r>
              <a:rPr lang="en-US" altLang="zh-CN" sz="1200">
                <a:sym typeface="+mn-ea"/>
              </a:rPr>
              <a:t>7</a:t>
            </a:r>
            <a:r>
              <a:rPr lang="zh-CN" altLang="en-US" sz="1200">
                <a:sym typeface="+mn-ea"/>
              </a:rPr>
              <a:t>控制</a:t>
            </a:r>
            <a:r>
              <a:rPr lang="zh-CN" altLang="en-US" sz="1200">
                <a:sym typeface="+mn-ea"/>
              </a:rPr>
              <a:t>电机参数</a:t>
            </a:r>
            <a:r>
              <a:rPr lang="zh-CN" altLang="en-US" sz="1200">
                <a:sym typeface="+mn-ea"/>
              </a:rPr>
              <a:t>一定。</a:t>
            </a:r>
            <a:br>
              <a:rPr lang="zh-CN" altLang="en-US" sz="1200">
                <a:sym typeface="+mn-ea"/>
              </a:rPr>
            </a:br>
            <a:r>
              <a:rPr lang="zh-CN" altLang="en-US" sz="1200">
                <a:sym typeface="+mn-ea"/>
              </a:rPr>
              <a:t>图6：电机参数空间可行性边界图</a:t>
            </a:r>
            <a:endParaRPr lang="en-US" altLang="zh-CN" sz="1200"/>
          </a:p>
          <a:p>
            <a:pPr marL="0" indent="0">
              <a:buNone/>
            </a:pPr>
            <a:r>
              <a:rPr lang="zh-CN" altLang="en-US" sz="1200">
                <a:sym typeface="+mn-ea"/>
              </a:rPr>
              <a:t>横轴频率(1~3000</a:t>
            </a:r>
            <a:r>
              <a:rPr lang="en-US" altLang="zh-CN" sz="1200">
                <a:sym typeface="+mn-ea"/>
              </a:rPr>
              <a:t>Hz)、</a:t>
            </a:r>
            <a:r>
              <a:rPr lang="zh-CN" altLang="en-US" sz="1200">
                <a:sym typeface="+mn-ea"/>
              </a:rPr>
              <a:t>纵轴电感(0.05~0.25</a:t>
            </a:r>
            <a:r>
              <a:rPr lang="en-US" altLang="zh-CN" sz="1200">
                <a:sym typeface="+mn-ea"/>
              </a:rPr>
              <a:t>mH)，</a:t>
            </a:r>
            <a:r>
              <a:rPr lang="zh-CN" altLang="en-US" sz="1200">
                <a:sym typeface="+mn-ea"/>
              </a:rPr>
              <a:t>背景色为初始温升速率(°</a:t>
            </a:r>
            <a:r>
              <a:rPr lang="en-US" altLang="zh-CN" sz="1200">
                <a:sym typeface="+mn-ea"/>
              </a:rPr>
              <a:t>C/min)。</a:t>
            </a:r>
            <a:r>
              <a:rPr lang="zh-CN" altLang="en-US" sz="1200">
                <a:sym typeface="+mn-ea"/>
              </a:rPr>
              <a:t>图中包含：</a:t>
            </a:r>
            <a:endParaRPr lang="en-US" altLang="zh-CN" sz="1200"/>
          </a:p>
          <a:p>
            <a:pPr marL="0" indent="0">
              <a:buNone/>
            </a:pPr>
            <a:r>
              <a:rPr lang="zh-CN" altLang="en-US" sz="1200">
                <a:sym typeface="+mn-ea"/>
              </a:rPr>
              <a:t>红线：器件电流限制（峰值电流=额定上限），红线以上区域电流超限不可用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>
                <a:sym typeface="+mn-ea"/>
              </a:rPr>
              <a:t>品红线：析锂安全边界（峰值电流=析锂限值），品红线以上区域有析锂风险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>
                <a:sym typeface="+mn-ea"/>
              </a:rPr>
              <a:t>绿/青虚线：1°</a:t>
            </a:r>
            <a:r>
              <a:rPr lang="en-US" altLang="zh-CN" sz="1200">
                <a:sym typeface="+mn-ea"/>
              </a:rPr>
              <a:t>C/min </a:t>
            </a:r>
            <a:r>
              <a:rPr lang="zh-CN" altLang="en-US" sz="1200">
                <a:sym typeface="+mn-ea"/>
              </a:rPr>
              <a:t>和 0.5°</a:t>
            </a:r>
            <a:r>
              <a:rPr lang="en-US" altLang="zh-CN" sz="1200">
                <a:sym typeface="+mn-ea"/>
              </a:rPr>
              <a:t>C/min </a:t>
            </a:r>
            <a:r>
              <a:rPr lang="zh-CN" altLang="en-US" sz="1200">
                <a:sym typeface="+mn-ea"/>
              </a:rPr>
              <a:t>温升目标等值线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>
                <a:sym typeface="+mn-ea"/>
              </a:rPr>
              <a:t>白色水平线：当前盘毂电机 </a:t>
            </a:r>
            <a:r>
              <a:rPr lang="en-US" altLang="zh-CN" sz="1200">
                <a:sym typeface="+mn-ea"/>
              </a:rPr>
              <a:t>L_d=0.12mH，</a:t>
            </a:r>
            <a:r>
              <a:rPr lang="zh-CN" altLang="en-US" sz="1200">
                <a:sym typeface="+mn-ea"/>
              </a:rPr>
              <a:t>表示在该电感下可调频率的工作范围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>
                <a:sym typeface="+mn-ea"/>
              </a:rPr>
              <a:t>读图要点：沿白色电感线水平看，左侧低频温升快但受析锂/电流限制约束，右侧高频安全但温升速率下降。最优工作频率在两条限制线之间、温升速率尽可能高的区域。</a:t>
            </a:r>
            <a:endParaRPr lang="en-US" altLang="zh-CN" sz="1200"/>
          </a:p>
          <a:p>
            <a:pPr marL="0" indent="0">
              <a:buNone/>
            </a:pPr>
            <a:r>
              <a:rPr lang="zh-CN" altLang="en-US" sz="1200">
                <a:sym typeface="+mn-ea"/>
              </a:rPr>
              <a:t>图7：电池组配置对温升速率的影响</a:t>
            </a:r>
            <a:endParaRPr lang="en-US" altLang="zh-CN" sz="1200"/>
          </a:p>
          <a:p>
            <a:pPr marL="0" indent="0">
              <a:buNone/>
            </a:pPr>
            <a:r>
              <a:rPr lang="zh-CN" altLang="en-US" sz="1200">
                <a:sym typeface="+mn-ea"/>
              </a:rPr>
              <a:t>横轴</a:t>
            </a:r>
            <a:r>
              <a:rPr lang="en-US" altLang="zh-CN" sz="1200">
                <a:sym typeface="+mn-ea"/>
              </a:rPr>
              <a:t>Pack</a:t>
            </a:r>
            <a:r>
              <a:rPr lang="zh-CN" altLang="en-US" sz="1200">
                <a:sym typeface="+mn-ea"/>
              </a:rPr>
              <a:t>额定电压(350~750</a:t>
            </a:r>
            <a:r>
              <a:rPr lang="en-US" altLang="zh-CN" sz="1200">
                <a:sym typeface="+mn-ea"/>
              </a:rPr>
              <a:t>V)、</a:t>
            </a:r>
            <a:r>
              <a:rPr lang="zh-CN" altLang="en-US" sz="1200">
                <a:sym typeface="+mn-ea"/>
              </a:rPr>
              <a:t>纵轴</a:t>
            </a:r>
            <a:r>
              <a:rPr lang="en-US" altLang="zh-CN" sz="1200">
                <a:sym typeface="+mn-ea"/>
              </a:rPr>
              <a:t>Pack</a:t>
            </a:r>
            <a:r>
              <a:rPr lang="zh-CN" altLang="en-US" sz="1200">
                <a:sym typeface="+mn-ea"/>
              </a:rPr>
              <a:t>总能量(80~500</a:t>
            </a:r>
            <a:r>
              <a:rPr lang="en-US" altLang="zh-CN" sz="1200">
                <a:sym typeface="+mn-ea"/>
              </a:rPr>
              <a:t>kWh)，</a:t>
            </a:r>
            <a:r>
              <a:rPr lang="zh-CN" altLang="en-US" sz="1200">
                <a:sym typeface="+mn-ea"/>
              </a:rPr>
              <a:t>背景色为初始温升速率。图中包含：</a:t>
            </a:r>
            <a:endParaRPr lang="en-US" altLang="zh-CN" sz="1200"/>
          </a:p>
          <a:p>
            <a:pPr marL="0" indent="0">
              <a:buNone/>
            </a:pPr>
            <a:r>
              <a:rPr lang="zh-CN" altLang="en-US" sz="1200">
                <a:sym typeface="+mn-ea"/>
              </a:rPr>
              <a:t>红线：器件电流限制边界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>
                <a:sym typeface="+mn-ea"/>
              </a:rPr>
              <a:t>品红线：析锂限制边界（并联数少时单芯电流大，析锂风险高）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>
                <a:sym typeface="+mn-ea"/>
              </a:rPr>
              <a:t>绿/青虚线：温升目标等值线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>
                <a:sym typeface="+mn-ea"/>
              </a:rPr>
              <a:t>白色星号+参考线：当前配置（</a:t>
            </a:r>
            <a:r>
              <a:rPr lang="en-US" altLang="zh-CN" sz="1200">
                <a:sym typeface="+mn-ea"/>
              </a:rPr>
              <a:t>390V / 328</a:t>
            </a:r>
            <a:r>
              <a:rPr lang="en-US" altLang="zh-CN" sz="1200">
                <a:sym typeface="+mn-ea"/>
              </a:rPr>
              <a:t>kWh, 122S3P</a:t>
            </a:r>
            <a:r>
              <a:rPr lang="zh-CN" altLang="en-US" sz="1200">
                <a:sym typeface="+mn-ea"/>
              </a:rPr>
              <a:t>，</a:t>
            </a:r>
            <a:r>
              <a:rPr lang="en-US" altLang="zh-CN" sz="1200">
                <a:sym typeface="+mn-ea"/>
              </a:rPr>
              <a:t>280A</a:t>
            </a:r>
            <a:r>
              <a:rPr lang="en-US" altLang="zh-CN" sz="1200">
                <a:sym typeface="+mn-ea"/>
              </a:rPr>
              <a:t>h）</a:t>
            </a:r>
            <a:endParaRPr lang="en-US" altLang="zh-CN" sz="1200"/>
          </a:p>
          <a:p>
            <a:pPr marL="0" indent="0">
              <a:buNone/>
            </a:pPr>
            <a:r>
              <a:rPr lang="zh-CN" altLang="en-US" sz="1200">
                <a:sym typeface="+mn-ea"/>
              </a:rPr>
              <a:t>读图要点：高电压+低能量（左下区域）温升快但受电流/析锂约束；低电压+高能量（右上区域）安全但温升慢。电压平台主要决定驱动能力，能量（并联数）主要决定热容和析锂裕度。</a:t>
            </a:r>
            <a:endParaRPr lang="en-US" altLang="zh-CN" sz="1200"/>
          </a:p>
          <a:p>
            <a:pPr marL="0" indent="0">
              <a:buNone/>
            </a:pPr>
            <a:r>
              <a:rPr lang="zh-CN" altLang="en-US" sz="1200">
                <a:sym typeface="+mn-ea"/>
              </a:rPr>
              <a:t>图5</a:t>
            </a:r>
            <a:r>
              <a:rPr lang="en-US" altLang="zh-CN" sz="1200">
                <a:sym typeface="+mn-ea"/>
              </a:rPr>
              <a:t>b：</a:t>
            </a:r>
            <a:r>
              <a:rPr lang="zh-CN" altLang="en-US" sz="1200">
                <a:sym typeface="+mn-ea"/>
              </a:rPr>
              <a:t>加热效率与</a:t>
            </a:r>
            <a:r>
              <a:rPr lang="en-US" altLang="zh-CN" sz="1200">
                <a:sym typeface="+mn-ea"/>
              </a:rPr>
              <a:t>SOC</a:t>
            </a:r>
            <a:r>
              <a:rPr lang="zh-CN" altLang="en-US" sz="1200">
                <a:sym typeface="+mn-ea"/>
              </a:rPr>
              <a:t>消耗随温度变化</a:t>
            </a:r>
            <a:endParaRPr lang="en-US" altLang="zh-CN" sz="1200"/>
          </a:p>
          <a:p>
            <a:pPr marL="0" indent="0">
              <a:buNone/>
            </a:pPr>
            <a:r>
              <a:rPr lang="zh-CN" altLang="en-US" sz="1200">
                <a:sym typeface="+mn-ea"/>
              </a:rPr>
              <a:t>上图为系统加热效率 </a:t>
            </a:r>
            <a:r>
              <a:rPr lang="en-US" altLang="zh-CN" sz="1200">
                <a:sym typeface="+mn-ea"/>
              </a:rPr>
              <a:t>η_sys vs </a:t>
            </a:r>
            <a:r>
              <a:rPr lang="zh-CN" altLang="en-US" sz="1200">
                <a:sym typeface="+mn-ea"/>
              </a:rPr>
              <a:t>温度，下图为单位温升</a:t>
            </a:r>
            <a:r>
              <a:rPr lang="en-US" altLang="zh-CN" sz="1200">
                <a:sym typeface="+mn-ea"/>
              </a:rPr>
              <a:t>SOC</a:t>
            </a:r>
            <a:r>
              <a:rPr lang="zh-CN" altLang="en-US" sz="1200">
                <a:sym typeface="+mn-ea"/>
              </a:rPr>
              <a:t>消耗(</a:t>
            </a:r>
            <a:r>
              <a:rPr lang="en-US" altLang="zh-CN" sz="1200">
                <a:sym typeface="+mn-ea"/>
              </a:rPr>
              <a:t>ΔSOC/ΔT) vs </a:t>
            </a:r>
            <a:r>
              <a:rPr lang="zh-CN" altLang="en-US" sz="1200">
                <a:sym typeface="+mn-ea"/>
              </a:rPr>
              <a:t>温度。</a:t>
            </a:r>
            <a:endParaRPr lang="en-US" altLang="zh-CN" sz="1200"/>
          </a:p>
          <a:p>
            <a:pPr marL="0" indent="0">
              <a:buNone/>
            </a:pPr>
            <a:r>
              <a:rPr lang="zh-CN" altLang="en-US" sz="1200">
                <a:sym typeface="+mn-ea"/>
              </a:rPr>
              <a:t>读图要点：低温时电池内阻大 → 电池自身产热占比高 → 加热效率高；随温度升高内阻下降，电机铜耗占比增大，效率下降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>
                <a:sym typeface="+mn-ea"/>
              </a:rPr>
              <a:t>低温时内阻大、产热功率高 → 单位温升消耗的</a:t>
            </a:r>
            <a:r>
              <a:rPr lang="en-US" altLang="zh-CN" sz="1200">
                <a:sym typeface="+mn-ea"/>
              </a:rPr>
              <a:t>SOC</a:t>
            </a:r>
            <a:r>
              <a:rPr lang="zh-CN" altLang="en-US" sz="1200">
                <a:sym typeface="+mn-ea"/>
              </a:rPr>
              <a:t>反而少；温度升高后加热"性价比"下降</a:t>
            </a:r>
            <a:endParaRPr lang="zh-CN" altLang="en-US" sz="1200"/>
          </a:p>
          <a:p>
            <a:pPr marL="0" indent="0">
              <a:buNone/>
            </a:pPr>
            <a:r>
              <a:rPr lang="zh-CN" altLang="en-US" sz="1200">
                <a:sym typeface="+mn-ea"/>
              </a:rPr>
              <a:t>三张图合在一起的结论：图6确定电机选型下的最优频率窗口，图7确定电池组配置的温升能力边界，图5</a:t>
            </a:r>
            <a:r>
              <a:rPr lang="en-US" altLang="zh-CN" sz="1200">
                <a:sym typeface="+mn-ea"/>
              </a:rPr>
              <a:t>b</a:t>
            </a:r>
            <a:r>
              <a:rPr lang="zh-CN" altLang="en-US" sz="1200">
                <a:sym typeface="+mn-ea"/>
              </a:rPr>
              <a:t>说明低温环境下脉冲加热的效率优势——温度越低加热效率越高、</a:t>
            </a:r>
            <a:r>
              <a:rPr lang="en-US" altLang="zh-CN" sz="1200">
                <a:sym typeface="+mn-ea"/>
              </a:rPr>
              <a:t>SOC</a:t>
            </a:r>
            <a:r>
              <a:rPr lang="zh-CN" altLang="en-US" sz="1200">
                <a:sym typeface="+mn-ea"/>
              </a:rPr>
              <a:t>消耗越经济</a:t>
            </a:r>
            <a:endParaRPr lang="zh-CN" alt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VI标准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152A8C"/>
      </a:accent1>
      <a:accent2>
        <a:srgbClr val="2796D4"/>
      </a:accent2>
      <a:accent3>
        <a:srgbClr val="EDEDED"/>
      </a:accent3>
      <a:accent4>
        <a:srgbClr val="B10011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默认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36000" tIns="36000" rIns="36000" bIns="36000" rtlCol="0">
        <a:noAutofit/>
      </a:bodyPr>
      <a:lstStyle>
        <a:defPPr algn="l">
          <a:spcBef>
            <a:spcPts val="600"/>
          </a:spcBef>
          <a:defRPr dirty="0" err="1" smtClean="0">
            <a:solidFill>
              <a:srgbClr val="003B90"/>
            </a:solidFill>
            <a:latin typeface="+mj-lt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990</Words>
  <Application>WPS 演示</Application>
  <PresentationFormat>宽屏</PresentationFormat>
  <Paragraphs>38</Paragraphs>
  <Slides>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Wingdings</vt:lpstr>
      <vt:lpstr>Arial Unicode MS</vt:lpstr>
      <vt:lpstr>等线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一汽解放PPT模板</dc:title>
  <dc:creator>一汽解放</dc:creator>
  <cp:lastModifiedBy>WPS_1632448344</cp:lastModifiedBy>
  <cp:revision>990</cp:revision>
  <cp:lastPrinted>2023-05-19T05:02:00Z</cp:lastPrinted>
  <dcterms:created xsi:type="dcterms:W3CDTF">2015-12-28T03:19:00Z</dcterms:created>
  <dcterms:modified xsi:type="dcterms:W3CDTF">2026-05-09T06:11:48Z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BD4BD74D07494004974F27AABDF40CFE_13</vt:lpwstr>
  </property>
  <property fmtid="{D5CDD505-2E9C-101B-9397-08002B2CF9AE}" pid="3" name="KSOProductBuildVer">
    <vt:lpwstr>2052-12.1.0.25865</vt:lpwstr>
  </property>
</Properties>
</file>
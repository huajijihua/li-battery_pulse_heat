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7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47388-01D7-4DD8-BEA3-015CDEAA42B7}" type="datetimeFigureOut">
              <a:rPr lang="zh-CN" altLang="en-US" smtClean="0"/>
              <a:t>2026-06-10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2F394-EE95-4C25-A5B2-53E8F694F1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354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41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5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23924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63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827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853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</a:rPr>
              <a:t>壳牌桩端脉冲加热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技术方案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79425" y="908685"/>
            <a:ext cx="11242675" cy="5711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壳牌认为桩端脉冲应用于双包、三包并联商用车架构从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原理上具备可行性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，但尚未实际验证。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p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商用车应用需要评估公共母线分流、各包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SOC/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温度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内阻差异、温升一致性、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BMS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多包状态交互等机制。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EA19955C-D0E8-4FFA-8129-942DF2205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38067"/>
              </p:ext>
            </p:extLst>
          </p:nvPr>
        </p:nvGraphicFramePr>
        <p:xfrm>
          <a:off x="474663" y="1574567"/>
          <a:ext cx="6684685" cy="2422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276">
                  <a:extLst>
                    <a:ext uri="{9D8B030D-6E8A-4147-A177-3AD203B41FA5}">
                      <a16:colId xmlns:a16="http://schemas.microsoft.com/office/drawing/2014/main" val="4090432890"/>
                    </a:ext>
                  </a:extLst>
                </a:gridCol>
                <a:gridCol w="5244409">
                  <a:extLst>
                    <a:ext uri="{9D8B030D-6E8A-4147-A177-3AD203B41FA5}">
                      <a16:colId xmlns:a16="http://schemas.microsoft.com/office/drawing/2014/main" val="3684664529"/>
                    </a:ext>
                  </a:extLst>
                </a:gridCol>
              </a:tblGrid>
              <a:tr h="2942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项目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壳牌桩端脉冲方案（一汽红旗</a:t>
                      </a:r>
                      <a:r>
                        <a:rPr lang="en-US" altLang="zh-CN" sz="1400" dirty="0"/>
                        <a:t>EQM5</a:t>
                      </a:r>
                      <a:r>
                        <a:rPr lang="zh-CN" altLang="en-US" sz="1400" dirty="0"/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417896"/>
                  </a:ext>
                </a:extLst>
              </a:tr>
              <a:tr h="3071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单机峰值功率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/>
                        <a:t>壳牌充电桩样机最高输出功率</a:t>
                      </a:r>
                      <a:r>
                        <a:rPr lang="en-US" altLang="zh-CN" sz="1100" dirty="0"/>
                        <a:t>360kW</a:t>
                      </a:r>
                      <a:r>
                        <a:rPr lang="zh-CN" altLang="en-US" sz="1100" dirty="0"/>
                        <a:t>（</a:t>
                      </a:r>
                      <a:r>
                        <a:rPr lang="en-US" altLang="zh-CN" sz="1100" dirty="0"/>
                        <a:t>2022</a:t>
                      </a:r>
                      <a:r>
                        <a:rPr lang="zh-CN" altLang="en-US" sz="1100" dirty="0"/>
                        <a:t>年技术文档）</a:t>
                      </a: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941724"/>
                  </a:ext>
                </a:extLst>
              </a:tr>
              <a:tr h="2648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脉冲频率</a:t>
                      </a:r>
                      <a:r>
                        <a:rPr lang="en-US" altLang="zh-CN" sz="1200" dirty="0"/>
                        <a:t>/</a:t>
                      </a:r>
                      <a:r>
                        <a:rPr lang="zh-CN" altLang="en-US" sz="1200" dirty="0"/>
                        <a:t>波形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b="1" dirty="0">
                          <a:solidFill>
                            <a:srgbClr val="FF0000"/>
                          </a:solidFill>
                        </a:rPr>
                        <a:t>50-100Hz</a:t>
                      </a:r>
                      <a:r>
                        <a:rPr lang="zh-CN" altLang="en-US" sz="1100" dirty="0"/>
                        <a:t>周期性波形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285330"/>
                  </a:ext>
                </a:extLst>
              </a:tr>
              <a:tr h="3473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加热速率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/>
                        <a:t>平均温升速率约</a:t>
                      </a:r>
                      <a:r>
                        <a:rPr lang="en-US" altLang="zh-CN" sz="1100" dirty="0"/>
                        <a:t>2.6℃/min</a:t>
                      </a:r>
                      <a:r>
                        <a:rPr lang="zh-CN" altLang="en-US" sz="1100" dirty="0"/>
                        <a:t>（红旗</a:t>
                      </a:r>
                      <a:r>
                        <a:rPr lang="en-US" altLang="zh-CN" sz="1100" dirty="0"/>
                        <a:t>EQM5</a:t>
                      </a:r>
                      <a:r>
                        <a:rPr lang="zh-CN" altLang="en-US" sz="1100" dirty="0"/>
                        <a:t>）</a:t>
                      </a:r>
                      <a:endParaRPr lang="en-US" altLang="zh-CN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159740"/>
                  </a:ext>
                </a:extLst>
              </a:tr>
              <a:tr h="5737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优势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100" dirty="0"/>
                        <a:t>主要改动在桩端和</a:t>
                      </a:r>
                      <a:r>
                        <a:rPr lang="en-US" altLang="zh-CN" sz="1100" dirty="0"/>
                        <a:t>BMS</a:t>
                      </a:r>
                      <a:r>
                        <a:rPr lang="zh-CN" altLang="en-US" sz="1100" dirty="0"/>
                        <a:t>参数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通信，车端硬件原则上不需要明显调整。</a:t>
                      </a:r>
                      <a:endParaRPr lang="en-US" altLang="zh-CN" sz="1100" dirty="0"/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100" dirty="0"/>
                        <a:t>壳牌未发现脉冲加热对</a:t>
                      </a:r>
                      <a:r>
                        <a:rPr lang="en-US" altLang="zh-CN" sz="1100" dirty="0"/>
                        <a:t>SOH</a:t>
                      </a:r>
                      <a:r>
                        <a:rPr lang="zh-CN" altLang="en-US" sz="1100" dirty="0"/>
                        <a:t>有明显影响。</a:t>
                      </a:r>
                      <a:endParaRPr lang="en-US" altLang="zh-CN" sz="1100" dirty="0"/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ü"/>
                      </a:pPr>
                      <a:r>
                        <a:rPr lang="zh-CN" altLang="en-US" sz="1100" dirty="0"/>
                        <a:t>一套桩可支持多车型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多电池包。</a:t>
                      </a:r>
                      <a:endParaRPr lang="zh-CN" alt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953755"/>
                  </a:ext>
                </a:extLst>
              </a:tr>
              <a:tr h="5737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/>
                        <a:t>劣势</a:t>
                      </a:r>
                      <a:endParaRPr lang="en-US" altLang="zh-C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Wingdings" panose="05000000000000000000" pitchFamily="2" charset="2"/>
                        <a:buChar char="p"/>
                      </a:pPr>
                      <a:r>
                        <a:rPr lang="zh-CN" altLang="en-US" sz="1100" dirty="0"/>
                        <a:t>桩端需配置双向</a:t>
                      </a:r>
                      <a:r>
                        <a:rPr lang="en-US" altLang="zh-CN" sz="1100" dirty="0"/>
                        <a:t>DCDC</a:t>
                      </a:r>
                      <a:r>
                        <a:rPr lang="zh-CN" altLang="en-US" sz="1100" dirty="0"/>
                        <a:t>功率模块、储能模块和专用控制策略，成本增加。</a:t>
                      </a:r>
                      <a:endParaRPr lang="en-US" altLang="zh-CN" sz="1100" dirty="0"/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p"/>
                      </a:pPr>
                      <a:r>
                        <a:rPr lang="zh-CN" altLang="en-US" sz="1100" dirty="0"/>
                        <a:t>不同车型</a:t>
                      </a:r>
                      <a:r>
                        <a:rPr lang="en-US" altLang="zh-CN" sz="1100" dirty="0"/>
                        <a:t>/</a:t>
                      </a:r>
                      <a:r>
                        <a:rPr lang="zh-CN" altLang="en-US" sz="1100" dirty="0"/>
                        <a:t>电池包需分别开发</a:t>
                      </a:r>
                      <a:r>
                        <a:rPr lang="en-US" altLang="zh-CN" sz="1100" dirty="0"/>
                        <a:t>MAP</a:t>
                      </a:r>
                      <a:r>
                        <a:rPr lang="zh-CN" altLang="en-US" sz="1100" dirty="0"/>
                        <a:t>。</a:t>
                      </a:r>
                      <a:endParaRPr lang="en-US" altLang="zh-CN" sz="1100" dirty="0"/>
                    </a:p>
                    <a:p>
                      <a:pPr marL="171450" indent="-171450" algn="l">
                        <a:buFont typeface="Wingdings" panose="05000000000000000000" pitchFamily="2" charset="2"/>
                        <a:buChar char="p"/>
                      </a:pPr>
                      <a:r>
                        <a:rPr lang="zh-CN" altLang="en-US" sz="1100" dirty="0"/>
                        <a:t>高频路线工程难度大。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199824"/>
                  </a:ext>
                </a:extLst>
              </a:tr>
            </a:tbl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047D0AF3-7B29-9CE4-0372-D56798006ACF}"/>
              </a:ext>
            </a:extLst>
          </p:cNvPr>
          <p:cNvGrpSpPr/>
          <p:nvPr/>
        </p:nvGrpSpPr>
        <p:grpSpPr>
          <a:xfrm>
            <a:off x="7212634" y="1574566"/>
            <a:ext cx="4678153" cy="5001428"/>
            <a:chOff x="7212634" y="1574566"/>
            <a:chExt cx="4678153" cy="5001428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BA9872E3-9B3F-DC3E-F7EC-D2C74B4364A8}"/>
                </a:ext>
              </a:extLst>
            </p:cNvPr>
            <p:cNvGrpSpPr/>
            <p:nvPr/>
          </p:nvGrpSpPr>
          <p:grpSpPr>
            <a:xfrm>
              <a:off x="7646504" y="1574566"/>
              <a:ext cx="3816074" cy="5001428"/>
              <a:chOff x="7275443" y="1574567"/>
              <a:chExt cx="3816074" cy="5001428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5122D58-5559-AF4F-BA00-17295B938F4C}"/>
                  </a:ext>
                </a:extLst>
              </p:cNvPr>
              <p:cNvSpPr/>
              <p:nvPr/>
            </p:nvSpPr>
            <p:spPr>
              <a:xfrm>
                <a:off x="7275443" y="1574567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动力电池与充电装置建立物理连接</a:t>
                </a: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E582D08F-CE28-64C2-21B1-0497D2AC226D}"/>
                  </a:ext>
                </a:extLst>
              </p:cNvPr>
              <p:cNvSpPr/>
              <p:nvPr/>
            </p:nvSpPr>
            <p:spPr>
              <a:xfrm>
                <a:off x="7275443" y="1960974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/>
                  <a:t>低压辅助电源上电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7170D5A-967C-CD1F-F116-182601A8C81E}"/>
                  </a:ext>
                </a:extLst>
              </p:cNvPr>
              <p:cNvSpPr/>
              <p:nvPr/>
            </p:nvSpPr>
            <p:spPr>
              <a:xfrm>
                <a:off x="7275443" y="2347381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充电握手</a:t>
                </a:r>
              </a:p>
            </p:txBody>
          </p:sp>
          <p:sp>
            <p:nvSpPr>
              <p:cNvPr id="9" name="菱形 8">
                <a:extLst>
                  <a:ext uri="{FF2B5EF4-FFF2-40B4-BE49-F238E27FC236}">
                    <a16:creationId xmlns:a16="http://schemas.microsoft.com/office/drawing/2014/main" id="{BB6D3178-C492-0EF2-317F-4A05F93F916D}"/>
                  </a:ext>
                </a:extLst>
              </p:cNvPr>
              <p:cNvSpPr/>
              <p:nvPr/>
            </p:nvSpPr>
            <p:spPr>
              <a:xfrm>
                <a:off x="7275443" y="2733788"/>
                <a:ext cx="3803374" cy="296135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BMS</a:t>
                </a:r>
                <a:r>
                  <a:rPr lang="zh-CN" altLang="en-US" sz="1200" dirty="0"/>
                  <a:t>判断</a:t>
                </a:r>
                <a:r>
                  <a:rPr lang="en-US" altLang="zh-CN" sz="1200" dirty="0"/>
                  <a:t>T&lt;T0</a:t>
                </a:r>
                <a:endParaRPr lang="zh-CN" altLang="en-US" sz="1200" dirty="0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35FE514-FD2D-D214-D760-941ED5B97C70}"/>
                  </a:ext>
                </a:extLst>
              </p:cNvPr>
              <p:cNvSpPr/>
              <p:nvPr/>
            </p:nvSpPr>
            <p:spPr>
              <a:xfrm>
                <a:off x="7275443" y="3188600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BMS</a:t>
                </a:r>
                <a:r>
                  <a:rPr lang="zh-CN" altLang="en-US" sz="1200" dirty="0"/>
                  <a:t>确定脉冲电流的最大幅值和频率</a:t>
                </a: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22DC0FD5-8B8F-97F7-619D-16CCBE556C45}"/>
                  </a:ext>
                </a:extLst>
              </p:cNvPr>
              <p:cNvSpPr/>
              <p:nvPr/>
            </p:nvSpPr>
            <p:spPr>
              <a:xfrm>
                <a:off x="7275443" y="3575007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BMS</a:t>
                </a:r>
                <a:r>
                  <a:rPr lang="zh-CN" altLang="en-US" sz="1200" dirty="0"/>
                  <a:t>发送第一指示信息</a:t>
                </a:r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61BAEF5-9EC0-8AFA-CA61-30CD8BE41305}"/>
                  </a:ext>
                </a:extLst>
              </p:cNvPr>
              <p:cNvSpPr/>
              <p:nvPr/>
            </p:nvSpPr>
            <p:spPr>
              <a:xfrm>
                <a:off x="7275443" y="3961414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充电装置接收并基于第一指示信息对动力电池加热</a:t>
                </a: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146CE5BF-7009-D60E-C6DD-3C9B4D990066}"/>
                  </a:ext>
                </a:extLst>
              </p:cNvPr>
              <p:cNvSpPr/>
              <p:nvPr/>
            </p:nvSpPr>
            <p:spPr>
              <a:xfrm>
                <a:off x="7275443" y="4802633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BMS</a:t>
                </a:r>
                <a:r>
                  <a:rPr lang="zh-CN" altLang="en-US" sz="1200" dirty="0"/>
                  <a:t>发送第二指示信息</a:t>
                </a:r>
              </a:p>
            </p:txBody>
          </p:sp>
          <p:sp>
            <p:nvSpPr>
              <p:cNvPr id="14" name="菱形 13">
                <a:extLst>
                  <a:ext uri="{FF2B5EF4-FFF2-40B4-BE49-F238E27FC236}">
                    <a16:creationId xmlns:a16="http://schemas.microsoft.com/office/drawing/2014/main" id="{05E6016E-EAA7-6640-41D2-6393D34F7A73}"/>
                  </a:ext>
                </a:extLst>
              </p:cNvPr>
              <p:cNvSpPr/>
              <p:nvPr/>
            </p:nvSpPr>
            <p:spPr>
              <a:xfrm>
                <a:off x="7275443" y="4347821"/>
                <a:ext cx="3803374" cy="296135"/>
              </a:xfrm>
              <a:prstGeom prst="diamond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/>
                  <a:t>BMS</a:t>
                </a:r>
                <a:r>
                  <a:rPr lang="zh-CN" altLang="en-US" sz="1200" dirty="0"/>
                  <a:t>判断</a:t>
                </a:r>
                <a:r>
                  <a:rPr lang="en-US" altLang="zh-CN" sz="1200" dirty="0"/>
                  <a:t>T</a:t>
                </a:r>
                <a:r>
                  <a:rPr lang="zh-CN" altLang="en-US" sz="1200" dirty="0"/>
                  <a:t>≥</a:t>
                </a:r>
                <a:r>
                  <a:rPr lang="en-US" altLang="zh-CN" sz="1200" dirty="0"/>
                  <a:t>T0</a:t>
                </a:r>
                <a:endParaRPr lang="zh-CN" altLang="en-US" sz="1200" dirty="0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CFAE953-033F-1579-321B-A331E424DC59}"/>
                  </a:ext>
                </a:extLst>
              </p:cNvPr>
              <p:cNvSpPr/>
              <p:nvPr/>
            </p:nvSpPr>
            <p:spPr>
              <a:xfrm>
                <a:off x="7275443" y="5189040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充电装置接收并基于第二指示信息对动力电池加热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ECD08FE-9886-F984-9DBA-33A322D8F2C4}"/>
                  </a:ext>
                </a:extLst>
              </p:cNvPr>
              <p:cNvSpPr/>
              <p:nvPr/>
            </p:nvSpPr>
            <p:spPr>
              <a:xfrm>
                <a:off x="7275443" y="5575447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配置充电参数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594768C-A85A-4D77-C354-502A844F7812}"/>
                  </a:ext>
                </a:extLst>
              </p:cNvPr>
              <p:cNvSpPr/>
              <p:nvPr/>
            </p:nvSpPr>
            <p:spPr>
              <a:xfrm>
                <a:off x="7275443" y="5961854"/>
                <a:ext cx="3803374" cy="22773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充电装置对动力电池充电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D2174611-6EB6-19D8-80D7-DD00135157CC}"/>
                  </a:ext>
                </a:extLst>
              </p:cNvPr>
              <p:cNvSpPr/>
              <p:nvPr/>
            </p:nvSpPr>
            <p:spPr>
              <a:xfrm>
                <a:off x="7275443" y="6348265"/>
                <a:ext cx="3803374" cy="227730"/>
              </a:xfrm>
              <a:prstGeom prst="rect">
                <a:avLst/>
              </a:prstGeom>
              <a:solidFill>
                <a:schemeClr val="accent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200" dirty="0"/>
                  <a:t>结束充电</a:t>
                </a:r>
              </a:p>
            </p:txBody>
          </p: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104A0820-2FA8-F332-5D94-B5E85AA40A3D}"/>
                  </a:ext>
                </a:extLst>
              </p:cNvPr>
              <p:cNvCxnSpPr>
                <a:stCxn id="4" idx="2"/>
                <a:endCxn id="6" idx="0"/>
              </p:cNvCxnSpPr>
              <p:nvPr/>
            </p:nvCxnSpPr>
            <p:spPr>
              <a:xfrm>
                <a:off x="9177130" y="1802297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987DAF2E-EEAE-B55E-DA94-BF8AE7274734}"/>
                  </a:ext>
                </a:extLst>
              </p:cNvPr>
              <p:cNvCxnSpPr>
                <a:stCxn id="6" idx="2"/>
                <a:endCxn id="8" idx="0"/>
              </p:cNvCxnSpPr>
              <p:nvPr/>
            </p:nvCxnSpPr>
            <p:spPr>
              <a:xfrm>
                <a:off x="9177130" y="2188704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024838DE-1B5C-0EA7-F7AB-D5893E0A4AFF}"/>
                  </a:ext>
                </a:extLst>
              </p:cNvPr>
              <p:cNvCxnSpPr>
                <a:stCxn id="8" idx="2"/>
                <a:endCxn id="9" idx="0"/>
              </p:cNvCxnSpPr>
              <p:nvPr/>
            </p:nvCxnSpPr>
            <p:spPr>
              <a:xfrm>
                <a:off x="9177130" y="2575111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3474E8BD-7BDF-BEA3-AC5A-563AC19649A5}"/>
                  </a:ext>
                </a:extLst>
              </p:cNvPr>
              <p:cNvCxnSpPr>
                <a:stCxn id="9" idx="2"/>
                <a:endCxn id="10" idx="0"/>
              </p:cNvCxnSpPr>
              <p:nvPr/>
            </p:nvCxnSpPr>
            <p:spPr>
              <a:xfrm>
                <a:off x="9177130" y="3029923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776D5049-D9A1-C3C5-6E05-7E38B0B59463}"/>
                  </a:ext>
                </a:extLst>
              </p:cNvPr>
              <p:cNvCxnSpPr>
                <a:stCxn id="10" idx="2"/>
                <a:endCxn id="11" idx="0"/>
              </p:cNvCxnSpPr>
              <p:nvPr/>
            </p:nvCxnSpPr>
            <p:spPr>
              <a:xfrm>
                <a:off x="9177130" y="3416330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512211FB-4D00-60B8-4473-9520FE8B9A6B}"/>
                  </a:ext>
                </a:extLst>
              </p:cNvPr>
              <p:cNvCxnSpPr>
                <a:stCxn id="11" idx="2"/>
                <a:endCxn id="12" idx="0"/>
              </p:cNvCxnSpPr>
              <p:nvPr/>
            </p:nvCxnSpPr>
            <p:spPr>
              <a:xfrm>
                <a:off x="9177130" y="3802737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74DF68DB-5C0E-5B13-B487-D53DF49FED4C}"/>
                  </a:ext>
                </a:extLst>
              </p:cNvPr>
              <p:cNvCxnSpPr>
                <a:stCxn id="12" idx="2"/>
                <a:endCxn id="14" idx="0"/>
              </p:cNvCxnSpPr>
              <p:nvPr/>
            </p:nvCxnSpPr>
            <p:spPr>
              <a:xfrm>
                <a:off x="9177130" y="4189144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B6FEB1EC-73CB-8D8E-6723-4099CD46016A}"/>
                  </a:ext>
                </a:extLst>
              </p:cNvPr>
              <p:cNvCxnSpPr>
                <a:stCxn id="14" idx="2"/>
                <a:endCxn id="13" idx="0"/>
              </p:cNvCxnSpPr>
              <p:nvPr/>
            </p:nvCxnSpPr>
            <p:spPr>
              <a:xfrm>
                <a:off x="9177130" y="4643956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5CE1DA1F-2E53-B1C0-1C3C-8BD15EA6366D}"/>
                  </a:ext>
                </a:extLst>
              </p:cNvPr>
              <p:cNvCxnSpPr>
                <a:stCxn id="13" idx="2"/>
                <a:endCxn id="15" idx="0"/>
              </p:cNvCxnSpPr>
              <p:nvPr/>
            </p:nvCxnSpPr>
            <p:spPr>
              <a:xfrm>
                <a:off x="9177130" y="5030363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C2F76B55-3378-B405-5935-858927342DE7}"/>
                  </a:ext>
                </a:extLst>
              </p:cNvPr>
              <p:cNvCxnSpPr>
                <a:stCxn id="15" idx="2"/>
                <a:endCxn id="16" idx="0"/>
              </p:cNvCxnSpPr>
              <p:nvPr/>
            </p:nvCxnSpPr>
            <p:spPr>
              <a:xfrm>
                <a:off x="9177130" y="5416770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9514B96D-C234-29D5-6927-C2642C4AB585}"/>
                  </a:ext>
                </a:extLst>
              </p:cNvPr>
              <p:cNvCxnSpPr>
                <a:stCxn id="16" idx="2"/>
                <a:endCxn id="17" idx="0"/>
              </p:cNvCxnSpPr>
              <p:nvPr/>
            </p:nvCxnSpPr>
            <p:spPr>
              <a:xfrm>
                <a:off x="9177130" y="5803177"/>
                <a:ext cx="0" cy="158677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A1720B04-03B2-FC85-E58D-6DB3EF1A63A5}"/>
                  </a:ext>
                </a:extLst>
              </p:cNvPr>
              <p:cNvCxnSpPr>
                <a:stCxn id="17" idx="2"/>
                <a:endCxn id="18" idx="0"/>
              </p:cNvCxnSpPr>
              <p:nvPr/>
            </p:nvCxnSpPr>
            <p:spPr>
              <a:xfrm>
                <a:off x="9177130" y="6189584"/>
                <a:ext cx="0" cy="158681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连接符: 肘形 43">
                <a:extLst>
                  <a:ext uri="{FF2B5EF4-FFF2-40B4-BE49-F238E27FC236}">
                    <a16:creationId xmlns:a16="http://schemas.microsoft.com/office/drawing/2014/main" id="{84BA8F0D-5148-9963-852F-1F4A394BE8BF}"/>
                  </a:ext>
                </a:extLst>
              </p:cNvPr>
              <p:cNvCxnSpPr>
                <a:stCxn id="9" idx="1"/>
                <a:endCxn id="16" idx="1"/>
              </p:cNvCxnSpPr>
              <p:nvPr/>
            </p:nvCxnSpPr>
            <p:spPr>
              <a:xfrm rot="10800000" flipV="1">
                <a:off x="7275443" y="2881856"/>
                <a:ext cx="12700" cy="2807456"/>
              </a:xfrm>
              <a:prstGeom prst="bentConnector3">
                <a:avLst>
                  <a:gd name="adj1" fmla="val 180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连接符: 肘形 45">
                <a:extLst>
                  <a:ext uri="{FF2B5EF4-FFF2-40B4-BE49-F238E27FC236}">
                    <a16:creationId xmlns:a16="http://schemas.microsoft.com/office/drawing/2014/main" id="{CBC44996-7473-C78B-4A4D-D8AFCF630249}"/>
                  </a:ext>
                </a:extLst>
              </p:cNvPr>
              <p:cNvCxnSpPr>
                <a:stCxn id="14" idx="3"/>
                <a:endCxn id="10" idx="3"/>
              </p:cNvCxnSpPr>
              <p:nvPr/>
            </p:nvCxnSpPr>
            <p:spPr>
              <a:xfrm flipV="1">
                <a:off x="11078817" y="3302465"/>
                <a:ext cx="12700" cy="1193424"/>
              </a:xfrm>
              <a:prstGeom prst="bentConnector3">
                <a:avLst>
                  <a:gd name="adj1" fmla="val 1800000"/>
                </a:avLst>
              </a:prstGeom>
              <a:ln w="1905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C75D7AEE-1DAF-7112-1A9E-63F2F7891609}"/>
                </a:ext>
              </a:extLst>
            </p:cNvPr>
            <p:cNvSpPr/>
            <p:nvPr/>
          </p:nvSpPr>
          <p:spPr>
            <a:xfrm>
              <a:off x="7262191" y="2654448"/>
              <a:ext cx="4578625" cy="2807134"/>
            </a:xfrm>
            <a:prstGeom prst="rect">
              <a:avLst/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BE0090D-8FCE-74AA-2990-6B1E5BE6D160}"/>
                </a:ext>
              </a:extLst>
            </p:cNvPr>
            <p:cNvSpPr txBox="1"/>
            <p:nvPr/>
          </p:nvSpPr>
          <p:spPr>
            <a:xfrm>
              <a:off x="9216610" y="3018819"/>
              <a:ext cx="278295" cy="158677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b="1" dirty="0">
                  <a:solidFill>
                    <a:schemeClr val="accent1"/>
                  </a:solidFill>
                  <a:latin typeface="+mj-lt"/>
                </a:rPr>
                <a:t>是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2753F5A-6DE8-5CDD-6CE7-08696CAF8C24}"/>
                </a:ext>
              </a:extLst>
            </p:cNvPr>
            <p:cNvSpPr txBox="1"/>
            <p:nvPr/>
          </p:nvSpPr>
          <p:spPr>
            <a:xfrm>
              <a:off x="9216610" y="4643951"/>
              <a:ext cx="278295" cy="158677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b="1" dirty="0">
                  <a:solidFill>
                    <a:schemeClr val="accent1"/>
                  </a:solidFill>
                  <a:latin typeface="+mj-lt"/>
                </a:rPr>
                <a:t>是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8E074B7-07BA-05C3-CAB3-0C6DEFE70CD2}"/>
                </a:ext>
              </a:extLst>
            </p:cNvPr>
            <p:cNvSpPr txBox="1"/>
            <p:nvPr/>
          </p:nvSpPr>
          <p:spPr>
            <a:xfrm>
              <a:off x="11612492" y="3776885"/>
              <a:ext cx="278295" cy="158677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b="1" dirty="0">
                  <a:solidFill>
                    <a:schemeClr val="accent1"/>
                  </a:solidFill>
                  <a:latin typeface="+mj-lt"/>
                </a:rPr>
                <a:t>否</a:t>
              </a: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8F4C9E78-440A-0617-5D47-589A08118415}"/>
                </a:ext>
              </a:extLst>
            </p:cNvPr>
            <p:cNvSpPr txBox="1"/>
            <p:nvPr/>
          </p:nvSpPr>
          <p:spPr>
            <a:xfrm>
              <a:off x="7212634" y="4189142"/>
              <a:ext cx="278295" cy="158677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b="1" dirty="0">
                  <a:solidFill>
                    <a:schemeClr val="accent1"/>
                  </a:solidFill>
                  <a:latin typeface="+mj-lt"/>
                </a:rPr>
                <a:t>否</a:t>
              </a:r>
            </a:p>
          </p:txBody>
        </p:sp>
      </p:grpSp>
      <p:pic>
        <p:nvPicPr>
          <p:cNvPr id="55" name="图片 54">
            <a:extLst>
              <a:ext uri="{FF2B5EF4-FFF2-40B4-BE49-F238E27FC236}">
                <a16:creationId xmlns:a16="http://schemas.microsoft.com/office/drawing/2014/main" id="{B982BEDC-CE60-5187-C1D0-6FCB9AC5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493" y="4215927"/>
            <a:ext cx="3171855" cy="153678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D349D400-04AB-931D-DFBD-009AC84F7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227" y="5800943"/>
            <a:ext cx="2194645" cy="1033468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9935AB7E-44EF-77B4-0892-EFE189E8B1D4}"/>
              </a:ext>
            </a:extLst>
          </p:cNvPr>
          <p:cNvSpPr txBox="1"/>
          <p:nvPr/>
        </p:nvSpPr>
        <p:spPr>
          <a:xfrm>
            <a:off x="5332674" y="6578910"/>
            <a:ext cx="1526652" cy="2584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壳牌方案电流脉冲曲线</a:t>
            </a: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1275C2F-5BAE-5BB3-FDEE-EFEB776BFA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9" y="4140215"/>
            <a:ext cx="3727168" cy="2097647"/>
          </a:xfrm>
          <a:prstGeom prst="rect">
            <a:avLst/>
          </a:prstGeom>
        </p:spPr>
      </p:pic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B37D2ABB-D84E-1254-5DFF-4C8EC1F5F877}"/>
              </a:ext>
            </a:extLst>
          </p:cNvPr>
          <p:cNvCxnSpPr>
            <a:cxnSpLocks/>
          </p:cNvCxnSpPr>
          <p:nvPr/>
        </p:nvCxnSpPr>
        <p:spPr>
          <a:xfrm flipH="1">
            <a:off x="2305878" y="4189142"/>
            <a:ext cx="1681614" cy="45480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9DB2FC17-FF4B-5ADB-89BF-69284180D392}"/>
              </a:ext>
            </a:extLst>
          </p:cNvPr>
          <p:cNvCxnSpPr>
            <a:cxnSpLocks/>
          </p:cNvCxnSpPr>
          <p:nvPr/>
        </p:nvCxnSpPr>
        <p:spPr>
          <a:xfrm flipH="1" flipV="1">
            <a:off x="2293178" y="4836420"/>
            <a:ext cx="1686049" cy="90148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BF144AE1-2A67-667E-911F-8B895FF38CB3}"/>
              </a:ext>
            </a:extLst>
          </p:cNvPr>
          <p:cNvSpPr txBox="1"/>
          <p:nvPr/>
        </p:nvSpPr>
        <p:spPr>
          <a:xfrm>
            <a:off x="10085840" y="1316149"/>
            <a:ext cx="1526652" cy="25841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脉冲加热控制逻辑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15404436-F876-A79D-DAD1-AE4D7EFADC2A}"/>
              </a:ext>
            </a:extLst>
          </p:cNvPr>
          <p:cNvSpPr txBox="1"/>
          <p:nvPr/>
        </p:nvSpPr>
        <p:spPr>
          <a:xfrm>
            <a:off x="1143363" y="6237862"/>
            <a:ext cx="1694316" cy="192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桩端脉冲加热模块示意图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E6B593D-ED7C-6CF2-E4A3-1EC5022C23CF}"/>
              </a:ext>
            </a:extLst>
          </p:cNvPr>
          <p:cNvSpPr txBox="1"/>
          <p:nvPr/>
        </p:nvSpPr>
        <p:spPr>
          <a:xfrm>
            <a:off x="4748980" y="4008874"/>
            <a:ext cx="1694316" cy="192469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100" b="1" dirty="0">
                <a:solidFill>
                  <a:schemeClr val="accent1"/>
                </a:solidFill>
                <a:latin typeface="+mj-lt"/>
              </a:rPr>
              <a:t>DCDC</a:t>
            </a:r>
            <a:r>
              <a:rPr lang="zh-CN" altLang="en-US" sz="1100" b="1" dirty="0">
                <a:solidFill>
                  <a:schemeClr val="accent1"/>
                </a:solidFill>
                <a:latin typeface="+mj-lt"/>
              </a:rPr>
              <a:t>模块原理图</a:t>
            </a:r>
          </a:p>
        </p:txBody>
      </p:sp>
    </p:spTree>
    <p:extLst>
      <p:ext uri="{BB962C8B-B14F-4D97-AF65-F5344CB8AC3E}">
        <p14:creationId xmlns:p14="http://schemas.microsoft.com/office/powerpoint/2010/main" val="26838508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69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5326BB-96D4-44C1-BF5E-8861B2C082B7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295</Words>
  <Application>Microsoft Office PowerPoint</Application>
  <PresentationFormat>宽屏</PresentationFormat>
  <Paragraphs>40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微软雅黑</vt:lpstr>
      <vt:lpstr>Arial</vt:lpstr>
      <vt:lpstr>Wingdings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myh</dc:creator>
  <cp:lastModifiedBy>Codex Scholar 审阅</cp:lastModifiedBy>
  <cp:revision>54</cp:revision>
  <dcterms:created xsi:type="dcterms:W3CDTF">2026-05-08T15:35:08Z</dcterms:created>
  <dcterms:modified xsi:type="dcterms:W3CDTF">2026-06-10T00:17:56Z</dcterms:modified>
</cp:coreProperties>
</file>
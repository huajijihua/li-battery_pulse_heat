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77" r:id="rId3"/>
    <p:sldId id="379" r:id="rId5"/>
    <p:sldId id="380" r:id="rId6"/>
    <p:sldId id="381" r:id="rId7"/>
    <p:sldId id="383" r:id="rId8"/>
    <p:sldId id="384" r:id="rId9"/>
    <p:sldId id="385" r:id="rId10"/>
  </p:sldIdLst>
  <p:sldSz cx="12192000" cy="6858000"/>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吴俊樑" initials="吴"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52A8C"/>
    <a:srgbClr val="00B050"/>
    <a:srgbClr val="F1F1F1"/>
    <a:srgbClr val="F2F2F2"/>
    <a:srgbClr val="FF374A"/>
    <a:srgbClr val="4964E4"/>
    <a:srgbClr val="84EB7A"/>
    <a:srgbClr val="B10011"/>
    <a:srgbClr val="F5B482"/>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1" autoAdjust="0"/>
    <p:restoredTop sz="82896" autoAdjust="0"/>
  </p:normalViewPr>
  <p:slideViewPr>
    <p:cSldViewPr snapToObjects="1">
      <p:cViewPr varScale="1">
        <p:scale>
          <a:sx n="96" d="100"/>
          <a:sy n="96" d="100"/>
        </p:scale>
        <p:origin x="936"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Objects="1" showGuides="1">
      <p:cViewPr varScale="1">
        <p:scale>
          <a:sx n="42" d="100"/>
          <a:sy n="42" d="100"/>
        </p:scale>
        <p:origin x="-1757" y="-96"/>
      </p:cViewPr>
      <p:guideLst>
        <p:guide orient="horz" pos="3338"/>
        <p:guide pos="218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47" cy="498328"/>
          </a:xfrm>
          <a:prstGeom prst="rect">
            <a:avLst/>
          </a:prstGeom>
        </p:spPr>
        <p:txBody>
          <a:bodyPr vert="horz" lIns="92108" tIns="46054" rIns="92108" bIns="46054"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26" y="0"/>
            <a:ext cx="2946246" cy="498328"/>
          </a:xfrm>
          <a:prstGeom prst="rect">
            <a:avLst/>
          </a:prstGeom>
        </p:spPr>
        <p:txBody>
          <a:bodyPr vert="horz" lIns="92108" tIns="46054" rIns="92108" bIns="46054" rtlCol="0"/>
          <a:lstStyle>
            <a:lvl1pPr algn="r" fontAlgn="auto">
              <a:spcBef>
                <a:spcPts val="0"/>
              </a:spcBef>
              <a:spcAft>
                <a:spcPts val="0"/>
              </a:spcAft>
              <a:defRPr sz="1200">
                <a:latin typeface="+mn-lt"/>
                <a:ea typeface="+mn-ea"/>
              </a:defRPr>
            </a:lvl1pPr>
          </a:lstStyle>
          <a:p>
            <a:pPr>
              <a:defRPr/>
            </a:pPr>
            <a:fld id="{F0259903-FC65-400A-9E76-C4C330AD3D6E}" type="datetimeFigureOut">
              <a:rPr lang="zh-CN" altLang="en-US"/>
            </a:fld>
            <a:endParaRPr lang="zh-CN" altLang="en-US"/>
          </a:p>
        </p:txBody>
      </p:sp>
      <p:sp>
        <p:nvSpPr>
          <p:cNvPr id="4" name="幻灯片图像占位符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2108" tIns="46054" rIns="92108" bIns="46054" rtlCol="0" anchor="ctr"/>
          <a:lstStyle/>
          <a:p>
            <a:pPr lvl="0"/>
            <a:endParaRPr lang="zh-CN" altLang="en-US" noProof="0"/>
          </a:p>
        </p:txBody>
      </p:sp>
      <p:sp>
        <p:nvSpPr>
          <p:cNvPr id="5" name="备注占位符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zh-CN" altLang="en-US" noProof="0"/>
              <a:t>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fontAlgn="auto">
              <a:spcBef>
                <a:spcPts val="0"/>
              </a:spcBef>
              <a:spcAft>
                <a:spcPts val="0"/>
              </a:spcAft>
              <a:defRPr sz="1200">
                <a:latin typeface="+mn-lt"/>
                <a:ea typeface="+mn-ea"/>
              </a:defRPr>
            </a:lvl1pPr>
          </a:lstStyle>
          <a:p>
            <a:pPr>
              <a:defRPr/>
            </a:pPr>
            <a:fld id="{A67DAE94-9449-4026-AC54-378A5A1A863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35" kern="1200">
        <a:solidFill>
          <a:schemeClr val="tx1"/>
        </a:solidFill>
        <a:latin typeface="+mn-lt"/>
        <a:ea typeface="+mn-ea"/>
        <a:cs typeface="+mn-cs"/>
      </a:defRPr>
    </a:lvl1pPr>
    <a:lvl2pPr marL="485775" algn="l" rtl="0" eaLnBrk="0" fontAlgn="base" hangingPunct="0">
      <a:spcBef>
        <a:spcPct val="30000"/>
      </a:spcBef>
      <a:spcAft>
        <a:spcPct val="0"/>
      </a:spcAft>
      <a:defRPr sz="1335" kern="1200">
        <a:solidFill>
          <a:schemeClr val="tx1"/>
        </a:solidFill>
        <a:latin typeface="+mn-lt"/>
        <a:ea typeface="+mn-ea"/>
        <a:cs typeface="+mn-cs"/>
      </a:defRPr>
    </a:lvl2pPr>
    <a:lvl3pPr marL="971550" algn="l" rtl="0" eaLnBrk="0" fontAlgn="base" hangingPunct="0">
      <a:spcBef>
        <a:spcPct val="30000"/>
      </a:spcBef>
      <a:spcAft>
        <a:spcPct val="0"/>
      </a:spcAft>
      <a:defRPr sz="1335" kern="1200">
        <a:solidFill>
          <a:schemeClr val="tx1"/>
        </a:solidFill>
        <a:latin typeface="+mn-lt"/>
        <a:ea typeface="+mn-ea"/>
        <a:cs typeface="+mn-cs"/>
      </a:defRPr>
    </a:lvl3pPr>
    <a:lvl4pPr marL="1457325" algn="l" rtl="0" eaLnBrk="0" fontAlgn="base" hangingPunct="0">
      <a:spcBef>
        <a:spcPct val="30000"/>
      </a:spcBef>
      <a:spcAft>
        <a:spcPct val="0"/>
      </a:spcAft>
      <a:defRPr sz="1335" kern="1200">
        <a:solidFill>
          <a:schemeClr val="tx1"/>
        </a:solidFill>
        <a:latin typeface="+mn-lt"/>
        <a:ea typeface="+mn-ea"/>
        <a:cs typeface="+mn-cs"/>
      </a:defRPr>
    </a:lvl4pPr>
    <a:lvl5pPr marL="1943100" algn="l" rtl="0" eaLnBrk="0" fontAlgn="base" hangingPunct="0">
      <a:spcBef>
        <a:spcPct val="30000"/>
      </a:spcBef>
      <a:spcAft>
        <a:spcPct val="0"/>
      </a:spcAft>
      <a:defRPr sz="1335" kern="1200">
        <a:solidFill>
          <a:schemeClr val="tx1"/>
        </a:solidFill>
        <a:latin typeface="+mn-lt"/>
        <a:ea typeface="+mn-ea"/>
        <a:cs typeface="+mn-cs"/>
      </a:defRPr>
    </a:lvl5pPr>
    <a:lvl6pPr marL="2429510" algn="l" defTabSz="971550" rtl="0" eaLnBrk="1" latinLnBrk="0" hangingPunct="1">
      <a:defRPr sz="1335" kern="1200">
        <a:solidFill>
          <a:schemeClr val="tx1"/>
        </a:solidFill>
        <a:latin typeface="+mn-lt"/>
        <a:ea typeface="+mn-ea"/>
        <a:cs typeface="+mn-cs"/>
      </a:defRPr>
    </a:lvl6pPr>
    <a:lvl7pPr marL="2915285" algn="l" defTabSz="971550" rtl="0" eaLnBrk="1" latinLnBrk="0" hangingPunct="1">
      <a:defRPr sz="1335" kern="1200">
        <a:solidFill>
          <a:schemeClr val="tx1"/>
        </a:solidFill>
        <a:latin typeface="+mn-lt"/>
        <a:ea typeface="+mn-ea"/>
        <a:cs typeface="+mn-cs"/>
      </a:defRPr>
    </a:lvl7pPr>
    <a:lvl8pPr marL="3401060" algn="l" defTabSz="971550" rtl="0" eaLnBrk="1" latinLnBrk="0" hangingPunct="1">
      <a:defRPr sz="1335" kern="1200">
        <a:solidFill>
          <a:schemeClr val="tx1"/>
        </a:solidFill>
        <a:latin typeface="+mn-lt"/>
        <a:ea typeface="+mn-ea"/>
        <a:cs typeface="+mn-cs"/>
      </a:defRPr>
    </a:lvl8pPr>
    <a:lvl9pPr marL="3886835" algn="l" defTabSz="971550" rtl="0" eaLnBrk="1" latinLnBrk="0" hangingPunct="1">
      <a:defRPr sz="133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当前主方案是“三包并联整体输出 + 双电机同步脉冲”。</a:t>
            </a:r>
            <a:endParaRPr lang="zh-CN" altLang="en-US"/>
          </a:p>
          <a:p>
            <a:r>
              <a:rPr lang="en-US" altLang="zh-CN"/>
              <a:t>PPT </a:t>
            </a:r>
            <a:r>
              <a:rPr lang="zh-CN" altLang="en-US"/>
              <a:t>默认工况为 -20°</a:t>
            </a:r>
            <a:r>
              <a:rPr lang="en-US" altLang="zh-CN"/>
              <a:t>C、50%SOC、1250 Hz、duty=0.50、</a:t>
            </a:r>
            <a:r>
              <a:rPr lang="zh-CN" altLang="en-US"/>
              <a:t>电机短时边界 550 </a:t>
            </a:r>
            <a:r>
              <a:rPr lang="en-US" altLang="zh-CN"/>
              <a:t>Arms，</a:t>
            </a:r>
            <a:r>
              <a:rPr lang="zh-CN" altLang="en-US"/>
              <a:t>初始温升速率约 1.43°</a:t>
            </a:r>
            <a:r>
              <a:rPr lang="en-US" altLang="zh-CN"/>
              <a:t>C/min，</a:t>
            </a:r>
            <a:r>
              <a:rPr lang="zh-CN" altLang="en-US"/>
              <a:t>升至 0°</a:t>
            </a:r>
            <a:r>
              <a:rPr lang="en-US" altLang="zh-CN"/>
              <a:t>C </a:t>
            </a:r>
            <a:r>
              <a:rPr lang="zh-CN" altLang="en-US"/>
              <a:t>约 17.7 </a:t>
            </a:r>
            <a:r>
              <a:rPr lang="en-US" altLang="zh-CN"/>
              <a:t>min，30 min SOC </a:t>
            </a:r>
            <a:r>
              <a:rPr lang="zh-CN" altLang="en-US"/>
              <a:t>消耗约 5.3%。</a:t>
            </a:r>
            <a:endParaRPr lang="zh-CN" altLang="en-US"/>
          </a:p>
          <a:p>
            <a:r>
              <a:rPr lang="zh-CN" altLang="en-US"/>
              <a:t>这里要强调：这个结果是“在模型假设成立时的能力判断”，不是实车安全确认。尤其电池高频内阻、脉冲充放电窗口、支路分流、控制器峰值能力还没有被实测闭环验证。</a:t>
            </a:r>
            <a:endParaRPr lang="zh-CN" altLang="en-US"/>
          </a:p>
          <a:p>
            <a:r>
              <a:rPr lang="zh-CN" altLang="en-US"/>
              <a:t>单电机方案 30 </a:t>
            </a:r>
            <a:r>
              <a:rPr lang="en-US" altLang="zh-CN"/>
              <a:t>min </a:t>
            </a:r>
            <a:r>
              <a:rPr lang="zh-CN" altLang="en-US"/>
              <a:t>末温仍约 -10.3°</a:t>
            </a:r>
            <a:r>
              <a:rPr lang="en-US" altLang="zh-CN"/>
              <a:t>C，</a:t>
            </a:r>
            <a:r>
              <a:rPr lang="zh-CN" altLang="en-US"/>
              <a:t>可以作为反例说明：商用车电量大、热容量大，单执行器能力偏弱，双电机不是锦上添花，而是方案成立的关键条件之一。</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车载电机侧方案不是直接“命令电池输出某个电流”。有效电流由母线电压、逆变器 </a:t>
            </a:r>
            <a:r>
              <a:rPr lang="en-US" altLang="zh-CN"/>
              <a:t>PWM、</a:t>
            </a:r>
            <a:r>
              <a:rPr lang="zh-CN" altLang="en-US"/>
              <a:t>频率、占空比、电机绕组 </a:t>
            </a:r>
            <a:r>
              <a:rPr lang="en-US" altLang="zh-CN"/>
              <a:t>R/L、</a:t>
            </a:r>
            <a:r>
              <a:rPr lang="zh-CN" altLang="en-US"/>
              <a:t>限流策略共同决定。低频时电流爬升更充分，温升能力可能更强，但峰值电流、母线纹波、转矩脉动、</a:t>
            </a:r>
            <a:r>
              <a:rPr lang="en-US" altLang="zh-CN"/>
              <a:t>NVH </a:t>
            </a:r>
            <a:r>
              <a:rPr lang="zh-CN" altLang="en-US"/>
              <a:t>和保护风险也更高。</a:t>
            </a:r>
            <a:endParaRPr lang="zh-CN" altLang="en-US"/>
          </a:p>
          <a:p>
            <a:r>
              <a:rPr lang="en-US" altLang="zh-CN"/>
              <a:t>PPT </a:t>
            </a:r>
            <a:r>
              <a:rPr lang="zh-CN" altLang="en-US"/>
              <a:t>里“理论极大值 &gt;2000</a:t>
            </a:r>
            <a:r>
              <a:rPr lang="en-US" altLang="zh-CN"/>
              <a:t>A”</a:t>
            </a:r>
            <a:r>
              <a:rPr lang="zh-CN" altLang="en-US"/>
              <a:t>建议谨慎讲：可以说这是准短路回路下的理论上限提醒，不是可用工作点。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两台电机同步难点包括：</a:t>
            </a:r>
            <a:endParaRPr lang="zh-CN" altLang="en-US"/>
          </a:p>
          <a:p>
            <a:endParaRPr lang="en-US" altLang="zh-CN"/>
          </a:p>
          <a:p>
            <a:r>
              <a:rPr lang="zh-CN" altLang="en-US"/>
              <a:t>两个逆变器 </a:t>
            </a:r>
            <a:r>
              <a:rPr lang="en-US" altLang="zh-CN"/>
              <a:t>PWM </a:t>
            </a:r>
            <a:r>
              <a:rPr lang="zh-CN" altLang="en-US"/>
              <a:t>时基、采样时刻、控制周期是否一致；</a:t>
            </a:r>
            <a:endParaRPr lang="zh-CN" altLang="en-US"/>
          </a:p>
          <a:p>
            <a:r>
              <a:rPr lang="zh-CN" altLang="en-US"/>
              <a:t>电机参数、温度、绕组电阻、电感差异导致电流响应不一致；</a:t>
            </a:r>
            <a:endParaRPr lang="zh-CN" altLang="en-US"/>
          </a:p>
          <a:p>
            <a:r>
              <a:rPr lang="zh-CN" altLang="en-US"/>
              <a:t>电池侧看到的是两台电驱叠加后的等效电流，不等于电机三相电角度同步；</a:t>
            </a:r>
            <a:endParaRPr lang="zh-CN" altLang="en-US"/>
          </a:p>
          <a:p>
            <a:r>
              <a:rPr lang="zh-CN" altLang="en-US"/>
              <a:t>若相位错开，电池侧有效 </a:t>
            </a:r>
            <a:r>
              <a:rPr lang="en-US" altLang="zh-CN"/>
              <a:t>RMS </a:t>
            </a:r>
            <a:r>
              <a:rPr lang="zh-CN" altLang="en-US"/>
              <a:t>电流和加热效率下降；</a:t>
            </a:r>
            <a:endParaRPr lang="zh-CN" altLang="en-US"/>
          </a:p>
          <a:p>
            <a:r>
              <a:rPr lang="zh-CN" altLang="en-US"/>
              <a:t>即使平均转矩为零，也可能有瞬态转矩、齿槽转矩、传动系统间隙冲击、悬置振动和噪声问题。</a:t>
            </a:r>
            <a:endParaRPr lang="zh-CN" altLang="en-US"/>
          </a:p>
          <a:p>
            <a:r>
              <a:rPr lang="zh-CN" altLang="en-US"/>
              <a:t>所以 </a:t>
            </a:r>
            <a:r>
              <a:rPr lang="en-US" altLang="zh-CN"/>
              <a:t>PPT </a:t>
            </a:r>
            <a:r>
              <a:rPr lang="zh-CN" altLang="en-US"/>
              <a:t>第 3 页的 </a:t>
            </a:r>
            <a:r>
              <a:rPr lang="en-US" altLang="zh-CN"/>
              <a:t>rho </a:t>
            </a:r>
            <a:r>
              <a:rPr lang="zh-CN" altLang="en-US"/>
              <a:t>可以解释为“电池侧等效电流同步程度”的研究变量，不是控制器里直接能设定的旋钮。</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壳牌桩端方案的逻辑更接近“桩端直接向电池端口注入低频充放电脉冲”。优点是车端硬件改动小，主要依赖桩端双向 </a:t>
            </a:r>
            <a:r>
              <a:rPr lang="en-US" altLang="zh-CN"/>
              <a:t>DCDC、</a:t>
            </a:r>
            <a:r>
              <a:rPr lang="zh-CN" altLang="en-US"/>
              <a:t>储能模块、功率模块和 </a:t>
            </a:r>
            <a:r>
              <a:rPr lang="en-US" altLang="zh-CN"/>
              <a:t>BMS </a:t>
            </a:r>
            <a:r>
              <a:rPr lang="zh-CN" altLang="en-US"/>
              <a:t>通信；缺点是强依赖专用桩、成本高、车型需要分别标定 </a:t>
            </a:r>
            <a:r>
              <a:rPr lang="en-US" altLang="zh-CN"/>
              <a:t>MAP。</a:t>
            </a:r>
            <a:endParaRPr lang="en-US" altLang="zh-CN"/>
          </a:p>
          <a:p>
            <a:r>
              <a:rPr lang="zh-CN" altLang="en-US"/>
              <a:t>对商用车多包并联架构，真正要讲的是：公共母线分流、各包 </a:t>
            </a:r>
            <a:r>
              <a:rPr lang="en-US" altLang="zh-CN"/>
              <a:t>SOC/</a:t>
            </a:r>
            <a:r>
              <a:rPr lang="zh-CN" altLang="en-US"/>
              <a:t>温度/内阻差异、</a:t>
            </a:r>
            <a:r>
              <a:rPr lang="en-US" altLang="zh-CN"/>
              <a:t>BMS </a:t>
            </a:r>
            <a:r>
              <a:rPr lang="zh-CN" altLang="en-US"/>
              <a:t>多包交互、温升一致性，而不是只看单包或乘用车案例。</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两者不是谁完全替代谁，更像两个应用场景：车载解决“车辆自带预热能力”，桩端解决“场站集中低温补能能力”。</a:t>
            </a:r>
            <a:br>
              <a:rPr lang="zh-CN" altLang="en-US"/>
            </a:br>
            <a:r>
              <a:rPr lang="zh-CN" altLang="en-US"/>
              <a:t>仿真显示车载双电机脉冲加热有潜力，但可行性取决于电池高频窗口、电驱零转矩控制、双电机同步、机械/</a:t>
            </a:r>
            <a:r>
              <a:rPr lang="en-US" altLang="zh-CN"/>
              <a:t>NVH</a:t>
            </a:r>
            <a:r>
              <a:rPr lang="zh-CN" altLang="en-US"/>
              <a:t>边界和实车验证。桩端方案原理更直接，但依赖专用桩和车型适配。</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23解放封面页">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0" y="2564904"/>
            <a:ext cx="12192000" cy="1775292"/>
          </a:xfrm>
          <a:prstGeom prst="rect">
            <a:avLst/>
          </a:prstGeom>
        </p:spPr>
        <p:txBody>
          <a:bodyPr anchor="ctr" anchorCtr="0"/>
          <a:lstStyle>
            <a:lvl1pPr algn="ctr">
              <a:lnSpc>
                <a:spcPct val="100000"/>
              </a:lnSpc>
              <a:defRPr sz="5400" b="1">
                <a:solidFill>
                  <a:srgbClr val="152A8C"/>
                </a:solidFill>
                <a:latin typeface="微软雅黑" panose="020B0503020204020204" pitchFamily="34" charset="-122"/>
                <a:ea typeface="微软雅黑" panose="020B0503020204020204" pitchFamily="34" charset="-122"/>
              </a:defRPr>
            </a:lvl1pPr>
          </a:lstStyle>
          <a:p>
            <a:r>
              <a:rPr lang="zh-CN" altLang="en-US" dirty="0"/>
              <a:t>标题</a:t>
            </a:r>
            <a:endParaRPr lang="en-US" dirty="0"/>
          </a:p>
        </p:txBody>
      </p:sp>
      <p:sp>
        <p:nvSpPr>
          <p:cNvPr id="9" name="Subtitle 2"/>
          <p:cNvSpPr>
            <a:spLocks noGrp="1"/>
          </p:cNvSpPr>
          <p:nvPr>
            <p:ph type="subTitle" idx="1" hasCustomPrompt="1"/>
          </p:nvPr>
        </p:nvSpPr>
        <p:spPr>
          <a:xfrm>
            <a:off x="1143000" y="4476097"/>
            <a:ext cx="9921552" cy="1655762"/>
          </a:xfrm>
          <a:prstGeom prst="rect">
            <a:avLst/>
          </a:prstGeom>
        </p:spPr>
        <p:txBody>
          <a:bodyPr anchor="ctr" anchorCtr="0"/>
          <a:lstStyle>
            <a:lvl1pPr marL="0" indent="0" algn="ctr">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a:t>
            </a:r>
            <a:endParaRPr lang="en-US" altLang="zh-CN" dirty="0"/>
          </a:p>
          <a:p>
            <a:endParaRPr lang="zh-CN" altLang="en-US" dirty="0"/>
          </a:p>
        </p:txBody>
      </p:sp>
      <p:grpSp>
        <p:nvGrpSpPr>
          <p:cNvPr id="2" name="组合 1"/>
          <p:cNvGrpSpPr/>
          <p:nvPr userDrawn="1"/>
        </p:nvGrpSpPr>
        <p:grpSpPr>
          <a:xfrm>
            <a:off x="0" y="6942142"/>
            <a:ext cx="12192000" cy="614361"/>
            <a:chOff x="0" y="6942142"/>
            <a:chExt cx="12192000" cy="614361"/>
          </a:xfrm>
        </p:grpSpPr>
        <p:sp>
          <p:nvSpPr>
            <p:cNvPr id="6" name="同侧圆角矩形 3"/>
            <p:cNvSpPr/>
            <p:nvPr userDrawn="1"/>
          </p:nvSpPr>
          <p:spPr>
            <a:xfrm rot="10800000">
              <a:off x="0" y="6942142"/>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7" name="矩形 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0" name="矩形 9"/>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11" name="矩形 10"/>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13" name="矩形 12"/>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封面页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765" y="-14605"/>
            <a:ext cx="12230735" cy="1291590"/>
          </a:xfrm>
          <a:prstGeom prst="rect">
            <a:avLst/>
          </a:prstGeom>
        </p:spPr>
      </p:pic>
      <p:pic>
        <p:nvPicPr>
          <p:cNvPr id="16" name="图形 39"/>
          <p:cNvPicPr>
            <a:picLocks noChangeAspect="1"/>
          </p:cNvPicPr>
          <p:nvPr userDrawn="1"/>
        </p:nvPicPr>
        <p:blipFill>
          <a:blip r:embed="rId3"/>
          <a:stretch>
            <a:fillRect/>
          </a:stretch>
        </p:blipFill>
        <p:spPr>
          <a:xfrm>
            <a:off x="982897" y="327314"/>
            <a:ext cx="2881252" cy="6372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23解放目录">
    <p:bg>
      <p:bgPr>
        <a:solidFill>
          <a:schemeClr val="bg1"/>
        </a:solidFill>
        <a:effectLst/>
      </p:bgPr>
    </p:bg>
    <p:spTree>
      <p:nvGrpSpPr>
        <p:cNvPr id="1" name=""/>
        <p:cNvGrpSpPr/>
        <p:nvPr/>
      </p:nvGrpSpPr>
      <p:grpSpPr>
        <a:xfrm>
          <a:off x="0" y="0"/>
          <a:ext cx="0" cy="0"/>
          <a:chOff x="0" y="0"/>
          <a:chExt cx="0" cy="0"/>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grpSp>
        <p:nvGrpSpPr>
          <p:cNvPr id="18" name="组合 17"/>
          <p:cNvGrpSpPr/>
          <p:nvPr userDrawn="1"/>
        </p:nvGrpSpPr>
        <p:grpSpPr>
          <a:xfrm>
            <a:off x="0" y="6942143"/>
            <a:ext cx="12192000" cy="614361"/>
            <a:chOff x="0" y="6942143"/>
            <a:chExt cx="12192000" cy="614361"/>
          </a:xfrm>
        </p:grpSpPr>
        <p:sp>
          <p:nvSpPr>
            <p:cNvPr id="19"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20" name="矩形 19"/>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目录页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22" name="矩形 21"/>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5" name="矩形 2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2" name="图形 25"/>
          <p:cNvPicPr>
            <a:picLocks noChangeAspect="1"/>
          </p:cNvPicPr>
          <p:nvPr userDrawn="1"/>
        </p:nvPicPr>
        <p:blipFill>
          <a:blip r:embed="rId2"/>
          <a:stretch>
            <a:fillRect/>
          </a:stretch>
        </p:blipFill>
        <p:spPr>
          <a:xfrm>
            <a:off x="9961704" y="264695"/>
            <a:ext cx="1750871" cy="381600"/>
          </a:xfrm>
          <a:prstGeom prst="rect">
            <a:avLst/>
          </a:prstGeom>
        </p:spPr>
      </p:pic>
      <p:sp>
        <p:nvSpPr>
          <p:cNvPr id="11" name="文本占位符 6"/>
          <p:cNvSpPr>
            <a:spLocks noGrp="1"/>
          </p:cNvSpPr>
          <p:nvPr>
            <p:ph type="body" sz="quarter" idx="12" hasCustomPrompt="1"/>
          </p:nvPr>
        </p:nvSpPr>
        <p:spPr>
          <a:xfrm>
            <a:off x="477723" y="175966"/>
            <a:ext cx="9218727"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目录</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023解放正文页-1">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0" name="文本占位符 6"/>
          <p:cNvSpPr>
            <a:spLocks noGrp="1"/>
          </p:cNvSpPr>
          <p:nvPr>
            <p:ph type="body" sz="quarter" idx="13" hasCustomPrompt="1"/>
          </p:nvPr>
        </p:nvSpPr>
        <p:spPr>
          <a:xfrm>
            <a:off x="477723" y="1063639"/>
            <a:ext cx="11231448" cy="468452"/>
          </a:xfrm>
          <a:prstGeom prst="rect">
            <a:avLst/>
          </a:prstGeom>
        </p:spPr>
        <p:txBody>
          <a:bodyPr lIns="72886" tIns="36443" rIns="72886" bIns="36443" anchor="t" anchorCtr="0"/>
          <a:lstStyle>
            <a:lvl1pPr marL="0" indent="0">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单击此处编辑标题</a:t>
            </a:r>
            <a:endParaRPr lang="zh-CN" altLang="en-US" dirty="0"/>
          </a:p>
        </p:txBody>
      </p:sp>
      <p:sp>
        <p:nvSpPr>
          <p:cNvPr id="21" name="文本占位符 6"/>
          <p:cNvSpPr>
            <a:spLocks noGrp="1"/>
          </p:cNvSpPr>
          <p:nvPr>
            <p:ph type="body" sz="quarter" idx="14" hasCustomPrompt="1"/>
          </p:nvPr>
        </p:nvSpPr>
        <p:spPr>
          <a:xfrm>
            <a:off x="477723" y="1532091"/>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8" name="直接连接符 7"/>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2" name="矩形 2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6"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023解放正文页-2">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1" name="文本占位符 6"/>
          <p:cNvSpPr>
            <a:spLocks noGrp="1"/>
          </p:cNvSpPr>
          <p:nvPr>
            <p:ph type="body" sz="quarter" idx="14" hasCustomPrompt="1"/>
          </p:nvPr>
        </p:nvSpPr>
        <p:spPr>
          <a:xfrm>
            <a:off x="477723" y="1052513"/>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6" name="直接连接符 5"/>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0" name="矩形 19"/>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5"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tags" Target="../tags/tag1.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3.xml"/><Relationship Id="rId7" Type="http://schemas.openxmlformats.org/officeDocument/2006/relationships/image" Target="../media/image13.wmf"/><Relationship Id="rId6" Type="http://schemas.openxmlformats.org/officeDocument/2006/relationships/oleObject" Target="../embeddings/oleObject2.bin"/><Relationship Id="rId5" Type="http://schemas.openxmlformats.org/officeDocument/2006/relationships/image" Target="../media/image12.wmf"/><Relationship Id="rId4" Type="http://schemas.openxmlformats.org/officeDocument/2006/relationships/oleObject" Target="../embeddings/oleObject1.bin"/><Relationship Id="rId3" Type="http://schemas.openxmlformats.org/officeDocument/2006/relationships/image" Target="../media/image11.wmf"/><Relationship Id="rId2" Type="http://schemas.openxmlformats.org/officeDocument/2006/relationships/package" Target="../embeddings/Workbook1.xlsx"/><Relationship Id="rId11" Type="http://schemas.openxmlformats.org/officeDocument/2006/relationships/vmlDrawing" Target="../drawings/vmlDrawing1.vml"/><Relationship Id="rId10" Type="http://schemas.openxmlformats.org/officeDocument/2006/relationships/slideLayout" Target="../slideLayouts/slideLayout4.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sz="2400" dirty="0">
                <a:solidFill>
                  <a:schemeClr val="accent1"/>
                </a:solidFill>
                <a:latin typeface="+mj-lt"/>
                <a:sym typeface="+mn-ea"/>
              </a:rPr>
              <a:t>4500-27</a:t>
            </a:r>
            <a:r>
              <a:rPr lang="zh-CN" altLang="en-US" sz="2400" dirty="0">
                <a:solidFill>
                  <a:schemeClr val="accent1"/>
                </a:solidFill>
                <a:latin typeface="+mj-lt"/>
                <a:sym typeface="+mn-ea"/>
              </a:rPr>
              <a:t>型整车</a:t>
            </a:r>
            <a:r>
              <a:rPr lang="en-US" altLang="zh-CN" sz="2400" dirty="0">
                <a:solidFill>
                  <a:schemeClr val="accent1"/>
                </a:solidFill>
                <a:latin typeface="+mj-lt"/>
                <a:sym typeface="+mn-ea"/>
              </a:rPr>
              <a:t>/</a:t>
            </a:r>
            <a:r>
              <a:rPr lang="zh-CN" altLang="en-US" sz="2400" dirty="0">
                <a:solidFill>
                  <a:schemeClr val="accent1"/>
                </a:solidFill>
                <a:latin typeface="+mj-lt"/>
                <a:sym typeface="+mn-ea"/>
              </a:rPr>
              <a:t>车载脉冲</a:t>
            </a:r>
            <a:r>
              <a:rPr lang="zh-CN" altLang="en-US" sz="2400" dirty="0">
                <a:solidFill>
                  <a:schemeClr val="accent1"/>
                </a:solidFill>
                <a:latin typeface="+mj-lt"/>
                <a:sym typeface="+mn-ea"/>
              </a:rPr>
              <a:t>加热可行性分析</a:t>
            </a:r>
            <a:endParaRPr lang="zh-CN" altLang="en-US" sz="2400" dirty="0">
              <a:solidFill>
                <a:schemeClr val="accent1"/>
              </a:solidFill>
              <a:latin typeface="+mj-lt"/>
              <a:sym typeface="+mn-ea"/>
            </a:endParaRPr>
          </a:p>
        </p:txBody>
      </p:sp>
      <p:sp>
        <p:nvSpPr>
          <p:cNvPr id="11" name="文本框 10"/>
          <p:cNvSpPr txBox="1"/>
          <p:nvPr/>
        </p:nvSpPr>
        <p:spPr>
          <a:xfrm>
            <a:off x="479425" y="908685"/>
            <a:ext cx="11242675" cy="571157"/>
          </a:xfrm>
          <a:prstGeom prst="rect">
            <a:avLst/>
          </a:prstGeom>
          <a:noFill/>
        </p:spPr>
        <p:txBody>
          <a:bodyPr wrap="square" lIns="36000" tIns="36000" rIns="36000" bIns="36000" rtlCol="0">
            <a:noAutofit/>
          </a:bodyPr>
          <a:lstStyle/>
          <a:p>
            <a:pPr marL="285750" indent="-285750">
              <a:spcBef>
                <a:spcPts val="600"/>
              </a:spcBef>
              <a:buFont typeface="Wingdings" panose="05000000000000000000" charset="0"/>
              <a:buChar char="p"/>
            </a:pPr>
            <a:r>
              <a:rPr lang="zh-CN"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主加热方案：</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三包并联整体输出 + 双电机同步脉冲</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600"/>
              </a:spcBef>
              <a:buFont typeface="Wingdings" panose="05000000000000000000" charset="0"/>
              <a:buChar char="p"/>
            </a:pPr>
            <a:r>
              <a:rPr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默认工况</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：-20°C、50%SOC、1250 Hz、duty=0.50、电机短时边界550 Arms</a:t>
            </a:r>
            <a:r>
              <a:rPr 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模型参数采用</a:t>
            </a:r>
            <a:r>
              <a:rPr 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低频测试数据。</a:t>
            </a:r>
            <a:endParaRPr 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6" name="组合 45"/>
          <p:cNvGrpSpPr/>
          <p:nvPr/>
        </p:nvGrpSpPr>
        <p:grpSpPr>
          <a:xfrm>
            <a:off x="477520" y="1556385"/>
            <a:ext cx="11165840" cy="723265"/>
            <a:chOff x="628" y="2338"/>
            <a:chExt cx="17760" cy="1440"/>
          </a:xfrm>
        </p:grpSpPr>
        <p:sp>
          <p:nvSpPr>
            <p:cNvPr id="3" name="矩形 2"/>
            <p:cNvSpPr>
              <a:spLocks noGrp="1"/>
            </p:cNvSpPr>
            <p:nvPr/>
          </p:nvSpPr>
          <p:spPr>
            <a:xfrm>
              <a:off x="628" y="2338"/>
              <a:ext cx="2700" cy="1440"/>
            </a:xfrm>
            <a:prstGeom prst="rect">
              <a:avLst/>
            </a:prstGeom>
            <a:solidFill>
              <a:srgbClr val="FFFFFF"/>
            </a:solidFill>
            <a:ln w="9525">
              <a:solidFill>
                <a:schemeClr val="accent2">
                  <a:lumMod val="60000"/>
                  <a:lumOff val="40000"/>
                </a:schemeClr>
              </a:solidFill>
              <a:prstDash val="solid"/>
            </a:ln>
          </p:spPr>
        </p:sp>
        <p:sp>
          <p:nvSpPr>
            <p:cNvPr id="8" name="矩形 7"/>
            <p:cNvSpPr>
              <a:spLocks noGrp="1"/>
            </p:cNvSpPr>
            <p:nvPr/>
          </p:nvSpPr>
          <p:spPr>
            <a:xfrm>
              <a:off x="868" y="254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初始温升速率</a:t>
              </a:r>
              <a:endPar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a:spLocks noGrp="1"/>
            </p:cNvSpPr>
            <p:nvPr/>
          </p:nvSpPr>
          <p:spPr>
            <a:xfrm>
              <a:off x="868" y="2863"/>
              <a:ext cx="246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rPr>
                <a:t>1.43 °C/min</a:t>
              </a:r>
              <a:endPar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a:spLocks noGrp="1"/>
            </p:cNvSpPr>
            <p:nvPr/>
          </p:nvSpPr>
          <p:spPr>
            <a:xfrm>
              <a:off x="868" y="338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三包并联双电机</a:t>
              </a:r>
              <a:endPar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a:spLocks noGrp="1"/>
            </p:cNvSpPr>
            <p:nvPr/>
          </p:nvSpPr>
          <p:spPr>
            <a:xfrm>
              <a:off x="3568" y="2338"/>
              <a:ext cx="2700" cy="1440"/>
            </a:xfrm>
            <a:prstGeom prst="rect">
              <a:avLst/>
            </a:prstGeom>
            <a:solidFill>
              <a:srgbClr val="FFFFFF"/>
            </a:solidFill>
            <a:ln w="9525">
              <a:solidFill>
                <a:schemeClr val="accent2">
                  <a:lumMod val="60000"/>
                  <a:lumOff val="40000"/>
                </a:schemeClr>
              </a:solidFill>
              <a:prstDash val="solid"/>
            </a:ln>
          </p:spPr>
        </p:sp>
        <p:sp>
          <p:nvSpPr>
            <p:cNvPr id="5" name="矩形 4"/>
            <p:cNvSpPr>
              <a:spLocks noGrp="1"/>
            </p:cNvSpPr>
            <p:nvPr/>
          </p:nvSpPr>
          <p:spPr>
            <a:xfrm>
              <a:off x="3808" y="254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升至0°C时间</a:t>
              </a:r>
              <a:endPar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a:spLocks noGrp="1"/>
            </p:cNvSpPr>
            <p:nvPr/>
          </p:nvSpPr>
          <p:spPr>
            <a:xfrm>
              <a:off x="3808" y="2863"/>
              <a:ext cx="222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rPr>
                <a:t>17.7 min</a:t>
              </a:r>
              <a:endPar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15"/>
            <p:cNvSpPr>
              <a:spLocks noGrp="1"/>
            </p:cNvSpPr>
            <p:nvPr/>
          </p:nvSpPr>
          <p:spPr>
            <a:xfrm>
              <a:off x="3808" y="338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lang="en-US"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2</a:t>
              </a:r>
              <a:r>
                <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0 min内达到目标</a:t>
              </a:r>
              <a:endPar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a:spLocks noGrp="1"/>
            </p:cNvSpPr>
            <p:nvPr/>
          </p:nvSpPr>
          <p:spPr>
            <a:xfrm>
              <a:off x="6508" y="2338"/>
              <a:ext cx="2700" cy="1440"/>
            </a:xfrm>
            <a:prstGeom prst="rect">
              <a:avLst/>
            </a:prstGeom>
            <a:solidFill>
              <a:srgbClr val="FFFFFF"/>
            </a:solidFill>
            <a:ln w="9525">
              <a:solidFill>
                <a:schemeClr val="accent2">
                  <a:lumMod val="60000"/>
                  <a:lumOff val="40000"/>
                </a:schemeClr>
              </a:solidFill>
              <a:prstDash val="solid"/>
            </a:ln>
          </p:spPr>
        </p:sp>
        <p:sp>
          <p:nvSpPr>
            <p:cNvPr id="18" name="矩形 17"/>
            <p:cNvSpPr>
              <a:spLocks noGrp="1"/>
            </p:cNvSpPr>
            <p:nvPr/>
          </p:nvSpPr>
          <p:spPr>
            <a:xfrm>
              <a:off x="6748" y="254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30 min末温</a:t>
              </a:r>
              <a:endPar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18"/>
            <p:cNvSpPr>
              <a:spLocks noGrp="1"/>
            </p:cNvSpPr>
            <p:nvPr/>
          </p:nvSpPr>
          <p:spPr>
            <a:xfrm>
              <a:off x="6748" y="2863"/>
              <a:ext cx="222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rPr>
                <a:t>9.0 °C</a:t>
              </a:r>
              <a:endParaRPr sz="1875" b="1">
                <a:solidFill>
                  <a:srgbClr val="1B8A5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矩形 21"/>
            <p:cNvSpPr>
              <a:spLocks noGrp="1"/>
            </p:cNvSpPr>
            <p:nvPr/>
          </p:nvSpPr>
          <p:spPr>
            <a:xfrm>
              <a:off x="6748" y="338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由-20°C起算</a:t>
              </a:r>
              <a:endPar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矩形 25"/>
            <p:cNvSpPr>
              <a:spLocks noGrp="1"/>
            </p:cNvSpPr>
            <p:nvPr/>
          </p:nvSpPr>
          <p:spPr>
            <a:xfrm>
              <a:off x="9448" y="2338"/>
              <a:ext cx="2700" cy="1440"/>
            </a:xfrm>
            <a:prstGeom prst="rect">
              <a:avLst/>
            </a:prstGeom>
            <a:solidFill>
              <a:srgbClr val="FFFFFF"/>
            </a:solidFill>
            <a:ln w="9525">
              <a:solidFill>
                <a:schemeClr val="accent2">
                  <a:lumMod val="60000"/>
                  <a:lumOff val="40000"/>
                </a:schemeClr>
              </a:solidFill>
              <a:prstDash val="solid"/>
            </a:ln>
          </p:spPr>
        </p:sp>
        <p:sp>
          <p:nvSpPr>
            <p:cNvPr id="27" name="矩形 26"/>
            <p:cNvSpPr>
              <a:spLocks noGrp="1"/>
            </p:cNvSpPr>
            <p:nvPr/>
          </p:nvSpPr>
          <p:spPr>
            <a:xfrm>
              <a:off x="9688" y="254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30 min SOC消耗</a:t>
              </a:r>
              <a:endPar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7"/>
            <p:cNvSpPr>
              <a:spLocks noGrp="1"/>
            </p:cNvSpPr>
            <p:nvPr/>
          </p:nvSpPr>
          <p:spPr>
            <a:xfrm>
              <a:off x="9688" y="2863"/>
              <a:ext cx="222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rPr>
                <a:t>5.3 %</a:t>
              </a:r>
              <a:endParaRPr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矩形 28"/>
            <p:cNvSpPr>
              <a:spLocks noGrp="1"/>
            </p:cNvSpPr>
            <p:nvPr/>
          </p:nvSpPr>
          <p:spPr>
            <a:xfrm>
              <a:off x="9688" y="338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等效电量消耗</a:t>
              </a:r>
              <a:endPar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矩形 29"/>
            <p:cNvSpPr>
              <a:spLocks noGrp="1"/>
            </p:cNvSpPr>
            <p:nvPr/>
          </p:nvSpPr>
          <p:spPr>
            <a:xfrm>
              <a:off x="12388" y="2338"/>
              <a:ext cx="2700" cy="1440"/>
            </a:xfrm>
            <a:prstGeom prst="rect">
              <a:avLst/>
            </a:prstGeom>
            <a:solidFill>
              <a:srgbClr val="FFFFFF"/>
            </a:solidFill>
            <a:ln w="9525">
              <a:solidFill>
                <a:schemeClr val="accent2">
                  <a:lumMod val="60000"/>
                  <a:lumOff val="40000"/>
                </a:schemeClr>
              </a:solidFill>
              <a:prstDash val="solid"/>
            </a:ln>
          </p:spPr>
        </p:sp>
        <p:sp>
          <p:nvSpPr>
            <p:cNvPr id="33" name="矩形 32"/>
            <p:cNvSpPr>
              <a:spLocks noGrp="1"/>
            </p:cNvSpPr>
            <p:nvPr/>
          </p:nvSpPr>
          <p:spPr>
            <a:xfrm>
              <a:off x="12628" y="254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电池</a:t>
              </a:r>
              <a:r>
                <a:rPr lang="zh-CN"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加热</a:t>
              </a:r>
              <a:r>
                <a:rPr lang="zh-CN"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效率</a:t>
              </a:r>
              <a:endParaRPr lang="zh-CN"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矩形 39"/>
            <p:cNvSpPr>
              <a:spLocks noGrp="1"/>
            </p:cNvSpPr>
            <p:nvPr/>
          </p:nvSpPr>
          <p:spPr>
            <a:xfrm>
              <a:off x="12628" y="2863"/>
              <a:ext cx="222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rPr>
                <a:t>9</a:t>
              </a:r>
              <a:r>
                <a:rPr lang="en-US"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rPr>
                <a:t>2.8%</a:t>
              </a:r>
              <a:endParaRPr lang="en-US" sz="1875" b="1">
                <a:solidFill>
                  <a:srgbClr val="1E5AA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矩形 40"/>
            <p:cNvSpPr>
              <a:spLocks noGrp="1"/>
            </p:cNvSpPr>
            <p:nvPr/>
          </p:nvSpPr>
          <p:spPr>
            <a:xfrm>
              <a:off x="12628" y="3388"/>
              <a:ext cx="222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用于自身发热的能量</a:t>
              </a:r>
              <a:r>
                <a:rPr lang="zh-CN" altLang="en-US"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占比</a:t>
              </a:r>
              <a:endParaRPr lang="zh-CN" altLang="en-US"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矩形 41"/>
            <p:cNvSpPr>
              <a:spLocks noGrp="1"/>
            </p:cNvSpPr>
            <p:nvPr/>
          </p:nvSpPr>
          <p:spPr>
            <a:xfrm>
              <a:off x="15328" y="2338"/>
              <a:ext cx="3060" cy="1440"/>
            </a:xfrm>
            <a:prstGeom prst="rect">
              <a:avLst/>
            </a:prstGeom>
            <a:solidFill>
              <a:srgbClr val="FFFFFF"/>
            </a:solidFill>
            <a:ln w="9525">
              <a:solidFill>
                <a:schemeClr val="accent2">
                  <a:lumMod val="60000"/>
                  <a:lumOff val="40000"/>
                </a:schemeClr>
              </a:solidFill>
              <a:prstDash val="solid"/>
            </a:ln>
          </p:spPr>
        </p:sp>
        <p:sp>
          <p:nvSpPr>
            <p:cNvPr id="43" name="矩形 42"/>
            <p:cNvSpPr>
              <a:spLocks noGrp="1"/>
            </p:cNvSpPr>
            <p:nvPr/>
          </p:nvSpPr>
          <p:spPr>
            <a:xfrm>
              <a:off x="15568" y="2548"/>
              <a:ext cx="258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支路峰值电流</a:t>
              </a:r>
              <a:endParaRPr sz="1000" b="1">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矩形 43"/>
            <p:cNvSpPr>
              <a:spLocks noGrp="1"/>
            </p:cNvSpPr>
            <p:nvPr/>
          </p:nvSpPr>
          <p:spPr>
            <a:xfrm>
              <a:off x="15568" y="2863"/>
              <a:ext cx="2580" cy="5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C97A12"/>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C97A12"/>
                  </a:solidFill>
                  <a:latin typeface="微软雅黑" panose="020B0503020204020204" pitchFamily="34" charset="-122"/>
                  <a:ea typeface="微软雅黑" panose="020B0503020204020204" pitchFamily="34" charset="-122"/>
                  <a:cs typeface="微软雅黑" panose="020B0503020204020204" pitchFamily="34" charset="-122"/>
                </a:rPr>
                <a:t>413 A</a:t>
              </a:r>
              <a:endParaRPr sz="1875" b="1">
                <a:solidFill>
                  <a:srgbClr val="C97A1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矩形 44"/>
            <p:cNvSpPr>
              <a:spLocks noGrp="1"/>
            </p:cNvSpPr>
            <p:nvPr/>
          </p:nvSpPr>
          <p:spPr>
            <a:xfrm>
              <a:off x="15568" y="3388"/>
              <a:ext cx="2580" cy="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defRPr>
              </a:pPr>
              <a:r>
                <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rPr>
                <a:t>高频边界待验证</a:t>
              </a:r>
              <a:endParaRPr sz="825" b="0">
                <a:solidFill>
                  <a:srgbClr val="5B667A"/>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67" name="组合 66"/>
          <p:cNvGrpSpPr/>
          <p:nvPr/>
        </p:nvGrpSpPr>
        <p:grpSpPr>
          <a:xfrm>
            <a:off x="8646795" y="2593340"/>
            <a:ext cx="3190875" cy="3972150"/>
            <a:chOff x="13909" y="4275"/>
            <a:chExt cx="4736" cy="5827"/>
          </a:xfrm>
        </p:grpSpPr>
        <p:sp>
          <p:nvSpPr>
            <p:cNvPr id="54" name="矩形 53"/>
            <p:cNvSpPr>
              <a:spLocks noGrp="1"/>
            </p:cNvSpPr>
            <p:nvPr/>
          </p:nvSpPr>
          <p:spPr>
            <a:xfrm>
              <a:off x="13909" y="4275"/>
              <a:ext cx="4736" cy="5594"/>
            </a:xfrm>
            <a:prstGeom prst="rect">
              <a:avLst/>
            </a:prstGeom>
            <a:noFill/>
            <a:ln w="9525">
              <a:solidFill>
                <a:srgbClr val="D8DEE9"/>
              </a:solidFill>
              <a:prstDash val="solid"/>
            </a:ln>
            <a:extLst>
              <a:ext uri="{909E8E84-426E-40DD-AFC4-6F175D3DCCD1}">
                <a14:hiddenFill xmlns:a14="http://schemas.microsoft.com/office/drawing/2010/main">
                  <a:solidFill>
                    <a:srgbClr val="FFFFFF"/>
                  </a:solidFill>
                </a14:hiddenFill>
              </a:ext>
            </a:extLst>
          </p:spPr>
          <p:txBody>
            <a:bodyPr anchor="t" anchorCtr="0"/>
            <a:p>
              <a:pPr>
                <a:lnSpc>
                  <a:spcPct val="150000"/>
                </a:lnSpc>
              </a:pPr>
              <a:endParaRPr lang="zh-CN" altLang="en-US"/>
            </a:p>
          </p:txBody>
        </p:sp>
        <p:sp>
          <p:nvSpPr>
            <p:cNvPr id="55" name="矩形 54"/>
            <p:cNvSpPr>
              <a:spLocks noGrp="1"/>
            </p:cNvSpPr>
            <p:nvPr/>
          </p:nvSpPr>
          <p:spPr>
            <a:xfrm>
              <a:off x="14094" y="4393"/>
              <a:ext cx="4382" cy="538"/>
            </a:xfrm>
            <a:prstGeom prst="rect">
              <a:avLst/>
            </a:prstGeom>
            <a:solidFill>
              <a:srgbClr val="000000">
                <a:alpha val="0"/>
              </a:srgbClr>
            </a:solidFill>
            <a:ln w="0">
              <a:solidFill>
                <a:srgbClr val="000000">
                  <a:alpha val="0"/>
                </a:srgbClr>
              </a:solidFill>
              <a:prstDash val="solid"/>
            </a:ln>
          </p:spPr>
          <p:txBody>
            <a:bodyPr lIns="0" tIns="0" rIns="0" bIns="0" anchor="t" anchorCtr="0"/>
            <a:lstStyle/>
            <a:p>
              <a:pPr algn="ctr">
                <a:lnSpc>
                  <a:spcPct val="150000"/>
                </a:lnSpc>
                <a:defRPr sz="135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模型搭建内容</a:t>
              </a:r>
              <a:endParaRPr sz="135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 name="矩形 56"/>
            <p:cNvSpPr>
              <a:spLocks noGrp="1"/>
            </p:cNvSpPr>
            <p:nvPr/>
          </p:nvSpPr>
          <p:spPr>
            <a:xfrm>
              <a:off x="14094" y="4973"/>
              <a:ext cx="4066" cy="5129"/>
            </a:xfrm>
            <a:prstGeom prst="rect">
              <a:avLst/>
            </a:prstGeom>
            <a:solidFill>
              <a:srgbClr val="000000">
                <a:alpha val="0"/>
              </a:srgbClr>
            </a:solidFill>
            <a:ln w="0">
              <a:solidFill>
                <a:srgbClr val="000000">
                  <a:alpha val="0"/>
                </a:srgbClr>
              </a:solidFill>
              <a:prstDash val="solid"/>
            </a:ln>
          </p:spPr>
          <p:txBody>
            <a:bodyPr lIns="0" tIns="0" rIns="0" bIns="0" anchor="t" anchorCtr="0"/>
            <a:lstStyle/>
            <a:p>
              <a:pPr marL="228600" indent="-228600" algn="l">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sz="105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电路配置：</a:t>
              </a:r>
              <a:r>
                <a:rPr lang="zh-CN"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三</a:t>
              </a:r>
              <a:r>
                <a: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个252S/278Ah电池包并联，双CAM255PT56电机/控制器接入母线。</a:t>
              </a:r>
              <a:endPara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l">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b="1">
                  <a:sym typeface="+mn-ea"/>
                </a:rPr>
                <a:t>电路</a:t>
              </a:r>
              <a:r>
                <a:rPr lang="zh-CN" b="1">
                  <a:sym typeface="+mn-ea"/>
                </a:rPr>
                <a:t>约束</a:t>
              </a:r>
              <a:r>
                <a:rPr b="1">
                  <a:sym typeface="+mn-ea"/>
                </a:rPr>
                <a:t>：</a:t>
              </a:r>
              <a:r>
                <a:rPr>
                  <a:sym typeface="+mn-ea"/>
                </a:rPr>
                <a:t>电机</a:t>
              </a:r>
              <a:r>
                <a:rPr lang="zh-CN">
                  <a:sym typeface="+mn-ea"/>
                </a:rPr>
                <a:t>最大</a:t>
              </a:r>
              <a:r>
                <a:rPr>
                  <a:sym typeface="+mn-ea"/>
                </a:rPr>
                <a:t>RMS</a:t>
              </a:r>
              <a:r>
                <a:rPr lang="zh-CN">
                  <a:sym typeface="+mn-ea"/>
                </a:rPr>
                <a:t>电流</a:t>
              </a:r>
              <a:r>
                <a:rPr>
                  <a:sym typeface="+mn-ea"/>
                </a:rPr>
                <a:t>限制、</a:t>
              </a:r>
              <a:r>
                <a:rPr lang="zh-CN">
                  <a:sym typeface="+mn-ea"/>
                </a:rPr>
                <a:t>控制器频率范围限制，电池高频下充放电窗口（暂无）。</a:t>
              </a:r>
              <a:endParaRPr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l">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b="1">
                  <a:sym typeface="+mn-ea"/>
                </a:rPr>
                <a:t>主方案：</a:t>
              </a:r>
              <a:r>
                <a:rPr>
                  <a:sym typeface="+mn-ea"/>
                </a:rPr>
                <a:t>三包作为不可拆分并联系统共同参与，双电机同步施加堵转脉冲。</a:t>
              </a:r>
              <a:r>
                <a:rPr lang="zh-CN">
                  <a:sym typeface="+mn-ea"/>
                </a:rPr>
                <a:t>加热</a:t>
              </a:r>
              <a:r>
                <a:rPr lang="zh-CN">
                  <a:sym typeface="+mn-ea"/>
                </a:rPr>
                <a:t>效果见上图。</a:t>
              </a:r>
              <a:endParaRPr>
                <a:sym typeface="+mn-ea"/>
              </a:endParaRPr>
            </a:p>
            <a:p>
              <a:pPr marL="228600" indent="-228600" algn="l">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b="1">
                  <a:sym typeface="+mn-ea"/>
                </a:rPr>
                <a:t>对照方案：</a:t>
              </a:r>
              <a:r>
                <a:rPr>
                  <a:sym typeface="+mn-ea"/>
                </a:rPr>
                <a:t>单电机脉冲温升偏弱，30 min末温约-10.3°C，不建议</a:t>
              </a:r>
              <a:r>
                <a:rPr lang="zh-CN">
                  <a:sym typeface="+mn-ea"/>
                </a:rPr>
                <a:t>执行</a:t>
              </a:r>
              <a:r>
                <a:rPr>
                  <a:sym typeface="+mn-ea"/>
                </a:rPr>
                <a:t>。</a:t>
              </a:r>
              <a:endParaRPr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l">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endParaRPr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l">
                <a:lnSpc>
                  <a:spcPct val="15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endPara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68" name="图片 67" descr="4500-27实车约束 汇报图1 原理与默认工况"/>
          <p:cNvPicPr>
            <a:picLocks noChangeAspect="1"/>
          </p:cNvPicPr>
          <p:nvPr/>
        </p:nvPicPr>
        <p:blipFill>
          <a:blip r:embed="rId1"/>
          <a:stretch>
            <a:fillRect/>
          </a:stretch>
        </p:blipFill>
        <p:spPr>
          <a:xfrm>
            <a:off x="262890" y="2449830"/>
            <a:ext cx="8280400" cy="4187190"/>
          </a:xfrm>
          <a:prstGeom prst="rect">
            <a:avLst/>
          </a:prstGeom>
        </p:spPr>
      </p:pic>
      <p:sp>
        <p:nvSpPr>
          <p:cNvPr id="69" name="文本框 68"/>
          <p:cNvSpPr txBox="1"/>
          <p:nvPr/>
        </p:nvSpPr>
        <p:spPr>
          <a:xfrm>
            <a:off x="7720330" y="1444625"/>
            <a:ext cx="4064000" cy="914400"/>
          </a:xfrm>
          <a:prstGeom prst="rect">
            <a:avLst/>
          </a:prstGeom>
          <a:noFill/>
        </p:spPr>
        <p:txBody>
          <a:bodyPr wrap="square" lIns="36000" tIns="36000" rIns="36000" bIns="36000" rtlCol="0">
            <a:noAutofit/>
          </a:bodyPr>
          <a:p>
            <a:pPr algn="l">
              <a:spcBef>
                <a:spcPts val="600"/>
              </a:spcBef>
            </a:pPr>
            <a:endParaRPr lang="zh-CN" altLang="en-US" dirty="0" err="1" smtClean="0">
              <a:solidFill>
                <a:srgbClr val="003B90"/>
              </a:solidFill>
              <a:latin typeface="+mj-lt"/>
            </a:endParaRPr>
          </a:p>
        </p:txBody>
      </p:sp>
      <p:sp>
        <p:nvSpPr>
          <p:cNvPr id="70" name="文本框 69"/>
          <p:cNvSpPr txBox="1"/>
          <p:nvPr/>
        </p:nvSpPr>
        <p:spPr>
          <a:xfrm>
            <a:off x="10260330" y="2668905"/>
            <a:ext cx="4064000" cy="914400"/>
          </a:xfrm>
          <a:prstGeom prst="rect">
            <a:avLst/>
          </a:prstGeom>
          <a:noFill/>
        </p:spPr>
        <p:txBody>
          <a:bodyPr wrap="square" lIns="36000" tIns="36000" rIns="36000" bIns="36000" rtlCol="0">
            <a:noAutofit/>
          </a:bodyPr>
          <a:p>
            <a:pPr algn="l">
              <a:spcBef>
                <a:spcPts val="600"/>
              </a:spcBef>
            </a:pPr>
            <a:endParaRPr lang="zh-CN" altLang="en-US" dirty="0" err="1" smtClean="0">
              <a:solidFill>
                <a:srgbClr val="003B90"/>
              </a:solidFill>
              <a:latin typeface="+mj-lt"/>
            </a:endParaRPr>
          </a:p>
        </p:txBody>
      </p:sp>
      <p:sp>
        <p:nvSpPr>
          <p:cNvPr id="6" name="文本框 5"/>
          <p:cNvSpPr txBox="1"/>
          <p:nvPr/>
        </p:nvSpPr>
        <p:spPr>
          <a:xfrm>
            <a:off x="5447665" y="5733415"/>
            <a:ext cx="673100" cy="302895"/>
          </a:xfrm>
          <a:prstGeom prst="rect">
            <a:avLst/>
          </a:prstGeom>
          <a:noFill/>
        </p:spPr>
        <p:txBody>
          <a:bodyPr wrap="square" lIns="36000" tIns="36000" rIns="36000" bIns="36000" rtlCol="0">
            <a:noAutofit/>
          </a:bodyPr>
          <a:p>
            <a:pPr algn="l">
              <a:spcBef>
                <a:spcPts val="600"/>
              </a:spcBef>
            </a:pPr>
            <a:r>
              <a:rPr lang="zh-CN" altLang="en-US" sz="1200" dirty="0" err="1" smtClean="0">
                <a:solidFill>
                  <a:srgbClr val="152A8C"/>
                </a:solidFill>
                <a:latin typeface="+mj-lt"/>
              </a:rPr>
              <a:t>单电机</a:t>
            </a:r>
            <a:endParaRPr lang="zh-CN" altLang="en-US" sz="1200" dirty="0" err="1" smtClean="0">
              <a:solidFill>
                <a:srgbClr val="152A8C"/>
              </a:solidFill>
              <a:latin typeface="+mj-lt"/>
            </a:endParaRPr>
          </a:p>
        </p:txBody>
      </p:sp>
      <p:sp>
        <p:nvSpPr>
          <p:cNvPr id="7" name="文本框 6"/>
          <p:cNvSpPr txBox="1"/>
          <p:nvPr/>
        </p:nvSpPr>
        <p:spPr>
          <a:xfrm>
            <a:off x="5447665" y="4653280"/>
            <a:ext cx="673100" cy="302895"/>
          </a:xfrm>
          <a:prstGeom prst="rect">
            <a:avLst/>
          </a:prstGeom>
          <a:noFill/>
        </p:spPr>
        <p:txBody>
          <a:bodyPr wrap="square" lIns="36000" tIns="36000" rIns="36000" bIns="36000" rtlCol="0">
            <a:noAutofit/>
          </a:bodyPr>
          <a:p>
            <a:pPr algn="l">
              <a:spcBef>
                <a:spcPts val="600"/>
              </a:spcBef>
            </a:pPr>
            <a:r>
              <a:rPr lang="zh-CN" altLang="en-US" sz="1200" dirty="0" err="1" smtClean="0">
                <a:solidFill>
                  <a:srgbClr val="F5B482"/>
                </a:solidFill>
                <a:latin typeface="+mj-lt"/>
              </a:rPr>
              <a:t>双电机</a:t>
            </a:r>
            <a:endParaRPr lang="zh-CN" altLang="en-US" sz="1200" dirty="0" err="1" smtClean="0">
              <a:solidFill>
                <a:srgbClr val="F5B482"/>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sz="2400" dirty="0">
                <a:solidFill>
                  <a:schemeClr val="accent1"/>
                </a:solidFill>
                <a:latin typeface="+mj-lt"/>
                <a:sym typeface="+mn-ea"/>
              </a:rPr>
              <a:t>4500-27</a:t>
            </a:r>
            <a:r>
              <a:rPr lang="zh-CN" altLang="en-US" sz="2400" dirty="0">
                <a:solidFill>
                  <a:schemeClr val="accent1"/>
                </a:solidFill>
                <a:latin typeface="+mj-lt"/>
                <a:sym typeface="+mn-ea"/>
              </a:rPr>
              <a:t>型整车</a:t>
            </a:r>
            <a:r>
              <a:rPr lang="en-US" altLang="zh-CN" sz="2400" dirty="0">
                <a:solidFill>
                  <a:schemeClr val="accent1"/>
                </a:solidFill>
                <a:latin typeface="+mj-lt"/>
                <a:sym typeface="+mn-ea"/>
              </a:rPr>
              <a:t>/</a:t>
            </a:r>
            <a:r>
              <a:rPr lang="zh-CN" altLang="en-US" sz="2400" dirty="0">
                <a:solidFill>
                  <a:schemeClr val="accent1"/>
                </a:solidFill>
                <a:latin typeface="+mj-lt"/>
                <a:sym typeface="+mn-ea"/>
              </a:rPr>
              <a:t>车载</a:t>
            </a:r>
            <a:r>
              <a:rPr lang="zh-CN" altLang="en-US" sz="2400" dirty="0">
                <a:solidFill>
                  <a:schemeClr val="accent1"/>
                </a:solidFill>
                <a:latin typeface="+mj-lt"/>
                <a:sym typeface="+mn-ea"/>
              </a:rPr>
              <a:t>脉冲</a:t>
            </a:r>
            <a:r>
              <a:rPr lang="zh-CN" altLang="en-US" sz="2400" dirty="0">
                <a:solidFill>
                  <a:schemeClr val="accent1"/>
                </a:solidFill>
                <a:latin typeface="+mj-lt"/>
                <a:sym typeface="+mn-ea"/>
              </a:rPr>
              <a:t>加热可行性分析</a:t>
            </a:r>
            <a:endParaRPr lang="zh-CN" altLang="en-US" sz="2400" dirty="0">
              <a:solidFill>
                <a:schemeClr val="accent1"/>
              </a:solidFill>
              <a:latin typeface="+mj-lt"/>
              <a:sym typeface="+mn-ea"/>
            </a:endParaRPr>
          </a:p>
        </p:txBody>
      </p:sp>
      <p:sp>
        <p:nvSpPr>
          <p:cNvPr id="11" name="文本框 10"/>
          <p:cNvSpPr txBox="1"/>
          <p:nvPr/>
        </p:nvSpPr>
        <p:spPr>
          <a:xfrm>
            <a:off x="479425" y="908685"/>
            <a:ext cx="11242675" cy="883285"/>
          </a:xfrm>
          <a:prstGeom prst="rect">
            <a:avLst/>
          </a:prstGeom>
          <a:noFill/>
        </p:spPr>
        <p:txBody>
          <a:bodyPr wrap="square" lIns="36000" tIns="36000" rIns="36000" bIns="36000" rtlCol="0">
            <a:noAutofit/>
          </a:bodyPr>
          <a:lstStyle/>
          <a:p>
            <a:pPr marL="285750" indent="-285750">
              <a:spcBef>
                <a:spcPts val="600"/>
              </a:spcBef>
              <a:buFont typeface="Wingdings" panose="05000000000000000000" charset="0"/>
              <a:buChar char="p"/>
            </a:pP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敏感性分析：</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有效电流是决定加热能力的核心中间</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变量，</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其值由频率、占空比、电压调制策略共同决定。</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spcBef>
                <a:spcPts val="600"/>
              </a:spcBef>
              <a:buFont typeface="Wingdings" panose="05000000000000000000" charset="0"/>
              <a:buChar char="p"/>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技术风险：</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电池充放电窗口限制；</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电气设备承受峰值电流压力；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双电机高频同步精确控制的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能力。</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4" name="图片 33" descr="4500-27实车约束 汇报图2 双电机性能敏感性"/>
          <p:cNvPicPr>
            <a:picLocks noChangeAspect="1"/>
          </p:cNvPicPr>
          <p:nvPr/>
        </p:nvPicPr>
        <p:blipFill>
          <a:blip r:embed="rId1"/>
          <a:stretch>
            <a:fillRect/>
          </a:stretch>
        </p:blipFill>
        <p:spPr>
          <a:xfrm>
            <a:off x="3240405" y="1816100"/>
            <a:ext cx="8866505" cy="4502150"/>
          </a:xfrm>
          <a:prstGeom prst="rect">
            <a:avLst/>
          </a:prstGeom>
        </p:spPr>
      </p:pic>
      <p:grpSp>
        <p:nvGrpSpPr>
          <p:cNvPr id="3" name="组合 2"/>
          <p:cNvGrpSpPr/>
          <p:nvPr/>
        </p:nvGrpSpPr>
        <p:grpSpPr>
          <a:xfrm>
            <a:off x="144145" y="1840230"/>
            <a:ext cx="2952750" cy="4603088"/>
            <a:chOff x="227" y="3359"/>
            <a:chExt cx="4650" cy="7531"/>
          </a:xfrm>
        </p:grpSpPr>
        <p:sp>
          <p:nvSpPr>
            <p:cNvPr id="47" name="矩形 46"/>
            <p:cNvSpPr>
              <a:spLocks noGrp="1"/>
            </p:cNvSpPr>
            <p:nvPr/>
          </p:nvSpPr>
          <p:spPr>
            <a:xfrm>
              <a:off x="227" y="3359"/>
              <a:ext cx="4650" cy="7531"/>
            </a:xfrm>
            <a:prstGeom prst="rect">
              <a:avLst/>
            </a:prstGeom>
            <a:noFill/>
            <a:ln w="9525">
              <a:solidFill>
                <a:srgbClr val="D8DEE9"/>
              </a:solidFill>
              <a:prstDash val="solid"/>
            </a:ln>
            <a:extLst>
              <a:ext uri="{909E8E84-426E-40DD-AFC4-6F175D3DCCD1}">
                <a14:hiddenFill xmlns:a14="http://schemas.microsoft.com/office/drawing/2010/main">
                  <a:solidFill>
                    <a:srgbClr val="FFFFFF"/>
                  </a:solidFill>
                </a14:hiddenFill>
              </a:ext>
            </a:extLst>
          </p:spPr>
          <p:txBody>
            <a:bodyPr anchor="t" anchorCtr="0"/>
            <a:p>
              <a:pPr algn="just">
                <a:lnSpc>
                  <a:spcPct val="150000"/>
                </a:lnSpc>
              </a:pPr>
              <a:endParaRPr lang="zh-CN" altLang="en-US"/>
            </a:p>
          </p:txBody>
        </p:sp>
        <p:sp>
          <p:nvSpPr>
            <p:cNvPr id="48" name="矩形 47"/>
            <p:cNvSpPr>
              <a:spLocks noGrp="1"/>
            </p:cNvSpPr>
            <p:nvPr/>
          </p:nvSpPr>
          <p:spPr>
            <a:xfrm>
              <a:off x="415" y="3486"/>
              <a:ext cx="4462" cy="578"/>
            </a:xfrm>
            <a:prstGeom prst="rect">
              <a:avLst/>
            </a:prstGeom>
            <a:solidFill>
              <a:srgbClr val="000000">
                <a:alpha val="0"/>
              </a:srgbClr>
            </a:solidFill>
            <a:ln w="0">
              <a:solidFill>
                <a:srgbClr val="000000">
                  <a:alpha val="0"/>
                </a:srgbClr>
              </a:solidFill>
              <a:prstDash val="solid"/>
            </a:ln>
          </p:spPr>
          <p:txBody>
            <a:bodyPr lIns="0" tIns="0" rIns="0" bIns="0" anchor="ctr" anchorCtr="0"/>
            <a:lstStyle/>
            <a:p>
              <a:pPr algn="just">
                <a:defRPr sz="135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a:sym typeface="+mn-ea"/>
                </a:rPr>
                <a:t>关键变量</a:t>
              </a:r>
              <a:r>
                <a:rPr lang="en-US" altLang="zh-CN">
                  <a:sym typeface="+mn-ea"/>
                </a:rPr>
                <a:t>-</a:t>
              </a:r>
              <a:r>
                <a:rPr>
                  <a:sym typeface="+mn-ea"/>
                </a:rPr>
                <a:t>敏感性</a:t>
              </a:r>
              <a:r>
                <a:rPr lang="zh-CN" altLang="en-US">
                  <a:solidFill>
                    <a:schemeClr val="tx1"/>
                  </a:solidFill>
                  <a:sym typeface="+mn-ea"/>
                </a:rPr>
                <a:t>分析</a:t>
              </a:r>
              <a:endParaRPr lang="zh-CN">
                <a:sym typeface="+mn-ea"/>
              </a:endParaRPr>
            </a:p>
          </p:txBody>
        </p:sp>
        <p:sp>
          <p:nvSpPr>
            <p:cNvPr id="49" name="矩形 48"/>
            <p:cNvSpPr>
              <a:spLocks noGrp="1"/>
            </p:cNvSpPr>
            <p:nvPr/>
          </p:nvSpPr>
          <p:spPr>
            <a:xfrm>
              <a:off x="415" y="4063"/>
              <a:ext cx="4208" cy="4958"/>
            </a:xfrm>
            <a:prstGeom prst="rect">
              <a:avLst/>
            </a:prstGeom>
            <a:solidFill>
              <a:srgbClr val="000000">
                <a:alpha val="0"/>
              </a:srgbClr>
            </a:solidFill>
            <a:ln w="0">
              <a:solidFill>
                <a:srgbClr val="000000">
                  <a:alpha val="0"/>
                </a:srgbClr>
              </a:solidFill>
              <a:prstDash val="solid"/>
            </a:ln>
          </p:spPr>
          <p:txBody>
            <a:bodyPr lIns="0" tIns="0" rIns="0" bIns="0" anchor="t" anchorCtr="0"/>
            <a:lstStyle/>
            <a:p>
              <a:pPr marL="228600" indent="-228600" algn="just">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sz="110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有效电流</a:t>
              </a:r>
              <a:r>
                <a:rPr sz="1100" b="1">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a:t>
              </a:r>
              <a:r>
                <a:rPr lang="zh-CN" sz="1100">
                  <a:solidFill>
                    <a:srgbClr val="172033"/>
                  </a:solidFill>
                  <a:latin typeface="微软雅黑" panose="020B0503020204020204" pitchFamily="34" charset="-122"/>
                  <a:ea typeface="微软雅黑" panose="020B0503020204020204" pitchFamily="34" charset="-122"/>
                  <a:cs typeface="微软雅黑" panose="020B0503020204020204" pitchFamily="34" charset="-122"/>
                </a:rPr>
                <a:t>若电流提高到</a:t>
              </a:r>
              <a:r>
                <a:rPr sz="1100">
                  <a:sym typeface="+mn-ea"/>
                </a:rPr>
                <a:t>1.2</a:t>
              </a:r>
              <a:r>
                <a:rPr lang="zh-CN" sz="1100">
                  <a:sym typeface="+mn-ea"/>
                </a:rPr>
                <a:t>倍，</a:t>
              </a:r>
              <a:r>
                <a:rPr lang="en-US" altLang="zh-CN" sz="1100">
                  <a:sym typeface="+mn-ea"/>
                </a:rPr>
                <a:t>-20℃</a:t>
              </a:r>
              <a:r>
                <a:rPr lang="zh-CN" sz="1100">
                  <a:sym typeface="+mn-ea"/>
                </a:rPr>
                <a:t>升温至</a:t>
              </a:r>
              <a:r>
                <a:rPr sz="1100">
                  <a:sym typeface="+mn-ea"/>
                </a:rPr>
                <a:t>0°C约12.2 min</a:t>
              </a:r>
              <a:r>
                <a:rPr lang="zh-CN" sz="1100">
                  <a:sym typeface="+mn-ea"/>
                </a:rPr>
                <a:t>，缩短用时</a:t>
              </a:r>
              <a:r>
                <a:rPr lang="en-US" altLang="zh-CN" sz="1100">
                  <a:sym typeface="+mn-ea"/>
                </a:rPr>
                <a:t>30%</a:t>
              </a:r>
              <a:r>
                <a:rPr sz="1100">
                  <a:sym typeface="+mn-ea"/>
                </a:rPr>
                <a:t>。</a:t>
              </a:r>
              <a:endParaRPr sz="1100">
                <a:sym typeface="+mn-ea"/>
              </a:endParaRPr>
            </a:p>
            <a:p>
              <a:pPr marL="171450" indent="-171450" algn="just">
                <a:lnSpc>
                  <a:spcPct val="200000"/>
                </a:lnSpc>
                <a:buFont typeface="Arial" panose="020B0604020202020204" pitchFamily="34" charset="0"/>
                <a:buChar char="•"/>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sz="1100">
                  <a:sym typeface="+mn-ea"/>
                </a:rPr>
                <a:t>有效电流理论极大值为</a:t>
              </a:r>
              <a:r>
                <a:rPr lang="zh-CN" altLang="en-US" sz="1100">
                  <a:sym typeface="+mn-ea"/>
                </a:rPr>
                <a:t>电池通过逆变器和电机绕组形成准短路回路（</a:t>
              </a:r>
              <a:r>
                <a:rPr lang="en-US" altLang="zh-CN" sz="1100">
                  <a:sym typeface="+mn-ea"/>
                </a:rPr>
                <a:t>&gt;2000A</a:t>
              </a:r>
              <a:r>
                <a:rPr lang="zh-CN" altLang="en-US" sz="1100">
                  <a:sym typeface="+mn-ea"/>
                </a:rPr>
                <a:t>）。</a:t>
              </a:r>
              <a:endParaRPr lang="zh-CN" altLang="en-US" sz="1100" b="1">
                <a:sym typeface="+mn-ea"/>
              </a:endParaRPr>
            </a:p>
            <a:p>
              <a:pPr marL="228600" indent="-228600" algn="just">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100" b="1">
                  <a:sym typeface="+mn-ea"/>
                </a:rPr>
                <a:t>脉冲频率</a:t>
              </a:r>
              <a:r>
                <a:rPr sz="1100" b="1">
                  <a:sym typeface="+mn-ea"/>
                </a:rPr>
                <a:t>：</a:t>
              </a:r>
              <a:r>
                <a:rPr lang="zh-CN" sz="1100">
                  <a:sym typeface="+mn-ea"/>
                </a:rPr>
                <a:t>低频使电流爬升更充分，有效电流更大，</a:t>
              </a:r>
              <a:r>
                <a:rPr sz="1100">
                  <a:sym typeface="+mn-ea"/>
                </a:rPr>
                <a:t>1250 Hz加热能力明显优于</a:t>
              </a:r>
              <a:r>
                <a:rPr lang="zh-CN" sz="1100">
                  <a:sym typeface="+mn-ea"/>
                </a:rPr>
                <a:t>更高频率</a:t>
              </a:r>
              <a:r>
                <a:rPr sz="1100">
                  <a:sym typeface="+mn-ea"/>
                </a:rPr>
                <a:t>。</a:t>
              </a:r>
              <a:endParaRPr sz="110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just">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lang="zh-CN" sz="1100" b="1">
                  <a:sym typeface="+mn-ea"/>
                </a:rPr>
                <a:t>环境散热</a:t>
              </a:r>
              <a:r>
                <a:rPr sz="1100" b="1">
                  <a:sym typeface="+mn-ea"/>
                </a:rPr>
                <a:t>：</a:t>
              </a:r>
              <a:r>
                <a:rPr sz="1100">
                  <a:sym typeface="+mn-ea"/>
                </a:rPr>
                <a:t>在弱对流范围内影响有限，但</a:t>
              </a:r>
              <a:r>
                <a:rPr lang="zh-CN" sz="1100">
                  <a:sym typeface="+mn-ea"/>
                </a:rPr>
                <a:t>电池包液冷</a:t>
              </a:r>
              <a:r>
                <a:rPr sz="1100">
                  <a:sym typeface="+mn-ea"/>
                </a:rPr>
                <a:t>真实状态仍需确认。</a:t>
              </a:r>
              <a:endParaRPr sz="110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just">
                <a:lnSpc>
                  <a:spcPct val="200000"/>
                </a:lnSpc>
                <a:buFont typeface="Wingdings" panose="05000000000000000000" charset="0"/>
                <a:buChar char="Ø"/>
                <a:defRPr sz="105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defRPr>
              </a:pPr>
              <a:r>
                <a:rPr sz="1100" b="1">
                  <a:sym typeface="+mn-ea"/>
                </a:rPr>
                <a:t>高频</a:t>
              </a:r>
              <a:r>
                <a:rPr lang="zh-CN" sz="1100" b="1">
                  <a:sym typeface="+mn-ea"/>
                </a:rPr>
                <a:t>内阻</a:t>
              </a:r>
              <a:r>
                <a:rPr sz="1100" b="1">
                  <a:sym typeface="+mn-ea"/>
                </a:rPr>
                <a:t>：</a:t>
              </a:r>
              <a:r>
                <a:rPr lang="zh-CN" sz="1100">
                  <a:sym typeface="+mn-ea"/>
                </a:rPr>
                <a:t>当前电池包内阻采用</a:t>
              </a:r>
              <a:r>
                <a:rPr lang="en-US" altLang="zh-CN" sz="1100">
                  <a:sym typeface="+mn-ea"/>
                </a:rPr>
                <a:t>1s</a:t>
              </a:r>
              <a:r>
                <a:rPr lang="zh-CN" altLang="en-US" sz="1100">
                  <a:sym typeface="+mn-ea"/>
                </a:rPr>
                <a:t>测试数据，若高频下内阻进一步降低到</a:t>
              </a:r>
              <a:r>
                <a:rPr lang="en-US" altLang="zh-CN" sz="1100">
                  <a:sym typeface="+mn-ea"/>
                </a:rPr>
                <a:t>0.5</a:t>
              </a:r>
              <a:r>
                <a:rPr lang="zh-CN" altLang="en-US" sz="1100">
                  <a:sym typeface="+mn-ea"/>
                </a:rPr>
                <a:t>倍以下，则加热明显不足。</a:t>
              </a:r>
              <a:endParaRPr sz="1100" b="0">
                <a:solidFill>
                  <a:srgbClr val="172033"/>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4500-27 双电机同步相关性曲线"/>
          <p:cNvPicPr/>
          <p:nvPr/>
        </p:nvPicPr>
        <p:blipFill>
          <a:blip r:embed="rId1"/>
          <a:stretch>
            <a:fillRect/>
          </a:stretch>
        </p:blipFill>
        <p:spPr>
          <a:xfrm>
            <a:off x="3215640" y="1916430"/>
            <a:ext cx="8866800" cy="4503600"/>
          </a:xfrm>
          <a:prstGeom prst="rect">
            <a:avLst/>
          </a:prstGeom>
        </p:spPr>
      </p:pic>
      <p:sp>
        <p:nvSpPr>
          <p:cNvPr id="2" name="文本占位符 1"/>
          <p:cNvSpPr>
            <a:spLocks noGrp="1"/>
          </p:cNvSpPr>
          <p:nvPr>
            <p:ph type="body" sz="quarter" idx="12"/>
          </p:nvPr>
        </p:nvSpPr>
        <p:spPr/>
        <p:txBody>
          <a:bodyPr/>
          <a:lstStyle/>
          <a:p>
            <a:r>
              <a:rPr lang="en-US" altLang="zh-CN" sz="2400" dirty="0">
                <a:solidFill>
                  <a:schemeClr val="accent1"/>
                </a:solidFill>
                <a:latin typeface="+mj-lt"/>
                <a:sym typeface="+mn-ea"/>
              </a:rPr>
              <a:t>4500-27</a:t>
            </a:r>
            <a:r>
              <a:rPr lang="zh-CN" altLang="en-US" sz="2400" dirty="0">
                <a:solidFill>
                  <a:schemeClr val="accent1"/>
                </a:solidFill>
                <a:latin typeface="+mj-lt"/>
                <a:sym typeface="+mn-ea"/>
              </a:rPr>
              <a:t>型整车</a:t>
            </a:r>
            <a:r>
              <a:rPr lang="en-US" altLang="zh-CN" sz="2400" dirty="0">
                <a:solidFill>
                  <a:schemeClr val="accent1"/>
                </a:solidFill>
                <a:latin typeface="+mj-lt"/>
                <a:sym typeface="+mn-ea"/>
              </a:rPr>
              <a:t>/</a:t>
            </a:r>
            <a:r>
              <a:rPr lang="zh-CN" altLang="en-US" sz="2400" dirty="0">
                <a:solidFill>
                  <a:schemeClr val="accent1"/>
                </a:solidFill>
                <a:latin typeface="+mj-lt"/>
                <a:sym typeface="+mn-ea"/>
              </a:rPr>
              <a:t>车载</a:t>
            </a:r>
            <a:r>
              <a:rPr lang="zh-CN" altLang="en-US" sz="2400" dirty="0">
                <a:solidFill>
                  <a:schemeClr val="accent1"/>
                </a:solidFill>
                <a:latin typeface="+mj-lt"/>
                <a:sym typeface="+mn-ea"/>
              </a:rPr>
              <a:t>脉冲</a:t>
            </a:r>
            <a:r>
              <a:rPr lang="zh-CN" altLang="en-US" sz="2400" dirty="0">
                <a:solidFill>
                  <a:schemeClr val="accent1"/>
                </a:solidFill>
                <a:latin typeface="+mj-lt"/>
                <a:sym typeface="+mn-ea"/>
              </a:rPr>
              <a:t>加热可行性分析</a:t>
            </a:r>
            <a:endParaRPr lang="zh-CN" altLang="en-US" sz="2400" dirty="0">
              <a:solidFill>
                <a:schemeClr val="accent1"/>
              </a:solidFill>
              <a:latin typeface="+mj-lt"/>
              <a:sym typeface="+mn-ea"/>
            </a:endParaRPr>
          </a:p>
        </p:txBody>
      </p:sp>
      <p:sp>
        <p:nvSpPr>
          <p:cNvPr id="11" name="文本框 10"/>
          <p:cNvSpPr txBox="1"/>
          <p:nvPr/>
        </p:nvSpPr>
        <p:spPr>
          <a:xfrm>
            <a:off x="479425" y="908685"/>
            <a:ext cx="11242675" cy="571157"/>
          </a:xfrm>
          <a:prstGeom prst="rect">
            <a:avLst/>
          </a:prstGeom>
          <a:noFill/>
        </p:spPr>
        <p:txBody>
          <a:bodyPr wrap="square" lIns="36000" tIns="36000" rIns="36000" bIns="36000" rtlCol="0">
            <a:noAutofit/>
          </a:bodyPr>
          <a:lstStyle/>
          <a:p>
            <a:pPr marL="285750" indent="-285750">
              <a:spcBef>
                <a:spcPts val="600"/>
              </a:spcBef>
              <a:buFont typeface="Wingdings" panose="05000000000000000000" charset="0"/>
              <a:buChar char="p"/>
            </a:pP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双电机控制同步</a:t>
            </a: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性研究：</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双电机电池侧电流同步相关性降低时，电池包有效加热能力和加热效率</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降低。</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spcBef>
                <a:spcPts val="600"/>
              </a:spcBef>
              <a:buFont typeface="Wingdings" panose="05000000000000000000" charset="0"/>
              <a:buChar char="p"/>
            </a:pPr>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可行性分析结论：</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若满足双电机</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精确</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同步</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控制，</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则三</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电池包并联整体输出+双电机同步脉冲方案具备</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进一步研究验证的价值；单电机方案温升偏弱，不建议作为主方案研究。</a:t>
            </a:r>
            <a:endPar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9" name="表格 18"/>
          <p:cNvGraphicFramePr/>
          <p:nvPr>
            <p:custDataLst>
              <p:tags r:id="rId2"/>
            </p:custDataLst>
          </p:nvPr>
        </p:nvGraphicFramePr>
        <p:xfrm>
          <a:off x="191135" y="2492375"/>
          <a:ext cx="2927985" cy="2623820"/>
        </p:xfrm>
        <a:graphic>
          <a:graphicData uri="http://schemas.openxmlformats.org/drawingml/2006/table">
            <a:tbl>
              <a:tblPr firstRow="1" bandRow="1">
                <a:tableStyleId>{F5AB1C69-6EDB-4FF4-983F-18BD219EF322}</a:tableStyleId>
              </a:tblPr>
              <a:tblGrid>
                <a:gridCol w="709295"/>
                <a:gridCol w="1200785"/>
                <a:gridCol w="1017905"/>
              </a:tblGrid>
              <a:tr h="514985">
                <a:tc>
                  <a:txBody>
                    <a:bodyPr/>
                    <a:p>
                      <a:pPr algn="ctr">
                        <a:buNone/>
                      </a:pPr>
                      <a:r>
                        <a:rPr lang="en-US" altLang="zh-CN" sz="1200"/>
                        <a:t>rho</a:t>
                      </a:r>
                      <a:endParaRPr lang="en-US" altLang="zh-CN"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50000"/>
                      </a:schemeClr>
                    </a:solidFill>
                  </a:tcPr>
                </a:tc>
                <a:tc>
                  <a:txBody>
                    <a:bodyPr/>
                    <a:p>
                      <a:pPr algn="ctr">
                        <a:buNone/>
                      </a:pPr>
                      <a:r>
                        <a:rPr lang="zh-CN" altLang="en-US" sz="1200"/>
                        <a:t>等效相位差</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50000"/>
                      </a:schemeClr>
                    </a:solidFill>
                  </a:tcPr>
                </a:tc>
                <a:tc>
                  <a:txBody>
                    <a:bodyPr/>
                    <a:p>
                      <a:pPr algn="ctr">
                        <a:buNone/>
                      </a:pPr>
                      <a:r>
                        <a:rPr lang="zh-CN" altLang="en-US" sz="1200"/>
                        <a:t>同步状态</a:t>
                      </a:r>
                      <a:endParaRPr lang="zh-CN" altLang="en-US" sz="1200"/>
                    </a:p>
                    <a:p>
                      <a:pPr algn="ctr">
                        <a:buNone/>
                      </a:pPr>
                      <a:r>
                        <a:rPr lang="zh-CN" altLang="en-US" sz="1200"/>
                        <a:t>描述</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50000"/>
                      </a:schemeClr>
                    </a:solidFill>
                  </a:tcPr>
                </a:tc>
              </a:tr>
              <a:tr h="513080">
                <a:tc>
                  <a:txBody>
                    <a:bodyPr/>
                    <a:p>
                      <a:pPr algn="ctr">
                        <a:buNone/>
                      </a:pPr>
                      <a:r>
                        <a:rPr lang="en-US" altLang="zh-CN" sz="1200"/>
                        <a:t>1</a:t>
                      </a:r>
                      <a:endParaRPr lang="en-US" altLang="zh-CN"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200"/>
                        <a:t>0</a:t>
                      </a:r>
                      <a:r>
                        <a:rPr lang="zh-CN" altLang="en-US" sz="1200"/>
                        <a:t>°</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完全同步、同相</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74675">
                <a:tc>
                  <a:txBody>
                    <a:bodyPr/>
                    <a:p>
                      <a:pPr algn="ctr">
                        <a:buNone/>
                      </a:pPr>
                      <a:r>
                        <a:rPr lang="en-US" altLang="zh-CN" sz="1200"/>
                        <a:t>0.5</a:t>
                      </a:r>
                      <a:endParaRPr lang="en-US" altLang="zh-CN"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约</a:t>
                      </a:r>
                      <a:r>
                        <a:rPr lang="en-US" altLang="zh-CN" sz="1200"/>
                        <a:t>60</a:t>
                      </a:r>
                      <a:r>
                        <a:rPr lang="zh-CN" altLang="en-US" sz="1200"/>
                        <a:t>°</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部分同步、明显错相</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702310">
                <a:tc>
                  <a:txBody>
                    <a:bodyPr/>
                    <a:p>
                      <a:pPr algn="ctr">
                        <a:buNone/>
                      </a:pPr>
                      <a:r>
                        <a:rPr lang="en-US" altLang="zh-CN" sz="1200"/>
                        <a:t>0</a:t>
                      </a:r>
                      <a:endParaRPr lang="en-US" altLang="zh-CN"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约</a:t>
                      </a:r>
                      <a:r>
                        <a:rPr lang="en-US" altLang="zh-CN" sz="1200"/>
                        <a:t>90</a:t>
                      </a:r>
                      <a:r>
                        <a:rPr lang="zh-CN" altLang="en-US" sz="1200"/>
                        <a:t>°或不同频</a:t>
                      </a:r>
                      <a:r>
                        <a:rPr lang="zh-CN" altLang="en-US" sz="1200"/>
                        <a:t>长期平均</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不相关</a:t>
                      </a:r>
                      <a:r>
                        <a:rPr lang="en-US" altLang="zh-CN" sz="1200"/>
                        <a:t>/</a:t>
                      </a:r>
                      <a:r>
                        <a:rPr lang="zh-CN" altLang="en-US" sz="1200"/>
                        <a:t>正交</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18770">
                <a:tc>
                  <a:txBody>
                    <a:bodyPr/>
                    <a:p>
                      <a:pPr algn="ctr">
                        <a:buNone/>
                      </a:pPr>
                      <a:r>
                        <a:rPr lang="en-US" altLang="zh-CN" sz="1200"/>
                        <a:t>-0.5</a:t>
                      </a:r>
                      <a:endParaRPr lang="en-US" altLang="zh-CN"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约</a:t>
                      </a:r>
                      <a:r>
                        <a:rPr lang="en-US" altLang="zh-CN" sz="1200"/>
                        <a:t>120</a:t>
                      </a:r>
                      <a:r>
                        <a:rPr lang="zh-CN" altLang="en-US" sz="1200"/>
                        <a:t>°</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zh-CN" altLang="en-US" sz="1200"/>
                        <a:t>明显反相</a:t>
                      </a:r>
                      <a:endParaRPr lang="zh-CN" altLang="en-US" sz="1200"/>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0" name="文本框 19"/>
          <p:cNvSpPr txBox="1"/>
          <p:nvPr/>
        </p:nvSpPr>
        <p:spPr>
          <a:xfrm>
            <a:off x="262890" y="5229225"/>
            <a:ext cx="2952115" cy="1198880"/>
          </a:xfrm>
          <a:prstGeom prst="rect">
            <a:avLst/>
          </a:prstGeom>
        </p:spPr>
        <p:txBody>
          <a:bodyPr wrap="square">
            <a:spAutoFit/>
          </a:bodyPr>
          <a:p>
            <a:pPr marL="171450" indent="-171450">
              <a:lnSpc>
                <a:spcPct val="150000"/>
              </a:lnSpc>
              <a:spcBef>
                <a:spcPct val="0"/>
              </a:spcBef>
              <a:spcAft>
                <a:spcPct val="0"/>
              </a:spcAft>
              <a:buFont typeface="Wingdings" panose="05000000000000000000" charset="0"/>
              <a:buChar char="Ø"/>
            </a:pPr>
            <a:r>
              <a:rPr lang="en-US" altLang="zh-CN" sz="1200" b="1"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rho</a:t>
            </a:r>
            <a:r>
              <a:rPr lang="zh-CN" altLang="en-US" sz="120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：统计意义上描述一段时间中两台电机在电池侧等效电流波形的同步程度；不等同于实时的电流方向，</a:t>
            </a:r>
            <a:r>
              <a:rPr lang="zh-CN" altLang="en-US" sz="120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也不等同于电机三相电角度。</a:t>
            </a:r>
            <a:endParaRPr lang="zh-CN" altLang="en-US" sz="120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zh-CN" altLang="en-US" sz="2400" dirty="0">
                <a:solidFill>
                  <a:schemeClr val="accent1"/>
                </a:solidFill>
              </a:rPr>
              <a:t>壳牌</a:t>
            </a:r>
            <a:r>
              <a:rPr lang="en-US" altLang="zh-CN" sz="2400" dirty="0">
                <a:solidFill>
                  <a:schemeClr val="accent1"/>
                </a:solidFill>
              </a:rPr>
              <a:t>/</a:t>
            </a:r>
            <a:r>
              <a:rPr lang="zh-CN" altLang="en-US" sz="2400" dirty="0">
                <a:solidFill>
                  <a:schemeClr val="accent1"/>
                </a:solidFill>
              </a:rPr>
              <a:t>桩端脉冲加热</a:t>
            </a:r>
            <a:r>
              <a:rPr lang="zh-CN" altLang="en-US" sz="2400" dirty="0">
                <a:solidFill>
                  <a:schemeClr val="accent1"/>
                </a:solidFill>
                <a:latin typeface="+mj-lt"/>
                <a:sym typeface="+mn-ea"/>
              </a:rPr>
              <a:t>技术方案</a:t>
            </a:r>
            <a:endParaRPr lang="zh-CN" altLang="en-US" sz="2400" dirty="0">
              <a:solidFill>
                <a:schemeClr val="accent1"/>
              </a:solidFill>
              <a:latin typeface="+mj-lt"/>
              <a:sym typeface="+mn-ea"/>
            </a:endParaRPr>
          </a:p>
        </p:txBody>
      </p:sp>
      <p:sp>
        <p:nvSpPr>
          <p:cNvPr id="3" name="文本框 2"/>
          <p:cNvSpPr txBox="1"/>
          <p:nvPr/>
        </p:nvSpPr>
        <p:spPr>
          <a:xfrm>
            <a:off x="479425" y="908685"/>
            <a:ext cx="11242675" cy="571157"/>
          </a:xfrm>
          <a:prstGeom prst="rect">
            <a:avLst/>
          </a:prstGeom>
          <a:noFill/>
        </p:spPr>
        <p:txBody>
          <a:bodyPr wrap="square" lIns="36000" tIns="36000" rIns="36000" bIns="36000" rtlCol="0">
            <a:noAutofit/>
          </a:bodyPr>
          <a:lstStyle/>
          <a:p>
            <a:pPr marL="285750" marR="0" lvl="0" indent="-285750" algn="l" defTabSz="457200" rtl="0" eaLnBrk="1" fontAlgn="auto" latinLnBrk="0" hangingPunct="1">
              <a:lnSpc>
                <a:spcPct val="100000"/>
              </a:lnSpc>
              <a:spcBef>
                <a:spcPts val="600"/>
              </a:spcBef>
              <a:spcAft>
                <a:spcPts val="0"/>
              </a:spcAft>
              <a:buClrTx/>
              <a:buSzTx/>
              <a:buFont typeface="Wingdings" panose="05000000000000000000" charset="0"/>
              <a:buChar char="p"/>
              <a:defRPr/>
            </a:pP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壳牌认为桩端脉冲应用于双包、三包并联商用车架构从</a:t>
            </a:r>
            <a:r>
              <a:rPr kumimoji="0" lang="zh-CN" altLang="en-US"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原理上具备可行性</a:t>
            </a: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，但尚未实际验证。</a:t>
            </a:r>
            <a:endPar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00000"/>
              </a:lnSpc>
              <a:spcBef>
                <a:spcPts val="600"/>
              </a:spcBef>
              <a:spcAft>
                <a:spcPts val="0"/>
              </a:spcAft>
              <a:buClrTx/>
              <a:buSzTx/>
              <a:buFont typeface="Wingdings" panose="05000000000000000000" charset="0"/>
              <a:buChar char="p"/>
              <a:defRPr/>
            </a:pP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商用车应用需要评估公共母线分流、各包</a:t>
            </a:r>
            <a:r>
              <a:rPr kumimoji="0" lang="en-US" altLang="zh-CN"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SOC/</a:t>
            </a: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温度</a:t>
            </a:r>
            <a:r>
              <a:rPr kumimoji="0" lang="en-US" altLang="zh-CN"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内阻差异、温升一致性、</a:t>
            </a:r>
            <a:r>
              <a:rPr kumimoji="0" lang="en-US" altLang="zh-CN"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BMS</a:t>
            </a:r>
            <a:r>
              <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rPr>
              <a:t>多包状态交互等机制。</a:t>
            </a:r>
            <a:endParaRPr kumimoji="0" lang="zh-CN" altLang="en-US" sz="1400" b="1" i="0" u="none" strike="noStrike" kern="1200" cap="none" spc="0" normalizeH="0" baseline="0" noProof="0" dirty="0">
              <a:ln>
                <a:noFill/>
              </a:ln>
              <a:solidFill>
                <a:srgbClr val="152A8C"/>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7"/>
          <p:cNvGraphicFramePr>
            <a:graphicFrameLocks noGrp="1"/>
          </p:cNvGraphicFramePr>
          <p:nvPr/>
        </p:nvGraphicFramePr>
        <p:xfrm>
          <a:off x="474663" y="1574567"/>
          <a:ext cx="6684685" cy="2422311"/>
        </p:xfrm>
        <a:graphic>
          <a:graphicData uri="http://schemas.openxmlformats.org/drawingml/2006/table">
            <a:tbl>
              <a:tblPr firstRow="1" bandRow="1">
                <a:tableStyleId>{5C22544A-7EE6-4342-B048-85BDC9FD1C3A}</a:tableStyleId>
              </a:tblPr>
              <a:tblGrid>
                <a:gridCol w="1440276"/>
                <a:gridCol w="5244409"/>
              </a:tblGrid>
              <a:tr h="294228">
                <a:tc>
                  <a:txBody>
                    <a:bodyPr/>
                    <a:lstStyle/>
                    <a:p>
                      <a:pPr algn="ctr"/>
                      <a:r>
                        <a:rPr lang="zh-CN" altLang="en-US" sz="1400" dirty="0"/>
                        <a:t>项目</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壳牌桩端脉冲方案（一汽红旗</a:t>
                      </a:r>
                      <a:r>
                        <a:rPr lang="en-US" altLang="zh-CN" sz="1400" dirty="0"/>
                        <a:t>EQM5</a:t>
                      </a:r>
                      <a:r>
                        <a:rPr lang="zh-CN" altLang="en-US" sz="1400" dirty="0"/>
                        <a:t>）</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7137">
                <a:tc>
                  <a:txBody>
                    <a:bodyPr/>
                    <a:lstStyle/>
                    <a:p>
                      <a:pPr algn="ctr"/>
                      <a:r>
                        <a:rPr lang="zh-CN" altLang="en-US" sz="1200" dirty="0"/>
                        <a:t>单机峰值功率</a:t>
                      </a:r>
                      <a:endParaRPr lang="zh-CN"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1100" dirty="0"/>
                        <a:t>壳牌充电桩样机最高输出功率</a:t>
                      </a:r>
                      <a:r>
                        <a:rPr lang="en-US" altLang="zh-CN" sz="1100" dirty="0"/>
                        <a:t>360kW</a:t>
                      </a:r>
                      <a:r>
                        <a:rPr lang="zh-CN" altLang="en-US" sz="1100" dirty="0"/>
                        <a:t>（</a:t>
                      </a:r>
                      <a:r>
                        <a:rPr lang="en-US" altLang="zh-CN" sz="1100" dirty="0"/>
                        <a:t>2022</a:t>
                      </a:r>
                      <a:r>
                        <a:rPr lang="zh-CN" altLang="en-US" sz="1100" dirty="0"/>
                        <a:t>年技术文档）</a:t>
                      </a:r>
                      <a:endParaRPr lang="en-US" altLang="zh-C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4805">
                <a:tc>
                  <a:txBody>
                    <a:bodyPr/>
                    <a:lstStyle/>
                    <a:p>
                      <a:pPr algn="ctr"/>
                      <a:r>
                        <a:rPr lang="zh-CN" altLang="en-US" sz="1200" dirty="0"/>
                        <a:t>脉冲频率</a:t>
                      </a:r>
                      <a:r>
                        <a:rPr lang="en-US" altLang="zh-CN" sz="1200" dirty="0"/>
                        <a:t>/</a:t>
                      </a:r>
                      <a:r>
                        <a:rPr lang="zh-CN" altLang="en-US" sz="1200" dirty="0"/>
                        <a:t>波形</a:t>
                      </a:r>
                      <a:endParaRPr lang="en-US" altLang="zh-C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1100" b="1" dirty="0">
                          <a:solidFill>
                            <a:srgbClr val="FF0000"/>
                          </a:solidFill>
                        </a:rPr>
                        <a:t>50-100Hz</a:t>
                      </a:r>
                      <a:r>
                        <a:rPr lang="zh-CN" altLang="en-US" sz="1100" dirty="0"/>
                        <a:t>周期性波形</a:t>
                      </a: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47334">
                <a:tc>
                  <a:txBody>
                    <a:bodyPr/>
                    <a:lstStyle/>
                    <a:p>
                      <a:pPr algn="ctr"/>
                      <a:r>
                        <a:rPr lang="zh-CN" altLang="en-US" sz="1200" dirty="0"/>
                        <a:t>加热速率</a:t>
                      </a:r>
                      <a:endParaRPr lang="en-US" altLang="zh-C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1100" dirty="0"/>
                        <a:t>平均温升速率约</a:t>
                      </a:r>
                      <a:r>
                        <a:rPr lang="en-US" altLang="zh-CN" sz="1100" dirty="0"/>
                        <a:t>2.6℃/min</a:t>
                      </a:r>
                      <a:r>
                        <a:rPr lang="zh-CN" altLang="en-US" sz="1100" dirty="0"/>
                        <a:t>（红旗</a:t>
                      </a:r>
                      <a:r>
                        <a:rPr lang="en-US" altLang="zh-CN" sz="1100" dirty="0"/>
                        <a:t>EQM5</a:t>
                      </a:r>
                      <a:r>
                        <a:rPr lang="zh-CN" altLang="en-US" sz="1100" dirty="0"/>
                        <a:t>）</a:t>
                      </a:r>
                      <a:endParaRPr lang="en-US" altLang="zh-C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73745">
                <a:tc>
                  <a:txBody>
                    <a:bodyPr/>
                    <a:lstStyle/>
                    <a:p>
                      <a:pPr algn="ctr"/>
                      <a:r>
                        <a:rPr lang="zh-CN" altLang="en-US" sz="1200" dirty="0"/>
                        <a:t>优势</a:t>
                      </a:r>
                      <a:endParaRPr lang="en-US" altLang="zh-C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Wingdings" panose="05000000000000000000" pitchFamily="2" charset="2"/>
                        <a:buChar char="ü"/>
                      </a:pPr>
                      <a:r>
                        <a:rPr lang="zh-CN" altLang="en-US" sz="1100" dirty="0"/>
                        <a:t>主要改动在桩端和</a:t>
                      </a:r>
                      <a:r>
                        <a:rPr lang="en-US" altLang="zh-CN" sz="1100" dirty="0"/>
                        <a:t>BMS</a:t>
                      </a:r>
                      <a:r>
                        <a:rPr lang="zh-CN" altLang="en-US" sz="1100" dirty="0"/>
                        <a:t>参数</a:t>
                      </a:r>
                      <a:r>
                        <a:rPr lang="en-US" altLang="zh-CN" sz="1100" dirty="0"/>
                        <a:t>/</a:t>
                      </a:r>
                      <a:r>
                        <a:rPr lang="zh-CN" altLang="en-US" sz="1100" dirty="0"/>
                        <a:t>通信，车端硬件原则上不需要明显调整。</a:t>
                      </a:r>
                      <a:endParaRPr lang="en-US" altLang="zh-CN" sz="1100" dirty="0"/>
                    </a:p>
                    <a:p>
                      <a:pPr marL="171450" indent="-171450" algn="l">
                        <a:buFont typeface="Wingdings" panose="05000000000000000000" pitchFamily="2" charset="2"/>
                        <a:buChar char="ü"/>
                      </a:pPr>
                      <a:r>
                        <a:rPr lang="zh-CN" altLang="en-US" sz="1100" dirty="0"/>
                        <a:t>壳牌未发现脉冲加热对</a:t>
                      </a:r>
                      <a:r>
                        <a:rPr lang="en-US" altLang="zh-CN" sz="1100" dirty="0"/>
                        <a:t>SOH</a:t>
                      </a:r>
                      <a:r>
                        <a:rPr lang="zh-CN" altLang="en-US" sz="1100" dirty="0"/>
                        <a:t>有明显影响。</a:t>
                      </a:r>
                      <a:endParaRPr lang="en-US" altLang="zh-CN" sz="1100" dirty="0"/>
                    </a:p>
                    <a:p>
                      <a:pPr marL="171450" indent="-171450" algn="l">
                        <a:buFont typeface="Wingdings" panose="05000000000000000000" pitchFamily="2" charset="2"/>
                        <a:buChar char="ü"/>
                      </a:pPr>
                      <a:r>
                        <a:rPr lang="zh-CN" altLang="en-US" sz="1100" dirty="0"/>
                        <a:t>一套桩可支持多车型</a:t>
                      </a:r>
                      <a:r>
                        <a:rPr lang="en-US" altLang="zh-CN" sz="1100" dirty="0"/>
                        <a:t>/</a:t>
                      </a:r>
                      <a:r>
                        <a:rPr lang="zh-CN" altLang="en-US" sz="1100" dirty="0"/>
                        <a:t>多电池包。</a:t>
                      </a:r>
                      <a:endParaRPr lang="zh-CN" altLang="en-US" sz="11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73745">
                <a:tc>
                  <a:txBody>
                    <a:bodyPr/>
                    <a:lstStyle/>
                    <a:p>
                      <a:pPr algn="ctr"/>
                      <a:r>
                        <a:rPr lang="zh-CN" altLang="en-US" sz="1200" dirty="0"/>
                        <a:t>劣势</a:t>
                      </a:r>
                      <a:endParaRPr lang="en-US" altLang="zh-C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Wingdings" panose="05000000000000000000" pitchFamily="2" charset="2"/>
                        <a:buChar char="p"/>
                      </a:pPr>
                      <a:r>
                        <a:rPr lang="zh-CN" altLang="en-US" sz="1100" dirty="0"/>
                        <a:t>桩端需配置双向</a:t>
                      </a:r>
                      <a:r>
                        <a:rPr lang="en-US" altLang="zh-CN" sz="1100" dirty="0"/>
                        <a:t>DCDC</a:t>
                      </a:r>
                      <a:r>
                        <a:rPr lang="zh-CN" altLang="en-US" sz="1100" dirty="0"/>
                        <a:t>功率模块、储能模块和专用控制策略，成本增加。</a:t>
                      </a:r>
                      <a:endParaRPr lang="en-US" altLang="zh-CN" sz="1100" dirty="0"/>
                    </a:p>
                    <a:p>
                      <a:pPr marL="171450" indent="-171450" algn="l">
                        <a:buFont typeface="Wingdings" panose="05000000000000000000" pitchFamily="2" charset="2"/>
                        <a:buChar char="p"/>
                      </a:pPr>
                      <a:r>
                        <a:rPr lang="zh-CN" altLang="en-US" sz="1100" dirty="0"/>
                        <a:t>不同车型</a:t>
                      </a:r>
                      <a:r>
                        <a:rPr lang="en-US" altLang="zh-CN" sz="1100" dirty="0"/>
                        <a:t>/</a:t>
                      </a:r>
                      <a:r>
                        <a:rPr lang="zh-CN" altLang="en-US" sz="1100" dirty="0"/>
                        <a:t>电池包需分别开发</a:t>
                      </a:r>
                      <a:r>
                        <a:rPr lang="en-US" altLang="zh-CN" sz="1100" dirty="0"/>
                        <a:t>MAP</a:t>
                      </a:r>
                      <a:r>
                        <a:rPr lang="zh-CN" altLang="en-US" sz="1100" dirty="0"/>
                        <a:t>。</a:t>
                      </a:r>
                      <a:endParaRPr lang="en-US" altLang="zh-CN" sz="1100" dirty="0"/>
                    </a:p>
                    <a:p>
                      <a:pPr marL="171450" indent="-171450" algn="l">
                        <a:buFont typeface="Wingdings" panose="05000000000000000000" pitchFamily="2" charset="2"/>
                        <a:buChar char="p"/>
                      </a:pPr>
                      <a:r>
                        <a:rPr lang="zh-CN" altLang="en-US" sz="1100" dirty="0"/>
                        <a:t>继续增大</a:t>
                      </a:r>
                      <a:r>
                        <a:rPr lang="zh-CN" altLang="en-US" sz="1100" dirty="0"/>
                        <a:t>脉冲频率工程难度大。</a:t>
                      </a: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53" name="组合 52"/>
          <p:cNvGrpSpPr/>
          <p:nvPr/>
        </p:nvGrpSpPr>
        <p:grpSpPr>
          <a:xfrm>
            <a:off x="7212634" y="1574566"/>
            <a:ext cx="4678153" cy="5001428"/>
            <a:chOff x="7212634" y="1574566"/>
            <a:chExt cx="4678153" cy="5001428"/>
          </a:xfrm>
        </p:grpSpPr>
        <p:grpSp>
          <p:nvGrpSpPr>
            <p:cNvPr id="47" name="组合 46"/>
            <p:cNvGrpSpPr/>
            <p:nvPr/>
          </p:nvGrpSpPr>
          <p:grpSpPr>
            <a:xfrm>
              <a:off x="7646504" y="1574566"/>
              <a:ext cx="3816074" cy="5001428"/>
              <a:chOff x="7275443" y="1574567"/>
              <a:chExt cx="3816074" cy="5001428"/>
            </a:xfrm>
          </p:grpSpPr>
          <p:sp>
            <p:nvSpPr>
              <p:cNvPr id="4" name="矩形 3"/>
              <p:cNvSpPr/>
              <p:nvPr/>
            </p:nvSpPr>
            <p:spPr>
              <a:xfrm>
                <a:off x="7275443" y="1574567"/>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动力电池与充电装置建立物理连接</a:t>
                </a:r>
                <a:endParaRPr lang="zh-CN" altLang="en-US" sz="1200"/>
              </a:p>
            </p:txBody>
          </p:sp>
          <p:sp>
            <p:nvSpPr>
              <p:cNvPr id="6" name="矩形 5"/>
              <p:cNvSpPr/>
              <p:nvPr/>
            </p:nvSpPr>
            <p:spPr>
              <a:xfrm>
                <a:off x="7275443" y="1960974"/>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低压辅助电源上电</a:t>
                </a:r>
                <a:endParaRPr lang="zh-CN" altLang="en-US" sz="1200"/>
              </a:p>
            </p:txBody>
          </p:sp>
          <p:sp>
            <p:nvSpPr>
              <p:cNvPr id="8" name="矩形 7"/>
              <p:cNvSpPr/>
              <p:nvPr/>
            </p:nvSpPr>
            <p:spPr>
              <a:xfrm>
                <a:off x="7275443" y="2347381"/>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充电握手</a:t>
                </a:r>
                <a:endParaRPr lang="zh-CN" altLang="en-US" sz="1200" dirty="0"/>
              </a:p>
            </p:txBody>
          </p:sp>
          <p:sp>
            <p:nvSpPr>
              <p:cNvPr id="9" name="菱形 8"/>
              <p:cNvSpPr/>
              <p:nvPr/>
            </p:nvSpPr>
            <p:spPr>
              <a:xfrm>
                <a:off x="7275443" y="2733788"/>
                <a:ext cx="3803374" cy="29613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BMS</a:t>
                </a:r>
                <a:r>
                  <a:rPr lang="zh-CN" altLang="en-US" sz="1200" dirty="0"/>
                  <a:t>判断</a:t>
                </a:r>
                <a:r>
                  <a:rPr lang="en-US" altLang="zh-CN" sz="1200" dirty="0"/>
                  <a:t>T&lt;T0</a:t>
                </a:r>
                <a:endParaRPr lang="zh-CN" altLang="en-US" sz="1200" dirty="0"/>
              </a:p>
            </p:txBody>
          </p:sp>
          <p:sp>
            <p:nvSpPr>
              <p:cNvPr id="10" name="矩形 9"/>
              <p:cNvSpPr/>
              <p:nvPr/>
            </p:nvSpPr>
            <p:spPr>
              <a:xfrm>
                <a:off x="7275443" y="3188600"/>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BMS</a:t>
                </a:r>
                <a:r>
                  <a:rPr lang="zh-CN" altLang="en-US" sz="1200" dirty="0"/>
                  <a:t>确定脉冲电流的最大幅值和频率</a:t>
                </a:r>
                <a:endParaRPr lang="zh-CN" altLang="en-US" sz="1200" dirty="0"/>
              </a:p>
            </p:txBody>
          </p:sp>
          <p:sp>
            <p:nvSpPr>
              <p:cNvPr id="11" name="矩形 10"/>
              <p:cNvSpPr/>
              <p:nvPr/>
            </p:nvSpPr>
            <p:spPr>
              <a:xfrm>
                <a:off x="7275443" y="3575007"/>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BMS</a:t>
                </a:r>
                <a:r>
                  <a:rPr lang="zh-CN" altLang="en-US" sz="1200" dirty="0"/>
                  <a:t>发送第一指示信息</a:t>
                </a:r>
                <a:endParaRPr lang="zh-CN" altLang="en-US" sz="1200" dirty="0"/>
              </a:p>
            </p:txBody>
          </p:sp>
          <p:sp>
            <p:nvSpPr>
              <p:cNvPr id="12" name="矩形 11"/>
              <p:cNvSpPr/>
              <p:nvPr/>
            </p:nvSpPr>
            <p:spPr>
              <a:xfrm>
                <a:off x="7275443" y="3961414"/>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充电装置接收并基于第一指示信息对动力电池加热</a:t>
                </a:r>
                <a:endParaRPr lang="zh-CN" altLang="en-US" sz="1200" dirty="0"/>
              </a:p>
            </p:txBody>
          </p:sp>
          <p:sp>
            <p:nvSpPr>
              <p:cNvPr id="13" name="矩形 12"/>
              <p:cNvSpPr/>
              <p:nvPr/>
            </p:nvSpPr>
            <p:spPr>
              <a:xfrm>
                <a:off x="7275443" y="4802633"/>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BMS</a:t>
                </a:r>
                <a:r>
                  <a:rPr lang="zh-CN" altLang="en-US" sz="1200" dirty="0"/>
                  <a:t>发送第二指示信息</a:t>
                </a:r>
                <a:endParaRPr lang="zh-CN" altLang="en-US" sz="1200" dirty="0"/>
              </a:p>
            </p:txBody>
          </p:sp>
          <p:sp>
            <p:nvSpPr>
              <p:cNvPr id="14" name="菱形 13"/>
              <p:cNvSpPr/>
              <p:nvPr/>
            </p:nvSpPr>
            <p:spPr>
              <a:xfrm>
                <a:off x="7275443" y="4347821"/>
                <a:ext cx="3803374" cy="29613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BMS</a:t>
                </a:r>
                <a:r>
                  <a:rPr lang="zh-CN" altLang="en-US" sz="1200" dirty="0"/>
                  <a:t>判断</a:t>
                </a:r>
                <a:r>
                  <a:rPr lang="en-US" altLang="zh-CN" sz="1200" dirty="0"/>
                  <a:t>T</a:t>
                </a:r>
                <a:r>
                  <a:rPr lang="zh-CN" altLang="en-US" sz="1200" dirty="0"/>
                  <a:t>≥</a:t>
                </a:r>
                <a:r>
                  <a:rPr lang="en-US" altLang="zh-CN" sz="1200" dirty="0"/>
                  <a:t>T0</a:t>
                </a:r>
                <a:endParaRPr lang="zh-CN" altLang="en-US" sz="1200" dirty="0"/>
              </a:p>
            </p:txBody>
          </p:sp>
          <p:sp>
            <p:nvSpPr>
              <p:cNvPr id="15" name="矩形 14"/>
              <p:cNvSpPr/>
              <p:nvPr/>
            </p:nvSpPr>
            <p:spPr>
              <a:xfrm>
                <a:off x="7275443" y="5189040"/>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充电装置接收并基于第二指示信息对动力电池加热</a:t>
                </a:r>
                <a:endParaRPr lang="zh-CN" altLang="en-US" sz="1200" dirty="0"/>
              </a:p>
            </p:txBody>
          </p:sp>
          <p:sp>
            <p:nvSpPr>
              <p:cNvPr id="16" name="矩形 15"/>
              <p:cNvSpPr/>
              <p:nvPr/>
            </p:nvSpPr>
            <p:spPr>
              <a:xfrm>
                <a:off x="7275443" y="5575447"/>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配置充电参数</a:t>
                </a:r>
                <a:endParaRPr lang="zh-CN" altLang="en-US" sz="1200" dirty="0"/>
              </a:p>
            </p:txBody>
          </p:sp>
          <p:sp>
            <p:nvSpPr>
              <p:cNvPr id="17" name="矩形 16"/>
              <p:cNvSpPr/>
              <p:nvPr/>
            </p:nvSpPr>
            <p:spPr>
              <a:xfrm>
                <a:off x="7275443" y="5961854"/>
                <a:ext cx="3803374" cy="227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充电装置对动力电池充电</a:t>
                </a:r>
                <a:endParaRPr lang="zh-CN" altLang="en-US" sz="1200" dirty="0"/>
              </a:p>
            </p:txBody>
          </p:sp>
          <p:sp>
            <p:nvSpPr>
              <p:cNvPr id="18" name="矩形 17"/>
              <p:cNvSpPr/>
              <p:nvPr/>
            </p:nvSpPr>
            <p:spPr>
              <a:xfrm>
                <a:off x="7275443" y="6348265"/>
                <a:ext cx="3803374" cy="22773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结束充电</a:t>
                </a:r>
                <a:endParaRPr lang="zh-CN" altLang="en-US" sz="1200" dirty="0"/>
              </a:p>
            </p:txBody>
          </p:sp>
          <p:cxnSp>
            <p:nvCxnSpPr>
              <p:cNvPr id="20" name="直接箭头连接符 19"/>
              <p:cNvCxnSpPr>
                <a:stCxn id="4" idx="2"/>
                <a:endCxn id="6" idx="0"/>
              </p:cNvCxnSpPr>
              <p:nvPr/>
            </p:nvCxnSpPr>
            <p:spPr>
              <a:xfrm>
                <a:off x="9177130" y="1802297"/>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6" idx="2"/>
                <a:endCxn id="8" idx="0"/>
              </p:cNvCxnSpPr>
              <p:nvPr/>
            </p:nvCxnSpPr>
            <p:spPr>
              <a:xfrm>
                <a:off x="9177130" y="2188704"/>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8" idx="2"/>
                <a:endCxn id="9" idx="0"/>
              </p:cNvCxnSpPr>
              <p:nvPr/>
            </p:nvCxnSpPr>
            <p:spPr>
              <a:xfrm>
                <a:off x="9177130" y="2575111"/>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9" idx="2"/>
                <a:endCxn id="10" idx="0"/>
              </p:cNvCxnSpPr>
              <p:nvPr/>
            </p:nvCxnSpPr>
            <p:spPr>
              <a:xfrm>
                <a:off x="9177130" y="3029923"/>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2"/>
                <a:endCxn id="11" idx="0"/>
              </p:cNvCxnSpPr>
              <p:nvPr/>
            </p:nvCxnSpPr>
            <p:spPr>
              <a:xfrm>
                <a:off x="9177130" y="3416330"/>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2"/>
                <a:endCxn id="12" idx="0"/>
              </p:cNvCxnSpPr>
              <p:nvPr/>
            </p:nvCxnSpPr>
            <p:spPr>
              <a:xfrm>
                <a:off x="9177130" y="3802737"/>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2" idx="2"/>
                <a:endCxn id="14" idx="0"/>
              </p:cNvCxnSpPr>
              <p:nvPr/>
            </p:nvCxnSpPr>
            <p:spPr>
              <a:xfrm>
                <a:off x="9177130" y="4189144"/>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4" idx="2"/>
                <a:endCxn id="13" idx="0"/>
              </p:cNvCxnSpPr>
              <p:nvPr/>
            </p:nvCxnSpPr>
            <p:spPr>
              <a:xfrm>
                <a:off x="9177130" y="4643956"/>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13" idx="2"/>
                <a:endCxn id="15" idx="0"/>
              </p:cNvCxnSpPr>
              <p:nvPr/>
            </p:nvCxnSpPr>
            <p:spPr>
              <a:xfrm>
                <a:off x="9177130" y="5030363"/>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5" idx="2"/>
                <a:endCxn id="16" idx="0"/>
              </p:cNvCxnSpPr>
              <p:nvPr/>
            </p:nvCxnSpPr>
            <p:spPr>
              <a:xfrm>
                <a:off x="9177130" y="5416770"/>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6" idx="2"/>
                <a:endCxn id="17" idx="0"/>
              </p:cNvCxnSpPr>
              <p:nvPr/>
            </p:nvCxnSpPr>
            <p:spPr>
              <a:xfrm>
                <a:off x="9177130" y="5803177"/>
                <a:ext cx="0" cy="158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17" idx="2"/>
                <a:endCxn id="18" idx="0"/>
              </p:cNvCxnSpPr>
              <p:nvPr/>
            </p:nvCxnSpPr>
            <p:spPr>
              <a:xfrm>
                <a:off x="9177130" y="6189584"/>
                <a:ext cx="0" cy="1586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连接符: 肘形 43"/>
              <p:cNvCxnSpPr>
                <a:stCxn id="9" idx="1"/>
                <a:endCxn id="16" idx="1"/>
              </p:cNvCxnSpPr>
              <p:nvPr/>
            </p:nvCxnSpPr>
            <p:spPr>
              <a:xfrm rot="10800000" flipV="1">
                <a:off x="7275443" y="2881856"/>
                <a:ext cx="12700" cy="2807456"/>
              </a:xfrm>
              <a:prstGeom prst="bentConnector3">
                <a:avLst>
                  <a:gd name="adj1" fmla="val 180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p:cNvCxnSpPr>
                <a:stCxn id="14" idx="3"/>
                <a:endCxn id="10" idx="3"/>
              </p:cNvCxnSpPr>
              <p:nvPr/>
            </p:nvCxnSpPr>
            <p:spPr>
              <a:xfrm flipV="1">
                <a:off x="11078817" y="3302465"/>
                <a:ext cx="12700" cy="1193424"/>
              </a:xfrm>
              <a:prstGeom prst="bentConnector3">
                <a:avLst>
                  <a:gd name="adj1" fmla="val 1800000"/>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48" name="矩形 47"/>
            <p:cNvSpPr/>
            <p:nvPr/>
          </p:nvSpPr>
          <p:spPr>
            <a:xfrm>
              <a:off x="7262191" y="2654448"/>
              <a:ext cx="4578625" cy="2807134"/>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9216610" y="3018819"/>
              <a:ext cx="278295" cy="158677"/>
            </a:xfrm>
            <a:prstGeom prst="rect">
              <a:avLst/>
            </a:prstGeom>
            <a:noFill/>
          </p:spPr>
          <p:txBody>
            <a:bodyPr wrap="square" lIns="36000" tIns="36000" rIns="36000" bIns="36000" rtlCol="0" anchor="ctr">
              <a:noAutofit/>
            </a:bodyPr>
            <a:lstStyle/>
            <a:p>
              <a:pPr algn="ctr">
                <a:spcBef>
                  <a:spcPts val="600"/>
                </a:spcBef>
              </a:pPr>
              <a:r>
                <a:rPr lang="zh-CN" altLang="en-US" sz="1000" b="1" dirty="0">
                  <a:solidFill>
                    <a:schemeClr val="accent1"/>
                  </a:solidFill>
                  <a:latin typeface="+mj-lt"/>
                </a:rPr>
                <a:t>是</a:t>
              </a:r>
              <a:endParaRPr lang="zh-CN" altLang="en-US" sz="1000" b="1" dirty="0">
                <a:solidFill>
                  <a:schemeClr val="accent1"/>
                </a:solidFill>
                <a:latin typeface="+mj-lt"/>
              </a:endParaRPr>
            </a:p>
          </p:txBody>
        </p:sp>
        <p:sp>
          <p:nvSpPr>
            <p:cNvPr id="50" name="文本框 49"/>
            <p:cNvSpPr txBox="1"/>
            <p:nvPr/>
          </p:nvSpPr>
          <p:spPr>
            <a:xfrm>
              <a:off x="9216610" y="4643951"/>
              <a:ext cx="278295" cy="158677"/>
            </a:xfrm>
            <a:prstGeom prst="rect">
              <a:avLst/>
            </a:prstGeom>
            <a:noFill/>
          </p:spPr>
          <p:txBody>
            <a:bodyPr wrap="square" lIns="36000" tIns="36000" rIns="36000" bIns="36000" rtlCol="0" anchor="ctr">
              <a:noAutofit/>
            </a:bodyPr>
            <a:lstStyle/>
            <a:p>
              <a:pPr algn="ctr">
                <a:spcBef>
                  <a:spcPts val="600"/>
                </a:spcBef>
              </a:pPr>
              <a:r>
                <a:rPr lang="zh-CN" altLang="en-US" sz="1000" b="1" dirty="0">
                  <a:solidFill>
                    <a:schemeClr val="accent1"/>
                  </a:solidFill>
                  <a:latin typeface="+mj-lt"/>
                </a:rPr>
                <a:t>是</a:t>
              </a:r>
              <a:endParaRPr lang="zh-CN" altLang="en-US" sz="1000" b="1" dirty="0">
                <a:solidFill>
                  <a:schemeClr val="accent1"/>
                </a:solidFill>
                <a:latin typeface="+mj-lt"/>
              </a:endParaRPr>
            </a:p>
          </p:txBody>
        </p:sp>
        <p:sp>
          <p:nvSpPr>
            <p:cNvPr id="51" name="文本框 50"/>
            <p:cNvSpPr txBox="1"/>
            <p:nvPr/>
          </p:nvSpPr>
          <p:spPr>
            <a:xfrm>
              <a:off x="11612492" y="3776885"/>
              <a:ext cx="278295" cy="158677"/>
            </a:xfrm>
            <a:prstGeom prst="rect">
              <a:avLst/>
            </a:prstGeom>
            <a:noFill/>
          </p:spPr>
          <p:txBody>
            <a:bodyPr wrap="square" lIns="36000" tIns="36000" rIns="36000" bIns="36000" rtlCol="0" anchor="ctr">
              <a:noAutofit/>
            </a:bodyPr>
            <a:lstStyle/>
            <a:p>
              <a:pPr algn="ctr">
                <a:spcBef>
                  <a:spcPts val="600"/>
                </a:spcBef>
              </a:pPr>
              <a:r>
                <a:rPr lang="zh-CN" altLang="en-US" sz="1000" b="1" dirty="0">
                  <a:solidFill>
                    <a:schemeClr val="accent1"/>
                  </a:solidFill>
                  <a:latin typeface="+mj-lt"/>
                </a:rPr>
                <a:t>否</a:t>
              </a:r>
              <a:endParaRPr lang="zh-CN" altLang="en-US" sz="1000" b="1" dirty="0">
                <a:solidFill>
                  <a:schemeClr val="accent1"/>
                </a:solidFill>
                <a:latin typeface="+mj-lt"/>
              </a:endParaRPr>
            </a:p>
          </p:txBody>
        </p:sp>
        <p:sp>
          <p:nvSpPr>
            <p:cNvPr id="52" name="文本框 51"/>
            <p:cNvSpPr txBox="1"/>
            <p:nvPr/>
          </p:nvSpPr>
          <p:spPr>
            <a:xfrm>
              <a:off x="7212634" y="4189142"/>
              <a:ext cx="278295" cy="158677"/>
            </a:xfrm>
            <a:prstGeom prst="rect">
              <a:avLst/>
            </a:prstGeom>
            <a:noFill/>
          </p:spPr>
          <p:txBody>
            <a:bodyPr wrap="square" lIns="36000" tIns="36000" rIns="36000" bIns="36000" rtlCol="0" anchor="ctr">
              <a:noAutofit/>
            </a:bodyPr>
            <a:lstStyle/>
            <a:p>
              <a:pPr algn="ctr">
                <a:spcBef>
                  <a:spcPts val="600"/>
                </a:spcBef>
              </a:pPr>
              <a:r>
                <a:rPr lang="zh-CN" altLang="en-US" sz="1000" b="1" dirty="0">
                  <a:solidFill>
                    <a:schemeClr val="accent1"/>
                  </a:solidFill>
                  <a:latin typeface="+mj-lt"/>
                </a:rPr>
                <a:t>否</a:t>
              </a:r>
              <a:endParaRPr lang="zh-CN" altLang="en-US" sz="1000" b="1" dirty="0">
                <a:solidFill>
                  <a:schemeClr val="accent1"/>
                </a:solidFill>
                <a:latin typeface="+mj-lt"/>
              </a:endParaRPr>
            </a:p>
          </p:txBody>
        </p:sp>
      </p:grpSp>
      <p:pic>
        <p:nvPicPr>
          <p:cNvPr id="55" name="图片 54"/>
          <p:cNvPicPr>
            <a:picLocks noChangeAspect="1"/>
          </p:cNvPicPr>
          <p:nvPr/>
        </p:nvPicPr>
        <p:blipFill>
          <a:blip r:embed="rId1"/>
          <a:stretch>
            <a:fillRect/>
          </a:stretch>
        </p:blipFill>
        <p:spPr>
          <a:xfrm>
            <a:off x="3987493" y="4215927"/>
            <a:ext cx="3171855" cy="1536782"/>
          </a:xfrm>
          <a:prstGeom prst="rect">
            <a:avLst/>
          </a:prstGeom>
          <a:ln w="19050">
            <a:solidFill>
              <a:schemeClr val="accent1"/>
            </a:solidFill>
          </a:ln>
        </p:spPr>
      </p:pic>
      <p:pic>
        <p:nvPicPr>
          <p:cNvPr id="57" name="图片 56"/>
          <p:cNvPicPr>
            <a:picLocks noChangeAspect="1"/>
          </p:cNvPicPr>
          <p:nvPr/>
        </p:nvPicPr>
        <p:blipFill>
          <a:blip r:embed="rId2"/>
          <a:stretch>
            <a:fillRect/>
          </a:stretch>
        </p:blipFill>
        <p:spPr>
          <a:xfrm>
            <a:off x="3979227" y="5800943"/>
            <a:ext cx="2194645" cy="1033468"/>
          </a:xfrm>
          <a:prstGeom prst="rect">
            <a:avLst/>
          </a:prstGeom>
        </p:spPr>
      </p:pic>
      <p:sp>
        <p:nvSpPr>
          <p:cNvPr id="58" name="文本框 57"/>
          <p:cNvSpPr txBox="1"/>
          <p:nvPr/>
        </p:nvSpPr>
        <p:spPr>
          <a:xfrm>
            <a:off x="5332674" y="6578910"/>
            <a:ext cx="1526652" cy="258417"/>
          </a:xfrm>
          <a:prstGeom prst="rect">
            <a:avLst/>
          </a:prstGeom>
          <a:noFill/>
        </p:spPr>
        <p:txBody>
          <a:bodyPr wrap="square" lIns="36000" tIns="36000" rIns="36000" bIns="36000" rtlCol="0">
            <a:noAutofit/>
          </a:bodyPr>
          <a:lstStyle/>
          <a:p>
            <a:pPr algn="l">
              <a:spcBef>
                <a:spcPts val="600"/>
              </a:spcBef>
            </a:pPr>
            <a:r>
              <a:rPr lang="zh-CN" altLang="en-US" sz="1100" b="1" dirty="0">
                <a:solidFill>
                  <a:schemeClr val="accent1"/>
                </a:solidFill>
                <a:latin typeface="+mj-lt"/>
              </a:rPr>
              <a:t>壳牌方案电流脉冲曲线</a:t>
            </a:r>
            <a:endParaRPr lang="zh-CN" altLang="en-US" sz="1100" b="1" dirty="0">
              <a:solidFill>
                <a:schemeClr val="accent1"/>
              </a:solidFill>
              <a:latin typeface="+mj-lt"/>
            </a:endParaRPr>
          </a:p>
        </p:txBody>
      </p:sp>
      <p:pic>
        <p:nvPicPr>
          <p:cNvPr id="62" name="图片 6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769" y="4140215"/>
            <a:ext cx="3727168" cy="2097647"/>
          </a:xfrm>
          <a:prstGeom prst="rect">
            <a:avLst/>
          </a:prstGeom>
        </p:spPr>
      </p:pic>
      <p:cxnSp>
        <p:nvCxnSpPr>
          <p:cNvPr id="64" name="直接连接符 63"/>
          <p:cNvCxnSpPr/>
          <p:nvPr/>
        </p:nvCxnSpPr>
        <p:spPr>
          <a:xfrm flipH="1">
            <a:off x="2305878" y="4189142"/>
            <a:ext cx="1681614" cy="45480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2293178" y="4836420"/>
            <a:ext cx="1686049" cy="90148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10085840" y="1316149"/>
            <a:ext cx="1526652" cy="258417"/>
          </a:xfrm>
          <a:prstGeom prst="rect">
            <a:avLst/>
          </a:prstGeom>
          <a:noFill/>
        </p:spPr>
        <p:txBody>
          <a:bodyPr wrap="square" lIns="36000" tIns="36000" rIns="36000" bIns="36000" rtlCol="0">
            <a:noAutofit/>
          </a:bodyPr>
          <a:lstStyle/>
          <a:p>
            <a:pPr algn="ctr">
              <a:spcBef>
                <a:spcPts val="600"/>
              </a:spcBef>
            </a:pPr>
            <a:r>
              <a:rPr lang="zh-CN" altLang="en-US" sz="1100" b="1" dirty="0">
                <a:solidFill>
                  <a:schemeClr val="accent1"/>
                </a:solidFill>
                <a:latin typeface="+mj-lt"/>
              </a:rPr>
              <a:t>脉冲加热控制逻辑</a:t>
            </a:r>
            <a:endParaRPr lang="zh-CN" altLang="en-US" sz="1100" b="1" dirty="0">
              <a:solidFill>
                <a:schemeClr val="accent1"/>
              </a:solidFill>
              <a:latin typeface="+mj-lt"/>
            </a:endParaRPr>
          </a:p>
        </p:txBody>
      </p:sp>
      <p:sp>
        <p:nvSpPr>
          <p:cNvPr id="69" name="文本框 68"/>
          <p:cNvSpPr txBox="1"/>
          <p:nvPr/>
        </p:nvSpPr>
        <p:spPr>
          <a:xfrm>
            <a:off x="1143363" y="6237862"/>
            <a:ext cx="1694316" cy="192469"/>
          </a:xfrm>
          <a:prstGeom prst="rect">
            <a:avLst/>
          </a:prstGeom>
          <a:noFill/>
        </p:spPr>
        <p:txBody>
          <a:bodyPr wrap="square" lIns="36000" tIns="36000" rIns="36000" bIns="36000" rtlCol="0">
            <a:noAutofit/>
          </a:bodyPr>
          <a:lstStyle/>
          <a:p>
            <a:pPr algn="l">
              <a:spcBef>
                <a:spcPts val="600"/>
              </a:spcBef>
            </a:pPr>
            <a:r>
              <a:rPr lang="zh-CN" altLang="en-US" sz="1100" b="1" dirty="0">
                <a:solidFill>
                  <a:schemeClr val="accent1"/>
                </a:solidFill>
                <a:latin typeface="+mj-lt"/>
              </a:rPr>
              <a:t>桩端脉冲加热模块示意图</a:t>
            </a:r>
            <a:endParaRPr lang="zh-CN" altLang="en-US" sz="1100" b="1" dirty="0">
              <a:solidFill>
                <a:schemeClr val="accent1"/>
              </a:solidFill>
              <a:latin typeface="+mj-lt"/>
            </a:endParaRPr>
          </a:p>
        </p:txBody>
      </p:sp>
      <p:sp>
        <p:nvSpPr>
          <p:cNvPr id="70" name="文本框 69"/>
          <p:cNvSpPr txBox="1"/>
          <p:nvPr/>
        </p:nvSpPr>
        <p:spPr>
          <a:xfrm>
            <a:off x="4748980" y="4008874"/>
            <a:ext cx="1694316" cy="192469"/>
          </a:xfrm>
          <a:prstGeom prst="rect">
            <a:avLst/>
          </a:prstGeom>
          <a:noFill/>
        </p:spPr>
        <p:txBody>
          <a:bodyPr wrap="square" lIns="36000" tIns="36000" rIns="36000" bIns="36000" rtlCol="0">
            <a:noAutofit/>
          </a:bodyPr>
          <a:lstStyle/>
          <a:p>
            <a:pPr algn="ctr">
              <a:spcBef>
                <a:spcPts val="600"/>
              </a:spcBef>
            </a:pPr>
            <a:r>
              <a:rPr lang="en-US" altLang="zh-CN" sz="1100" b="1" dirty="0">
                <a:solidFill>
                  <a:schemeClr val="accent1"/>
                </a:solidFill>
                <a:latin typeface="+mj-lt"/>
              </a:rPr>
              <a:t>DCDC</a:t>
            </a:r>
            <a:r>
              <a:rPr lang="zh-CN" altLang="en-US" sz="1100" b="1" dirty="0">
                <a:solidFill>
                  <a:schemeClr val="accent1"/>
                </a:solidFill>
                <a:latin typeface="+mj-lt"/>
              </a:rPr>
              <a:t>模块原理图</a:t>
            </a:r>
            <a:endParaRPr lang="zh-CN" altLang="en-US" sz="1100" b="1" dirty="0">
              <a:solidFill>
                <a:schemeClr val="accent1"/>
              </a:solidFill>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en-US" altLang="zh-CN" sz="2400" dirty="0">
                <a:solidFill>
                  <a:schemeClr val="accent1"/>
                </a:solidFill>
                <a:latin typeface="+mj-lt"/>
                <a:sym typeface="+mn-ea"/>
              </a:rPr>
              <a:t>BACKUP</a:t>
            </a:r>
            <a:r>
              <a:rPr lang="zh-CN" altLang="en-US" sz="2400" dirty="0">
                <a:solidFill>
                  <a:schemeClr val="accent1"/>
                </a:solidFill>
                <a:latin typeface="+mj-lt"/>
                <a:sym typeface="+mn-ea"/>
              </a:rPr>
              <a:t>：车载</a:t>
            </a:r>
            <a:r>
              <a:rPr lang="zh-CN" altLang="en-US" sz="2400" dirty="0">
                <a:solidFill>
                  <a:schemeClr val="accent1"/>
                </a:solidFill>
                <a:latin typeface="+mj-lt"/>
                <a:sym typeface="+mn-ea"/>
              </a:rPr>
              <a:t>与桩端</a:t>
            </a:r>
            <a:r>
              <a:rPr lang="en-US" altLang="zh-CN" sz="2400" dirty="0">
                <a:solidFill>
                  <a:schemeClr val="accent1"/>
                </a:solidFill>
                <a:latin typeface="+mj-lt"/>
                <a:sym typeface="+mn-ea"/>
              </a:rPr>
              <a:t>/</a:t>
            </a:r>
            <a:r>
              <a:rPr lang="zh-CN" altLang="en-US" sz="2400" dirty="0">
                <a:solidFill>
                  <a:schemeClr val="accent1"/>
                </a:solidFill>
                <a:sym typeface="+mn-ea"/>
              </a:rPr>
              <a:t>脉冲加热</a:t>
            </a:r>
            <a:r>
              <a:rPr lang="zh-CN" altLang="en-US" sz="2400" dirty="0">
                <a:solidFill>
                  <a:schemeClr val="accent1"/>
                </a:solidFill>
                <a:latin typeface="+mj-lt"/>
                <a:sym typeface="+mn-ea"/>
              </a:rPr>
              <a:t>技术</a:t>
            </a:r>
            <a:r>
              <a:rPr lang="zh-CN" altLang="en-US" sz="2400" dirty="0">
                <a:solidFill>
                  <a:schemeClr val="accent1"/>
                </a:solidFill>
                <a:latin typeface="+mj-lt"/>
                <a:sym typeface="+mn-ea"/>
              </a:rPr>
              <a:t>对比</a:t>
            </a:r>
            <a:endParaRPr lang="zh-CN" altLang="en-US" sz="2400" dirty="0">
              <a:solidFill>
                <a:schemeClr val="accent1"/>
              </a:solidFill>
              <a:latin typeface="+mj-lt"/>
              <a:sym typeface="+mn-ea"/>
            </a:endParaRPr>
          </a:p>
        </p:txBody>
      </p:sp>
      <p:graphicFrame>
        <p:nvGraphicFramePr>
          <p:cNvPr id="5" name="表格 4"/>
          <p:cNvGraphicFramePr/>
          <p:nvPr>
            <p:custDataLst>
              <p:tags r:id="rId1"/>
            </p:custDataLst>
          </p:nvPr>
        </p:nvGraphicFramePr>
        <p:xfrm>
          <a:off x="407670" y="908685"/>
          <a:ext cx="11268710" cy="4980940"/>
        </p:xfrm>
        <a:graphic>
          <a:graphicData uri="http://schemas.openxmlformats.org/drawingml/2006/table">
            <a:tbl>
              <a:tblPr/>
              <a:tblGrid>
                <a:gridCol w="1723390"/>
                <a:gridCol w="4772025"/>
                <a:gridCol w="4773295"/>
              </a:tblGrid>
              <a:tr h="280035">
                <a:tc>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对比项</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chemeClr val="bg1">
                        <a:lumMod val="50000"/>
                      </a:schemeClr>
                    </a:solidFill>
                  </a:tcPr>
                </a:tc>
                <a:tc>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车载电机侧脉冲加热</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chemeClr val="bg1">
                        <a:lumMod val="50000"/>
                      </a:schemeClr>
                    </a:solidFill>
                  </a:tcPr>
                </a:tc>
                <a:tc>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充电桩端脉冲加热</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chemeClr val="bg1">
                        <a:lumMod val="50000"/>
                      </a:schemeClr>
                    </a:solidFill>
                  </a:tcPr>
                </a:tc>
              </a:tr>
              <a:tr h="27686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能量接口</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电池包通过高压母线连接逆变器和电机</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充电桩通过充电接口连接电池包</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28003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主要执行器</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车载逆变器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电机绕组</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桩端双向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DCDC /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储能模块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功率模块</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27686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电流路径</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电池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高压母线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逆变器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电机绕组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高压母线</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电池</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充电桩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充电接口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电池包</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27940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典型频率</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偏高，可到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kHz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级；受电机电感、电控采样和零转矩控制影响</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偏低，例如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50-100 Hz</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；主要受桩端功率模块和电池接受能力影响</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54610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电流形成机制</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通过电压矢量、</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PWM</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、频率、占空比在电机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R/L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回路中形成有效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RMS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电流</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桩端直接调制充放电脉冲电流，向电池端口注入周期电流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54673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电流幅值性质</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为频率、占空比、母线电压、电机参数和限流共同作用后的结果；</a:t>
                      </a:r>
                      <a:endParaRPr lang="zh-CN" altLang="en-US" sz="1200" b="0" i="0">
                        <a:solidFill>
                          <a:srgbClr val="000000"/>
                        </a:solidFill>
                        <a:latin typeface="微软雅黑" panose="020B0503020204020204" pitchFamily="34" charset="-122"/>
                        <a:ea typeface="微软雅黑" panose="020B0503020204020204" pitchFamily="34" charset="-122"/>
                      </a:endParaRPr>
                    </a:p>
                    <a:p>
                      <a:pPr algn="l" fontAlgn="t"/>
                      <a:r>
                        <a:rPr lang="zh-CN" altLang="en-US" sz="1200" b="0" i="0">
                          <a:solidFill>
                            <a:srgbClr val="000000"/>
                          </a:solidFill>
                          <a:latin typeface="微软雅黑" panose="020B0503020204020204" pitchFamily="34" charset="-122"/>
                          <a:ea typeface="微软雅黑" panose="020B0503020204020204" pitchFamily="34" charset="-122"/>
                        </a:rPr>
                        <a:t>作为目标量但不能任意指定</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桩端功率模块可直接控制的输出电流目标，仍受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和接口能力限制</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27749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主要热源</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目标热源为电池内阻发热，同时伴随电机铜耗、逆变器损耗</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目标热源为电池内阻发热，桩端功率模块损耗主要在车外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54673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关键约束</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电机 </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RMS/</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峰值电流、逆变器限流、母线纹波、零转矩控制、双电机同步、</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NVH</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充电接口能力、桩端双向功率能力、</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通信、电池脉冲电流窗口、多包分流</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27876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低频风险</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电流峰值增大、转矩脉动、机械抖动、逆变器过流、母线纹波增大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更接近电池端低频充放电脉冲，需关注析锂</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27813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车辆硬件改动</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原则上可复用现有电机和逆变器，对电控策略要求高</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车端硬件改动较小，需要专用充电桩和通信策略</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28003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基础设施依赖</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不依赖专用桩，车辆自带能力决定效果</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强依赖专用充电桩，适合固定场站</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27686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控制难点</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电机零转矩、高频电流控制、双电机同步、限流保护</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桩端双向功率控制、</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 </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协同、多包电流分配</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noFill/>
                  </a:tcPr>
                </a:tc>
              </a:tr>
              <a:tr h="279400">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适用场景</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车辆离桩、驻车、自主预热</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插枪充电前或充电中低温预热</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rgbClr val="D9E2F3"/>
                      </a:solidFill>
                      <a:prstDash val="solid"/>
                      <a:headEnd type="none" w="med" len="med"/>
                      <a:tailEnd type="none" w="med" len="med"/>
                    </a:lnB>
                    <a:solidFill>
                      <a:srgbClr val="C0E6F5"/>
                    </a:solidFill>
                  </a:tcPr>
                </a:tc>
              </a:tr>
              <a:tr h="277495">
                <a:tc>
                  <a:txBody>
                    <a:bodyPr/>
                    <a:p>
                      <a:pPr algn="ctr" fontAlgn="t"/>
                      <a:r>
                        <a:rPr lang="zh-CN" altLang="en-US" sz="1200" b="1" i="0">
                          <a:solidFill>
                            <a:srgbClr val="1F2937"/>
                          </a:solidFill>
                          <a:latin typeface="微软雅黑" panose="020B0503020204020204" pitchFamily="34" charset="-122"/>
                          <a:ea typeface="微软雅黑" panose="020B0503020204020204" pitchFamily="34" charset="-122"/>
                        </a:rPr>
                        <a:t>核心工程风险</a:t>
                      </a:r>
                      <a:endParaRPr lang="zh-CN" altLang="en-US" sz="1200" b="1" i="0">
                        <a:solidFill>
                          <a:srgbClr val="1F2937"/>
                        </a:solidFill>
                        <a:latin typeface="微软雅黑" panose="020B0503020204020204" pitchFamily="34" charset="-122"/>
                        <a:ea typeface="微软雅黑" panose="020B0503020204020204" pitchFamily="34" charset="-122"/>
                      </a:endParaRPr>
                    </a:p>
                  </a:txBody>
                  <a:tcPr marL="7937" marR="7937" marT="7937" marB="0" anchor="ctr" anchorCtr="0">
                    <a:lnL w="6350">
                      <a:solidFill>
                        <a:schemeClr val="tx1"/>
                      </a:solidFill>
                      <a:prstDash val="soli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chemeClr val="tx1"/>
                      </a:solidFill>
                      <a:prstDash val="solid"/>
                      <a:headEnd type="none" w="med" len="med"/>
                      <a:tailEnd type="none" w="med" len="med"/>
                    </a:lnB>
                    <a:solidFill>
                      <a:srgbClr val="F3F6FB"/>
                    </a:solid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电驱可靠性和控制可实现性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rgbClr val="D9E2F3"/>
                      </a:solidFill>
                      <a:prstDash val="solid"/>
                      <a:headEnd type="none" w="med" len="med"/>
                      <a:tailEnd type="none" w="med" len="med"/>
                    </a:lnT>
                    <a:lnB w="6350" cap="flat" cmpd="sng">
                      <a:solidFill>
                        <a:schemeClr val="tx1"/>
                      </a:solidFill>
                      <a:prstDash val="solid"/>
                      <a:headEnd type="none" w="med" len="med"/>
                      <a:tailEnd type="none" w="med" len="med"/>
                    </a:lnB>
                    <a:noFill/>
                  </a:tcPr>
                </a:tc>
                <a:tc>
                  <a:txBody>
                    <a:bodyPr/>
                    <a:p>
                      <a:pPr algn="l" fontAlgn="t"/>
                      <a:r>
                        <a:rPr lang="zh-CN" altLang="en-US" sz="1200" b="0" i="0">
                          <a:solidFill>
                            <a:srgbClr val="000000"/>
                          </a:solidFill>
                          <a:latin typeface="微软雅黑" panose="020B0503020204020204" pitchFamily="34" charset="-122"/>
                          <a:ea typeface="微软雅黑" panose="020B0503020204020204" pitchFamily="34" charset="-122"/>
                        </a:rPr>
                        <a:t>桩端成本、兼容性和多车型标定</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chemeClr val="tx1"/>
                      </a:solidFill>
                      <a:prstDash val="solid"/>
                      <a:headEnd type="none" w="med" len="med"/>
                      <a:tailEnd type="none" w="med" len="med"/>
                    </a:lnL>
                    <a:lnR w="6350">
                      <a:solidFill>
                        <a:schemeClr val="tx1"/>
                      </a:solidFill>
                      <a:prstDash val="solid"/>
                    </a:lnR>
                    <a:lnT w="6350" cap="flat" cmpd="sng">
                      <a:solidFill>
                        <a:srgbClr val="D9E2F3"/>
                      </a:solidFill>
                      <a:prstDash val="solid"/>
                      <a:headEnd type="none" w="med" len="med"/>
                      <a:tailEnd type="none" w="med" len="med"/>
                    </a:lnT>
                    <a:lnB w="6350" cap="flat" cmpd="sng">
                      <a:solidFill>
                        <a:schemeClr val="tx1"/>
                      </a:solidFill>
                      <a:prstDash val="solid"/>
                      <a:headEnd type="none" w="med" len="med"/>
                      <a:tailEnd type="none" w="med" len="med"/>
                    </a:lnB>
                    <a:noFill/>
                  </a:tcPr>
                </a:tc>
              </a:tr>
            </a:tbl>
          </a:graphicData>
        </a:graphic>
      </p:graphicFrame>
      <p:sp>
        <p:nvSpPr>
          <p:cNvPr id="6" name="文本框 5"/>
          <p:cNvSpPr txBox="1"/>
          <p:nvPr/>
        </p:nvSpPr>
        <p:spPr>
          <a:xfrm>
            <a:off x="1524000" y="6062980"/>
            <a:ext cx="9120505" cy="584200"/>
          </a:xfrm>
          <a:prstGeom prst="rect">
            <a:avLst/>
          </a:prstGeom>
          <a:noFill/>
        </p:spPr>
        <p:txBody>
          <a:bodyPr wrap="square" lIns="36000" tIns="36000" rIns="36000" bIns="36000" rtlCol="0">
            <a:noAutofit/>
          </a:bodyPr>
          <a:p>
            <a:pPr marL="285750" indent="-285750" algn="l">
              <a:spcBef>
                <a:spcPts val="600"/>
              </a:spcBef>
              <a:buFont typeface="Wingdings" panose="05000000000000000000" charset="0"/>
              <a:buChar char="p"/>
            </a:pPr>
            <a:r>
              <a:rPr lang="zh-CN" altLang="en-US" sz="1400" b="1" dirty="0" err="1" smtClean="0">
                <a:solidFill>
                  <a:schemeClr val="tx1"/>
                </a:solidFill>
                <a:latin typeface="+mj-lt"/>
              </a:rPr>
              <a:t>车端</a:t>
            </a:r>
            <a:r>
              <a:rPr lang="zh-CN" altLang="en-US" sz="1400" dirty="0" err="1" smtClean="0">
                <a:solidFill>
                  <a:schemeClr val="tx1"/>
                </a:solidFill>
                <a:latin typeface="+mj-lt"/>
              </a:rPr>
              <a:t>不依赖专用充电设施，在驻车或出车前自主预热；需重点验证电机、电控和整车 </a:t>
            </a:r>
            <a:r>
              <a:rPr lang="en-US" altLang="zh-CN" sz="1400" dirty="0" err="1" smtClean="0">
                <a:solidFill>
                  <a:schemeClr val="tx1"/>
                </a:solidFill>
                <a:latin typeface="+mj-lt"/>
              </a:rPr>
              <a:t>NVH </a:t>
            </a:r>
            <a:r>
              <a:rPr lang="zh-CN" altLang="en-US" sz="1400" dirty="0" err="1" smtClean="0">
                <a:solidFill>
                  <a:schemeClr val="tx1"/>
                </a:solidFill>
                <a:latin typeface="+mj-lt"/>
              </a:rPr>
              <a:t>边界。</a:t>
            </a:r>
            <a:endParaRPr lang="zh-CN" altLang="en-US" sz="1400" dirty="0" err="1" smtClean="0">
              <a:solidFill>
                <a:schemeClr val="tx1"/>
              </a:solidFill>
              <a:latin typeface="+mj-lt"/>
            </a:endParaRPr>
          </a:p>
          <a:p>
            <a:pPr marL="285750" indent="-285750" algn="l">
              <a:spcBef>
                <a:spcPts val="600"/>
              </a:spcBef>
              <a:buFont typeface="Wingdings" panose="05000000000000000000" charset="0"/>
              <a:buChar char="p"/>
            </a:pPr>
            <a:r>
              <a:rPr lang="zh-CN" altLang="en-US" sz="1400" b="1" dirty="0" err="1" smtClean="0">
                <a:solidFill>
                  <a:schemeClr val="tx1"/>
                </a:solidFill>
                <a:latin typeface="+mj-lt"/>
              </a:rPr>
              <a:t>桩端</a:t>
            </a:r>
            <a:r>
              <a:rPr lang="zh-CN" altLang="en-US" sz="1400" dirty="0" err="1" smtClean="0">
                <a:solidFill>
                  <a:schemeClr val="tx1"/>
                </a:solidFill>
                <a:latin typeface="+mj-lt"/>
              </a:rPr>
              <a:t>适合固定场站、集中补能或插枪充电前预热，便于场站统一管理；需配套专用桩和车型适配。</a:t>
            </a:r>
            <a:endParaRPr lang="zh-CN" altLang="en-US" sz="1400" dirty="0" err="1" smtClean="0">
              <a:solidFill>
                <a:schemeClr val="tx1"/>
              </a:solidFill>
              <a:latin typeface="+mj-lt"/>
            </a:endParaRPr>
          </a:p>
        </p:txBody>
      </p:sp>
      <p:sp>
        <p:nvSpPr>
          <p:cNvPr id="7" name="文本框 6"/>
          <p:cNvSpPr txBox="1"/>
          <p:nvPr/>
        </p:nvSpPr>
        <p:spPr>
          <a:xfrm>
            <a:off x="476885" y="6165215"/>
            <a:ext cx="1047115" cy="381635"/>
          </a:xfrm>
          <a:prstGeom prst="rect">
            <a:avLst/>
          </a:prstGeom>
          <a:noFill/>
        </p:spPr>
        <p:txBody>
          <a:bodyPr wrap="square" lIns="36000" tIns="36000" rIns="36000" bIns="36000" rtlCol="0">
            <a:noAutofit/>
          </a:bodyPr>
          <a:p>
            <a:pPr algn="ctr">
              <a:spcBef>
                <a:spcPts val="600"/>
              </a:spcBef>
            </a:pPr>
            <a:r>
              <a:rPr lang="zh-CN" altLang="en-US" b="1" dirty="0" err="1" smtClean="0">
                <a:solidFill>
                  <a:srgbClr val="C00000"/>
                </a:solidFill>
                <a:latin typeface="+mj-lt"/>
              </a:rPr>
              <a:t>简单总结：</a:t>
            </a:r>
            <a:endParaRPr lang="zh-CN" altLang="en-US" b="1" dirty="0" err="1" smtClean="0">
              <a:solidFill>
                <a:srgbClr val="C00000"/>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17"/>
          <p:cNvPicPr>
            <a:picLocks noChangeAspect="1"/>
          </p:cNvPicPr>
          <p:nvPr/>
        </p:nvPicPr>
        <p:blipFill>
          <a:blip r:embed="rId1"/>
          <a:stretch>
            <a:fillRect/>
          </a:stretch>
        </p:blipFill>
        <p:spPr>
          <a:xfrm>
            <a:off x="7536180" y="2924810"/>
            <a:ext cx="4565015" cy="3258185"/>
          </a:xfrm>
          <a:prstGeom prst="rect">
            <a:avLst/>
          </a:prstGeom>
        </p:spPr>
      </p:pic>
      <p:sp>
        <p:nvSpPr>
          <p:cNvPr id="2" name="文本占位符 1"/>
          <p:cNvSpPr>
            <a:spLocks noGrp="1"/>
          </p:cNvSpPr>
          <p:nvPr>
            <p:ph type="body" sz="quarter" idx="12"/>
          </p:nvPr>
        </p:nvSpPr>
        <p:spPr/>
        <p:txBody>
          <a:bodyPr/>
          <a:p>
            <a:r>
              <a:rPr lang="en-US" altLang="zh-CN" sz="2400" dirty="0">
                <a:solidFill>
                  <a:schemeClr val="accent1"/>
                </a:solidFill>
                <a:latin typeface="+mj-lt"/>
                <a:sym typeface="+mn-ea"/>
              </a:rPr>
              <a:t>BACKUP</a:t>
            </a:r>
            <a:r>
              <a:rPr lang="zh-CN" altLang="en-US" sz="2400" dirty="0">
                <a:solidFill>
                  <a:schemeClr val="accent1"/>
                </a:solidFill>
                <a:latin typeface="+mj-lt"/>
                <a:sym typeface="+mn-ea"/>
              </a:rPr>
              <a:t>：</a:t>
            </a:r>
            <a:r>
              <a:rPr lang="en-US" altLang="zh-CN" sz="2400" dirty="0">
                <a:solidFill>
                  <a:schemeClr val="accent1"/>
                </a:solidFill>
                <a:latin typeface="+mj-lt"/>
                <a:sym typeface="+mn-ea"/>
              </a:rPr>
              <a:t>P1~P3</a:t>
            </a:r>
            <a:r>
              <a:rPr lang="zh-CN" altLang="en-US" sz="2400" dirty="0">
                <a:solidFill>
                  <a:schemeClr val="accent1"/>
                </a:solidFill>
                <a:latin typeface="+mj-lt"/>
                <a:sym typeface="+mn-ea"/>
              </a:rPr>
              <a:t>模型和参数</a:t>
            </a:r>
            <a:endParaRPr lang="zh-CN" altLang="en-US" sz="2400" dirty="0">
              <a:solidFill>
                <a:schemeClr val="accent1"/>
              </a:solidFill>
              <a:latin typeface="+mj-lt"/>
              <a:sym typeface="+mn-ea"/>
            </a:endParaRPr>
          </a:p>
        </p:txBody>
      </p:sp>
      <p:graphicFrame>
        <p:nvGraphicFramePr>
          <p:cNvPr id="4" name="对象 3">
            <a:hlinkClick r:id="" action="ppaction://ole?verb="/>
          </p:cNvPr>
          <p:cNvGraphicFramePr>
            <a:graphicFrameLocks noChangeAspect="1"/>
          </p:cNvGraphicFramePr>
          <p:nvPr/>
        </p:nvGraphicFramePr>
        <p:xfrm>
          <a:off x="839470" y="1340485"/>
          <a:ext cx="971550" cy="800100"/>
        </p:xfrm>
        <a:graphic>
          <a:graphicData uri="http://schemas.openxmlformats.org/presentationml/2006/ole">
            <mc:AlternateContent xmlns:mc="http://schemas.openxmlformats.org/markup-compatibility/2006">
              <mc:Choice xmlns:v="urn:schemas-microsoft-com:vml" Requires="v">
                <p:oleObj spid="_x0000_s1025" name="" showAsIcon="1" r:id="rId2" imgW="971550" imgH="800100" progId="Excel.Sheet.12">
                  <p:embed/>
                </p:oleObj>
              </mc:Choice>
              <mc:Fallback>
                <p:oleObj name="" showAsIcon="1" r:id="rId2" imgW="971550" imgH="800100" progId="Excel.Sheet.12">
                  <p:embed/>
                  <p:pic>
                    <p:nvPicPr>
                      <p:cNvPr id="0" name="图片 1024"/>
                      <p:cNvPicPr/>
                      <p:nvPr/>
                    </p:nvPicPr>
                    <p:blipFill>
                      <a:blip r:embed="rId3"/>
                      <a:stretch>
                        <a:fillRect/>
                      </a:stretch>
                    </p:blipFill>
                    <p:spPr>
                      <a:xfrm>
                        <a:off x="839470" y="1340485"/>
                        <a:ext cx="971550" cy="80010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927985" y="1340485"/>
          <a:ext cx="971550" cy="800100"/>
        </p:xfrm>
        <a:graphic>
          <a:graphicData uri="http://schemas.openxmlformats.org/presentationml/2006/ole">
            <mc:AlternateContent xmlns:mc="http://schemas.openxmlformats.org/markup-compatibility/2006">
              <mc:Choice xmlns:v="urn:schemas-microsoft-com:vml" Requires="v">
                <p:oleObj spid="_x0000_s1026" name="" showAsIcon="1" r:id="rId4" imgW="971550" imgH="800100" progId="Package">
                  <p:embed/>
                </p:oleObj>
              </mc:Choice>
              <mc:Fallback>
                <p:oleObj name="" showAsIcon="1" r:id="rId4" imgW="971550" imgH="800100" progId="Package">
                  <p:embed/>
                  <p:pic>
                    <p:nvPicPr>
                      <p:cNvPr id="0" name="图片 1025"/>
                      <p:cNvPicPr/>
                      <p:nvPr/>
                    </p:nvPicPr>
                    <p:blipFill>
                      <a:blip r:embed="rId5"/>
                      <a:stretch>
                        <a:fillRect/>
                      </a:stretch>
                    </p:blipFill>
                    <p:spPr>
                      <a:xfrm>
                        <a:off x="2927985" y="1340485"/>
                        <a:ext cx="971550" cy="80010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4008120" y="1340485"/>
          <a:ext cx="971550" cy="800100"/>
        </p:xfrm>
        <a:graphic>
          <a:graphicData uri="http://schemas.openxmlformats.org/presentationml/2006/ole">
            <mc:AlternateContent xmlns:mc="http://schemas.openxmlformats.org/markup-compatibility/2006">
              <mc:Choice xmlns:v="urn:schemas-microsoft-com:vml" Requires="v">
                <p:oleObj spid="_x0000_s1027" name="" showAsIcon="1" r:id="rId6" imgW="971550" imgH="800100" progId="Package">
                  <p:embed/>
                </p:oleObj>
              </mc:Choice>
              <mc:Fallback>
                <p:oleObj name="" showAsIcon="1" r:id="rId6" imgW="971550" imgH="800100" progId="Package">
                  <p:embed/>
                  <p:pic>
                    <p:nvPicPr>
                      <p:cNvPr id="0" name="图片 1026"/>
                      <p:cNvPicPr/>
                      <p:nvPr/>
                    </p:nvPicPr>
                    <p:blipFill>
                      <a:blip r:embed="rId7"/>
                      <a:stretch>
                        <a:fillRect/>
                      </a:stretch>
                    </p:blipFill>
                    <p:spPr>
                      <a:xfrm>
                        <a:off x="4008120" y="1340485"/>
                        <a:ext cx="971550" cy="800100"/>
                      </a:xfrm>
                      <a:prstGeom prst="rect">
                        <a:avLst/>
                      </a:prstGeom>
                    </p:spPr>
                  </p:pic>
                </p:oleObj>
              </mc:Fallback>
            </mc:AlternateContent>
          </a:graphicData>
        </a:graphic>
      </p:graphicFrame>
      <p:graphicFrame>
        <p:nvGraphicFramePr>
          <p:cNvPr id="14" name="表格 13"/>
          <p:cNvGraphicFramePr/>
          <p:nvPr>
            <p:custDataLst>
              <p:tags r:id="rId8"/>
            </p:custDataLst>
          </p:nvPr>
        </p:nvGraphicFramePr>
        <p:xfrm>
          <a:off x="438150" y="2515870"/>
          <a:ext cx="7114540" cy="3608705"/>
        </p:xfrm>
        <a:graphic>
          <a:graphicData uri="http://schemas.openxmlformats.org/drawingml/2006/table">
            <a:tbl>
              <a:tblPr/>
              <a:tblGrid>
                <a:gridCol w="1395095"/>
                <a:gridCol w="5719445"/>
              </a:tblGrid>
              <a:tr h="292735">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当前对象</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12700">
                      <a:solidFill>
                        <a:schemeClr val="tx1"/>
                      </a:solidFill>
                      <a:prstDash val="solid"/>
                    </a:lnT>
                    <a:lnB w="6350">
                      <a:solidFill>
                        <a:schemeClr val="tx1"/>
                      </a:solidFill>
                      <a:prstDash val="solid"/>
                    </a:lnB>
                    <a:lnTlToBr>
                      <a:noFill/>
                    </a:lnTlToBr>
                    <a:lnBlToTr>
                      <a:noFill/>
                    </a:lnBlToTr>
                    <a:solidFill>
                      <a:srgbClr val="F2F2F2"/>
                    </a:solidFill>
                  </a:tcPr>
                </a:tc>
                <a:tc>
                  <a:txBody>
                    <a:bodyPr/>
                    <a:p>
                      <a:pPr algn="l" fontAlgn="t"/>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三包并联整体输出、双电机脉冲、</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811.44 V</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12700">
                      <a:solidFill>
                        <a:schemeClr val="tx1"/>
                      </a:solidFill>
                      <a:prstDash val="solid"/>
                    </a:lnT>
                    <a:lnB w="6350">
                      <a:solidFill>
                        <a:schemeClr val="tx1"/>
                      </a:solidFill>
                      <a:prstDash val="solid"/>
                    </a:lnB>
                    <a:lnTlToBr>
                      <a:noFill/>
                    </a:lnTlToBr>
                    <a:lnBlToTr>
                      <a:noFill/>
                    </a:lnBlToTr>
                  </a:tcPr>
                </a:tc>
              </a:tr>
              <a:tr h="292735">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当前模型级别</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F2F2F2"/>
                    </a:solidFill>
                  </a:tcPr>
                </a:tc>
                <a:tc>
                  <a:txBody>
                    <a:bodyPr/>
                    <a:p>
                      <a:pPr algn="l" fontAlgn="t"/>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零维</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电路原理粗筛</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tcPr>
                </a:tc>
              </a:tr>
              <a:tr h="292100">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当前主方案</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F2F2F2"/>
                    </a:solidFill>
                  </a:tcPr>
                </a:tc>
                <a:tc>
                  <a:txBody>
                    <a:bodyPr/>
                    <a:p>
                      <a:pPr algn="l" fontAlgn="t"/>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三包并联整体输出 </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双电机脉冲</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tcPr>
                </a:tc>
              </a:tr>
              <a:tr h="292735">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当前电池发热口径</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F2F2F2"/>
                    </a:solidFill>
                  </a:tcPr>
                </a:tc>
                <a:tc>
                  <a:txBody>
                    <a:bodyPr/>
                    <a:p>
                      <a:pPr algn="l" fontAlgn="t"/>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I_rms^2 * R_bat(T,SOC)</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，并用 </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R_heat_factor </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对高频阻抗做敏感性占位</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tcPr>
                </a:tc>
              </a:tr>
              <a:tr h="292735">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当前热边界口径</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F2F2F2"/>
                    </a:solidFill>
                  </a:tcPr>
                </a:tc>
                <a:tc>
                  <a:txBody>
                    <a:bodyPr/>
                    <a:p>
                      <a:pPr algn="l" fontAlgn="t"/>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集总热容 </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弱对流，默认 </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h = 5 W/m2/K</a:t>
                      </a:r>
                      <a:endPar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tcPr>
                </a:tc>
              </a:tr>
              <a:tr h="1657985">
                <a:tc>
                  <a:txBody>
                    <a:bodyPr/>
                    <a:p>
                      <a:pPr algn="ctr" fontAlgn="ctr">
                        <a:buNone/>
                      </a:pPr>
                      <a:r>
                        <a:rPr lang="zh-CN" altLang="en-US" sz="1200" b="1" i="0">
                          <a:solidFill>
                            <a:srgbClr val="000000"/>
                          </a:solidFill>
                          <a:latin typeface="微软雅黑" panose="020B0503020204020204" pitchFamily="34" charset="-122"/>
                          <a:ea typeface="微软雅黑" panose="020B0503020204020204" pitchFamily="34" charset="-122"/>
                        </a:rPr>
                        <a:t>当前约束</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F2F2F2"/>
                    </a:solidFill>
                  </a:tcPr>
                </a:tc>
                <a:tc>
                  <a:txBody>
                    <a:bodyPr/>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高频阻抗</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发热边界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当前热源按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`I_rms^2 * R_bat(T,SOC)`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占位，缺少目标电芯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`Re(Z,T,SOC,f)`</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低温回充半周接受能力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`30s/60s`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规格窗口当前只能作参考，不能直接等同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`kHz`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级双向脉冲边界。</a:t>
                      </a:r>
                      <a:endParaRPr lang="zh-CN" altLang="en-US"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 BMS</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限值与保护逻辑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当前未显式建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BMS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动态限值、故障触发和退出路径。</a:t>
                      </a:r>
                      <a:endParaRPr lang="zh-CN" altLang="en-US"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并联系统均流与热边界 </a:t>
                      </a: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200" b="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en-US" altLang="zh-CN"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当前三包并联、弱对流、集总热容都还是工程占位，需要确认是否可接受。</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tcPr>
                </a:tc>
              </a:tr>
              <a:tr h="487680">
                <a:tc>
                  <a:txBody>
                    <a:bodyPr/>
                    <a:p>
                      <a:pPr algn="ctr" fontAlgn="ctr"/>
                      <a:r>
                        <a:rPr lang="zh-CN" altLang="en-US" sz="1200" b="1" i="0">
                          <a:solidFill>
                            <a:srgbClr val="000000"/>
                          </a:solidFill>
                          <a:latin typeface="微软雅黑" panose="020B0503020204020204" pitchFamily="34" charset="-122"/>
                          <a:ea typeface="微软雅黑" panose="020B0503020204020204" pitchFamily="34" charset="-122"/>
                        </a:rPr>
                        <a:t>当前结论边界</a:t>
                      </a:r>
                      <a:endParaRPr lang="zh-CN" altLang="en-US"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6350">
                      <a:solidFill>
                        <a:schemeClr val="tx1"/>
                      </a:solidFill>
                      <a:prstDash val="solid"/>
                    </a:lnR>
                    <a:lnT w="6350">
                      <a:solidFill>
                        <a:schemeClr val="tx1"/>
                      </a:solidFill>
                      <a:prstDash val="solid"/>
                    </a:lnT>
                    <a:lnB w="12700">
                      <a:solidFill>
                        <a:schemeClr val="tx1"/>
                      </a:solidFill>
                      <a:prstDash val="solid"/>
                    </a:lnB>
                    <a:lnTlToBr>
                      <a:noFill/>
                    </a:lnTlToBr>
                    <a:lnBlToTr>
                      <a:noFill/>
                    </a:lnBlToTr>
                    <a:solidFill>
                      <a:srgbClr val="F2F2F2"/>
                    </a:solidFill>
                  </a:tcPr>
                </a:tc>
                <a:tc>
                  <a:txBody>
                    <a:bodyPr/>
                    <a:p>
                      <a:pPr algn="l" fontAlgn="t"/>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可用于判断温升量级、等效</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SOC</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消耗、电流压力和方案排序；不能直接证明高频安全、</a:t>
                      </a:r>
                      <a:r>
                        <a:rPr lang="en-US" altLang="zh-CN"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BMS</a:t>
                      </a:r>
                      <a:r>
                        <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允许、实车可装车</a:t>
                      </a:r>
                      <a:endParaRPr lang="zh-CN" altLang="en-US" sz="1200" b="0" i="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a:lnL w="6350">
                      <a:solidFill>
                        <a:schemeClr val="tx1"/>
                      </a:solidFill>
                      <a:prstDash val="solid"/>
                    </a:lnL>
                    <a:lnR w="12700">
                      <a:solidFill>
                        <a:schemeClr val="tx1"/>
                      </a:solidFill>
                      <a:prstDash val="solid"/>
                    </a:lnR>
                    <a:lnT w="6350">
                      <a:solidFill>
                        <a:schemeClr val="tx1"/>
                      </a:solidFill>
                      <a:prstDash val="solid"/>
                    </a:lnT>
                    <a:lnB w="12700">
                      <a:solidFill>
                        <a:schemeClr val="tx1"/>
                      </a:solidFill>
                      <a:prstDash val="solid"/>
                    </a:lnB>
                    <a:lnTlToBr>
                      <a:noFill/>
                    </a:lnTlToBr>
                    <a:lnBlToTr>
                      <a:noFill/>
                    </a:lnBlToTr>
                  </a:tcPr>
                </a:tc>
              </a:tr>
            </a:tbl>
          </a:graphicData>
        </a:graphic>
      </p:graphicFrame>
      <p:sp>
        <p:nvSpPr>
          <p:cNvPr id="15" name="文本框 14"/>
          <p:cNvSpPr txBox="1"/>
          <p:nvPr/>
        </p:nvSpPr>
        <p:spPr>
          <a:xfrm>
            <a:off x="7802880" y="1680845"/>
            <a:ext cx="4258945" cy="440055"/>
          </a:xfrm>
          <a:prstGeom prst="rect">
            <a:avLst/>
          </a:prstGeom>
          <a:noFill/>
        </p:spPr>
        <p:txBody>
          <a:bodyPr wrap="square" lIns="36000" tIns="36000" rIns="36000" bIns="36000" rtlCol="0" anchor="t">
            <a:spAutoFit/>
          </a:bodyPr>
          <a:p>
            <a:pPr algn="l">
              <a:spcBef>
                <a:spcPts val="600"/>
              </a:spcBef>
            </a:pPr>
            <a:r>
              <a:rPr lang="zh-CN" altLang="en-US" sz="1200" dirty="0" err="1" smtClean="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模型将双电机同步脉冲、电池包并联分流、电池产热和对外散热统一为零维集总热模型，用于评估温升量级和参数敏感性。</a:t>
            </a:r>
            <a:endParaRPr lang="zh-CN" altLang="en-US" sz="1200" dirty="0" err="1" smtClean="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7511415" y="3066415"/>
            <a:ext cx="1471930"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总母线 </a:t>
            </a:r>
            <a:r>
              <a:rPr lang="en-US" altLang="zh-CN" sz="1100" dirty="0" err="1" smtClean="0">
                <a:solidFill>
                  <a:srgbClr val="C00000"/>
                </a:solidFill>
                <a:latin typeface="+mj-lt"/>
                <a:sym typeface="+mn-ea"/>
              </a:rPr>
              <a:t>RMS </a:t>
            </a:r>
            <a:r>
              <a:rPr lang="zh-CN" altLang="en-US" sz="1100" dirty="0" err="1" smtClean="0">
                <a:solidFill>
                  <a:srgbClr val="C00000"/>
                </a:solidFill>
                <a:latin typeface="+mj-lt"/>
                <a:sym typeface="+mn-ea"/>
              </a:rPr>
              <a:t>电流</a:t>
            </a:r>
            <a:endParaRPr lang="zh-CN" altLang="en-US" sz="1100" dirty="0" err="1" smtClean="0">
              <a:solidFill>
                <a:srgbClr val="C00000"/>
              </a:solidFill>
              <a:latin typeface="+mj-lt"/>
              <a:sym typeface="+mn-ea"/>
            </a:endParaRPr>
          </a:p>
        </p:txBody>
      </p:sp>
      <p:sp>
        <p:nvSpPr>
          <p:cNvPr id="20" name="文本框 19"/>
          <p:cNvSpPr txBox="1"/>
          <p:nvPr/>
        </p:nvSpPr>
        <p:spPr>
          <a:xfrm>
            <a:off x="7510780" y="3661410"/>
            <a:ext cx="1471930"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电流分配</a:t>
            </a:r>
            <a:endParaRPr lang="zh-CN" altLang="en-US" sz="1100" dirty="0" err="1" smtClean="0">
              <a:solidFill>
                <a:srgbClr val="C00000"/>
              </a:solidFill>
              <a:latin typeface="+mj-lt"/>
              <a:sym typeface="+mn-ea"/>
            </a:endParaRPr>
          </a:p>
        </p:txBody>
      </p:sp>
      <p:sp>
        <p:nvSpPr>
          <p:cNvPr id="21" name="文本框 20"/>
          <p:cNvSpPr txBox="1"/>
          <p:nvPr/>
        </p:nvSpPr>
        <p:spPr>
          <a:xfrm>
            <a:off x="7510145" y="4256405"/>
            <a:ext cx="1471930"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产热</a:t>
            </a:r>
            <a:endParaRPr lang="zh-CN" altLang="en-US" sz="1100" dirty="0" err="1" smtClean="0">
              <a:solidFill>
                <a:srgbClr val="C00000"/>
              </a:solidFill>
              <a:latin typeface="+mj-lt"/>
              <a:sym typeface="+mn-ea"/>
            </a:endParaRPr>
          </a:p>
        </p:txBody>
      </p:sp>
      <p:sp>
        <p:nvSpPr>
          <p:cNvPr id="22" name="文本框 21"/>
          <p:cNvSpPr txBox="1"/>
          <p:nvPr/>
        </p:nvSpPr>
        <p:spPr>
          <a:xfrm>
            <a:off x="7509510" y="4851400"/>
            <a:ext cx="1471930"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散热</a:t>
            </a:r>
            <a:endParaRPr lang="zh-CN" altLang="en-US" sz="1100" dirty="0" err="1" smtClean="0">
              <a:solidFill>
                <a:srgbClr val="C00000"/>
              </a:solidFill>
              <a:latin typeface="+mj-lt"/>
              <a:sym typeface="+mn-ea"/>
            </a:endParaRPr>
          </a:p>
        </p:txBody>
      </p:sp>
      <p:sp>
        <p:nvSpPr>
          <p:cNvPr id="23" name="文本框 22"/>
          <p:cNvSpPr txBox="1"/>
          <p:nvPr/>
        </p:nvSpPr>
        <p:spPr>
          <a:xfrm>
            <a:off x="7508240" y="5446395"/>
            <a:ext cx="1472565"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热</a:t>
            </a:r>
            <a:r>
              <a:rPr lang="zh-CN" altLang="en-US" sz="1100" dirty="0" err="1" smtClean="0">
                <a:solidFill>
                  <a:srgbClr val="C00000"/>
                </a:solidFill>
                <a:latin typeface="+mj-lt"/>
                <a:sym typeface="+mn-ea"/>
              </a:rPr>
              <a:t>平衡</a:t>
            </a:r>
            <a:endParaRPr lang="zh-CN" altLang="en-US" sz="1100" dirty="0" err="1" smtClean="0">
              <a:solidFill>
                <a:srgbClr val="C00000"/>
              </a:solidFill>
              <a:latin typeface="+mj-lt"/>
              <a:sym typeface="+mn-ea"/>
            </a:endParaRPr>
          </a:p>
        </p:txBody>
      </p:sp>
      <p:pic>
        <p:nvPicPr>
          <p:cNvPr id="24" name="图片 23"/>
          <p:cNvPicPr>
            <a:picLocks noChangeAspect="1"/>
          </p:cNvPicPr>
          <p:nvPr/>
        </p:nvPicPr>
        <p:blipFill>
          <a:blip r:embed="rId9"/>
          <a:stretch>
            <a:fillRect/>
          </a:stretch>
        </p:blipFill>
        <p:spPr>
          <a:xfrm>
            <a:off x="8451215" y="2418715"/>
            <a:ext cx="2636520" cy="707390"/>
          </a:xfrm>
          <a:prstGeom prst="rect">
            <a:avLst/>
          </a:prstGeom>
        </p:spPr>
      </p:pic>
      <p:sp>
        <p:nvSpPr>
          <p:cNvPr id="25" name="文本框 24"/>
          <p:cNvSpPr txBox="1"/>
          <p:nvPr/>
        </p:nvSpPr>
        <p:spPr>
          <a:xfrm>
            <a:off x="7508240" y="2346325"/>
            <a:ext cx="1471930" cy="202565"/>
          </a:xfrm>
          <a:prstGeom prst="rect">
            <a:avLst/>
          </a:prstGeom>
          <a:noFill/>
        </p:spPr>
        <p:txBody>
          <a:bodyPr wrap="square" lIns="36000" tIns="36000" rIns="36000" bIns="36000" rtlCol="0" anchor="t">
            <a:noAutofit/>
          </a:bodyPr>
          <a:p>
            <a:pPr algn="r">
              <a:spcBef>
                <a:spcPts val="600"/>
              </a:spcBef>
            </a:pPr>
            <a:r>
              <a:rPr lang="zh-CN" altLang="en-US" sz="1100" dirty="0" err="1" smtClean="0">
                <a:solidFill>
                  <a:srgbClr val="C00000"/>
                </a:solidFill>
                <a:latin typeface="+mj-lt"/>
                <a:sym typeface="+mn-ea"/>
              </a:rPr>
              <a:t>等效</a:t>
            </a:r>
            <a:r>
              <a:rPr lang="en-US" altLang="zh-CN" sz="1100" dirty="0" err="1" smtClean="0">
                <a:solidFill>
                  <a:srgbClr val="C00000"/>
                </a:solidFill>
                <a:latin typeface="+mj-lt"/>
                <a:sym typeface="+mn-ea"/>
              </a:rPr>
              <a:t>R-L</a:t>
            </a:r>
            <a:r>
              <a:rPr lang="zh-CN" altLang="en-US" sz="1100" dirty="0" err="1" smtClean="0">
                <a:solidFill>
                  <a:srgbClr val="C00000"/>
                </a:solidFill>
                <a:latin typeface="+mj-lt"/>
                <a:sym typeface="+mn-ea"/>
              </a:rPr>
              <a:t>方程</a:t>
            </a:r>
            <a:endParaRPr lang="zh-CN" altLang="en-US" sz="1100" dirty="0" err="1" smtClean="0">
              <a:solidFill>
                <a:srgbClr val="C00000"/>
              </a:solidFill>
              <a:latin typeface="+mj-lt"/>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en-US" altLang="zh-CN" sz="2400" dirty="0">
                <a:solidFill>
                  <a:schemeClr val="accent1"/>
                </a:solidFill>
                <a:latin typeface="+mj-lt"/>
                <a:sym typeface="+mn-ea"/>
              </a:rPr>
              <a:t>BACKUP</a:t>
            </a:r>
            <a:r>
              <a:rPr lang="zh-CN" altLang="en-US" sz="2400" dirty="0">
                <a:solidFill>
                  <a:schemeClr val="accent1"/>
                </a:solidFill>
                <a:latin typeface="+mj-lt"/>
                <a:sym typeface="+mn-ea"/>
              </a:rPr>
              <a:t>：</a:t>
            </a:r>
            <a:r>
              <a:rPr lang="en-US" altLang="zh-CN" sz="2400" dirty="0">
                <a:solidFill>
                  <a:schemeClr val="accent1"/>
                </a:solidFill>
                <a:latin typeface="+mj-lt"/>
                <a:sym typeface="+mn-ea"/>
              </a:rPr>
              <a:t>P1~P3</a:t>
            </a:r>
            <a:r>
              <a:rPr lang="zh-CN" altLang="en-US" sz="2400" dirty="0">
                <a:solidFill>
                  <a:schemeClr val="accent1"/>
                </a:solidFill>
                <a:latin typeface="+mj-lt"/>
                <a:sym typeface="+mn-ea"/>
              </a:rPr>
              <a:t>一些问题</a:t>
            </a:r>
            <a:endParaRPr lang="zh-CN" altLang="en-US" sz="2400" dirty="0">
              <a:solidFill>
                <a:schemeClr val="accent1"/>
              </a:solidFill>
              <a:latin typeface="+mj-lt"/>
              <a:sym typeface="+mn-ea"/>
            </a:endParaRPr>
          </a:p>
        </p:txBody>
      </p:sp>
      <p:graphicFrame>
        <p:nvGraphicFramePr>
          <p:cNvPr id="3" name="表格 2"/>
          <p:cNvGraphicFramePr/>
          <p:nvPr/>
        </p:nvGraphicFramePr>
        <p:xfrm>
          <a:off x="518160" y="1504950"/>
          <a:ext cx="11172825" cy="4445000"/>
        </p:xfrm>
        <a:graphic>
          <a:graphicData uri="http://schemas.openxmlformats.org/drawingml/2006/table">
            <a:tbl>
              <a:tblPr/>
              <a:tblGrid>
                <a:gridCol w="609600"/>
                <a:gridCol w="1874520"/>
                <a:gridCol w="3108960"/>
                <a:gridCol w="5579745"/>
              </a:tblGrid>
              <a:tr h="251460">
                <a:tc>
                  <a:txBody>
                    <a:bodyPr/>
                    <a:p>
                      <a:pPr algn="ctr" fontAlgn="ctr"/>
                      <a:r>
                        <a:rPr lang="zh-CN" altLang="en-US" sz="1600" b="1" i="0">
                          <a:solidFill>
                            <a:srgbClr val="FFFFFF"/>
                          </a:solidFill>
                          <a:latin typeface="微软雅黑" panose="020B0503020204020204" pitchFamily="34" charset="-122"/>
                          <a:ea typeface="微软雅黑" panose="020B0503020204020204" pitchFamily="34" charset="-122"/>
                        </a:rPr>
                        <a:t>序号</a:t>
                      </a:r>
                      <a:endParaRPr lang="zh-CN" altLang="en-US" sz="16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solidFill>
                      <a:srgbClr val="1F4E78"/>
                    </a:solidFill>
                  </a:tcPr>
                </a:tc>
                <a:tc>
                  <a:txBody>
                    <a:bodyPr/>
                    <a:p>
                      <a:pPr algn="ctr" fontAlgn="ctr"/>
                      <a:r>
                        <a:rPr lang="zh-CN" altLang="en-US" sz="1600" b="1" i="0">
                          <a:solidFill>
                            <a:srgbClr val="FFFFFF"/>
                          </a:solidFill>
                          <a:latin typeface="微软雅黑" panose="020B0503020204020204" pitchFamily="34" charset="-122"/>
                          <a:ea typeface="微软雅黑" panose="020B0503020204020204" pitchFamily="34" charset="-122"/>
                        </a:rPr>
                        <a:t>主题</a:t>
                      </a:r>
                      <a:endParaRPr lang="zh-CN" altLang="en-US" sz="16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solidFill>
                      <a:srgbClr val="1F4E78"/>
                    </a:solidFill>
                  </a:tcPr>
                </a:tc>
                <a:tc>
                  <a:txBody>
                    <a:bodyPr/>
                    <a:p>
                      <a:pPr algn="ctr" fontAlgn="ctr"/>
                      <a:r>
                        <a:rPr lang="zh-CN" altLang="en-US" sz="1600" b="1" i="0">
                          <a:solidFill>
                            <a:srgbClr val="FFFFFF"/>
                          </a:solidFill>
                          <a:latin typeface="微软雅黑" panose="020B0503020204020204" pitchFamily="34" charset="-122"/>
                          <a:ea typeface="微软雅黑" panose="020B0503020204020204" pitchFamily="34" charset="-122"/>
                        </a:rPr>
                        <a:t>技术问题</a:t>
                      </a:r>
                      <a:endParaRPr lang="zh-CN" altLang="en-US" sz="16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solidFill>
                      <a:srgbClr val="1F4E78"/>
                    </a:solidFill>
                  </a:tcPr>
                </a:tc>
                <a:tc>
                  <a:txBody>
                    <a:bodyPr/>
                    <a:p>
                      <a:pPr algn="ctr" fontAlgn="ctr"/>
                      <a:r>
                        <a:rPr lang="zh-CN" altLang="en-US" sz="1600" b="1" i="0">
                          <a:solidFill>
                            <a:srgbClr val="FFFFFF"/>
                          </a:solidFill>
                          <a:latin typeface="微软雅黑" panose="020B0503020204020204" pitchFamily="34" charset="-122"/>
                          <a:ea typeface="微软雅黑" panose="020B0503020204020204" pitchFamily="34" charset="-122"/>
                        </a:rPr>
                        <a:t>说明</a:t>
                      </a:r>
                      <a:endParaRPr lang="zh-CN" altLang="en-US" sz="1600" b="1" i="0">
                        <a:solidFill>
                          <a:srgbClr val="FFFFFF"/>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solidFill>
                      <a:srgbClr val="1F4E78"/>
                    </a:solidFill>
                  </a:tcPr>
                </a:tc>
              </a:tr>
              <a:tr h="888365">
                <a:tc>
                  <a:txBody>
                    <a:bodyPr/>
                    <a:p>
                      <a:pPr algn="ctr" fontAlgn="t"/>
                      <a:r>
                        <a:rPr lang="en-US" altLang="zh-CN" sz="1400" b="0" i="0">
                          <a:solidFill>
                            <a:srgbClr val="000000"/>
                          </a:solidFill>
                          <a:latin typeface="微软雅黑" panose="020B0503020204020204" pitchFamily="34" charset="-122"/>
                          <a:ea typeface="微软雅黑" panose="020B0503020204020204" pitchFamily="34" charset="-122"/>
                        </a:rPr>
                        <a:t>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高频阻抗</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发热边界</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1s</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测试的</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DCIR</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不可直接等同</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kHz</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脉冲热源。</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测电池的</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Re(Z,T,SOC,f)</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、低温</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HPPC/DCIR</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r>
              <a:tr h="734060">
                <a:tc>
                  <a:txBody>
                    <a:bodyPr/>
                    <a:p>
                      <a:pPr algn="ctr" fontAlgn="t"/>
                      <a:r>
                        <a:rPr lang="en-US" altLang="zh-CN" sz="1400" b="0" i="0">
                          <a:solidFill>
                            <a:srgbClr val="000000"/>
                          </a:solidFill>
                          <a:latin typeface="微软雅黑" panose="020B0503020204020204" pitchFamily="34" charset="-122"/>
                          <a:ea typeface="微软雅黑" panose="020B0503020204020204" pitchFamily="34" charset="-122"/>
                        </a:rPr>
                        <a:t>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低温双向电流接受能力</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低温高频充放电窗口不一定被电池侧允许；低温高频的析锂边界</a:t>
                      </a:r>
                      <a:r>
                        <a:rPr lang="zh-CN" altLang="en-US" sz="1400" b="0" i="0">
                          <a:solidFill>
                            <a:srgbClr val="000000"/>
                          </a:solidFill>
                          <a:latin typeface="微软雅黑" panose="020B0503020204020204" pitchFamily="34" charset="-122"/>
                          <a:ea typeface="微软雅黑" panose="020B0503020204020204" pitchFamily="34" charset="-122"/>
                        </a:rPr>
                        <a:t>不清楚。</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峰值</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/RMS/</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持续时间</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/SOC/</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温度边界</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map</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图；还得考虑是析锂、过压、局部温升、寿命</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等风险。</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r>
              <a:tr h="887730">
                <a:tc>
                  <a:txBody>
                    <a:bodyPr/>
                    <a:p>
                      <a:pPr algn="ctr" fontAlgn="t"/>
                      <a:r>
                        <a:rPr lang="en-US" altLang="zh-CN" sz="1400" b="0" i="0">
                          <a:solidFill>
                            <a:srgbClr val="000000"/>
                          </a:solidFill>
                          <a:latin typeface="微软雅黑" panose="020B0503020204020204" pitchFamily="34" charset="-122"/>
                          <a:ea typeface="微软雅黑" panose="020B0503020204020204" pitchFamily="34" charset="-122"/>
                        </a:rPr>
                        <a:t>3</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限值与保护逻辑</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没有考虑</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是否识别并允许</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执行脉冲</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工况。</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BMS </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对高频双向电流的允许条件是否能</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根据需要自己设定。</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r>
              <a:tr h="888365">
                <a:tc>
                  <a:txBody>
                    <a:bodyPr/>
                    <a:p>
                      <a:pPr algn="ctr" fontAlgn="t"/>
                      <a:r>
                        <a:rPr lang="en-US" altLang="zh-CN" sz="1400" b="0" i="0">
                          <a:solidFill>
                            <a:srgbClr val="000000"/>
                          </a:solidFill>
                          <a:latin typeface="微软雅黑" panose="020B0503020204020204" pitchFamily="34" charset="-122"/>
                          <a:ea typeface="微软雅黑" panose="020B0503020204020204" pitchFamily="34" charset="-122"/>
                        </a:rPr>
                        <a:t>4</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三包并联支路均流与高压路径</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三包不一定均流；而且得看高压盒、接触器、熔断器</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能否允许这种往复脉冲。</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三包并联对不均流的容忍度、</a:t>
                      </a:r>
                      <a:r>
                        <a:rPr lang="en-US" altLang="zh-CN" sz="1400" b="0" i="0">
                          <a:solidFill>
                            <a:srgbClr val="000000"/>
                          </a:solidFill>
                          <a:latin typeface="微软雅黑" panose="020B0503020204020204" pitchFamily="34" charset="-122"/>
                          <a:ea typeface="微软雅黑" panose="020B0503020204020204" pitchFamily="34" charset="-122"/>
                        </a:rPr>
                        <a:t>BMS</a:t>
                      </a:r>
                      <a:r>
                        <a:rPr lang="zh-CN" altLang="en-US" sz="1400" b="0" i="0">
                          <a:solidFill>
                            <a:srgbClr val="000000"/>
                          </a:solidFill>
                          <a:latin typeface="微软雅黑" panose="020B0503020204020204" pitchFamily="34" charset="-122"/>
                          <a:ea typeface="微软雅黑" panose="020B0503020204020204" pitchFamily="34" charset="-122"/>
                        </a:rPr>
                        <a:t>对支路监测和保护</a:t>
                      </a:r>
                      <a:r>
                        <a:rPr lang="zh-CN" altLang="en-US" sz="1400" b="0" i="0">
                          <a:solidFill>
                            <a:srgbClr val="000000"/>
                          </a:solidFill>
                          <a:latin typeface="微软雅黑" panose="020B0503020204020204" pitchFamily="34" charset="-122"/>
                          <a:ea typeface="微软雅黑" panose="020B0503020204020204" pitchFamily="34" charset="-122"/>
                        </a:rPr>
                        <a:t>策略、支路级电流或压差红线。</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r>
              <a:tr h="795020">
                <a:tc>
                  <a:txBody>
                    <a:bodyPr/>
                    <a:p>
                      <a:pPr algn="ctr" fontAlgn="t"/>
                      <a:r>
                        <a:rPr lang="en-US" altLang="zh-CN" sz="1400" b="0" i="0">
                          <a:solidFill>
                            <a:srgbClr val="000000"/>
                          </a:solidFill>
                          <a:latin typeface="微软雅黑" panose="020B0503020204020204" pitchFamily="34" charset="-122"/>
                          <a:ea typeface="微软雅黑" panose="020B0503020204020204" pitchFamily="34" charset="-122"/>
                        </a:rPr>
                        <a:t>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热边界与预热工况</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车载电池包的散热边界没判断。特别如果考虑三维</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空间分布。</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c>
                  <a:txBody>
                    <a:bodyPr/>
                    <a:p>
                      <a:pPr algn="l" fontAlgn="t"/>
                      <a:r>
                        <a:rPr lang="zh-CN" altLang="en-US" sz="1400" b="0" i="0">
                          <a:solidFill>
                            <a:srgbClr val="000000"/>
                          </a:solidFill>
                          <a:latin typeface="微软雅黑" panose="020B0503020204020204" pitchFamily="34" charset="-122"/>
                          <a:ea typeface="微软雅黑" panose="020B0503020204020204" pitchFamily="34" charset="-122"/>
                        </a:rPr>
                        <a:t>包级热容、热阻、初始温度分布、液冷状态、</a:t>
                      </a:r>
                      <a:r>
                        <a:rPr lang="zh-CN" altLang="en-US" sz="1400" b="0" i="0">
                          <a:solidFill>
                            <a:srgbClr val="000000"/>
                          </a:solidFill>
                          <a:latin typeface="微软雅黑" panose="020B0503020204020204" pitchFamily="34" charset="-122"/>
                          <a:ea typeface="微软雅黑" panose="020B0503020204020204" pitchFamily="34" charset="-122"/>
                        </a:rPr>
                        <a:t>冷却系统策略、允许温升速率、允许温差要求</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D9D9D9"/>
                      </a:solidFill>
                      <a:prstDash val="solid"/>
                      <a:headEnd type="none" w="med" len="med"/>
                      <a:tailEnd type="none" w="med" len="med"/>
                    </a:lnL>
                    <a:lnR w="6350" cap="flat" cmpd="sng">
                      <a:solidFill>
                        <a:srgbClr val="D9D9D9"/>
                      </a:solidFill>
                      <a:prstDash val="solid"/>
                      <a:headEnd type="none" w="med" len="med"/>
                      <a:tailEnd type="none" w="med" len="med"/>
                    </a:lnR>
                    <a:lnT w="6350" cap="flat" cmpd="sng">
                      <a:solidFill>
                        <a:srgbClr val="D9D9D9"/>
                      </a:solidFill>
                      <a:prstDash val="solid"/>
                      <a:headEnd type="none" w="med" len="med"/>
                      <a:tailEnd type="none" w="med" len="med"/>
                    </a:lnT>
                    <a:lnB w="6350" cap="flat" cmpd="sng">
                      <a:solidFill>
                        <a:srgbClr val="D9D9D9"/>
                      </a:solidFill>
                      <a:prstDash val="solid"/>
                      <a:headEnd type="none" w="med" len="med"/>
                      <a:tailEnd type="none" w="med" len="med"/>
                    </a:lnB>
                    <a:noFill/>
                  </a:tcPr>
                </a:tc>
              </a:tr>
            </a:tbl>
          </a:graphicData>
        </a:graphic>
      </p:graphicFrame>
    </p:spTree>
  </p:cSld>
  <p:clrMapOvr>
    <a:masterClrMapping/>
  </p:clrMapOvr>
</p:sld>
</file>

<file path=ppt/tags/tag1.xml><?xml version="1.0" encoding="utf-8"?>
<p:tagLst xmlns:p="http://schemas.openxmlformats.org/presentationml/2006/main">
  <p:tag name="TABLE_ENDDRAG_ORIGIN_RECT" val="238*206"/>
  <p:tag name="TABLE_ENDDRAG_RECT" val="15*213*238*206"/>
</p:tagLst>
</file>

<file path=ppt/tags/tag2.xml><?xml version="1.0" encoding="utf-8"?>
<p:tagLst xmlns:p="http://schemas.openxmlformats.org/presentationml/2006/main">
  <p:tag name="TABLE_ENDDRAG_ORIGIN_RECT" val="887*392"/>
  <p:tag name="TABLE_ENDDRAG_RECT" val="32*71*887*392"/>
</p:tagLst>
</file>

<file path=ppt/tags/tag3.xml><?xml version="1.0" encoding="utf-8"?>
<p:tagLst xmlns:p="http://schemas.openxmlformats.org/presentationml/2006/main">
  <p:tag name="TABLE_ENDDRAG_ORIGIN_RECT" val="560*284"/>
  <p:tag name="TABLE_ENDDRAG_RECT" val="15*202*560*284"/>
</p:tagLst>
</file>

<file path=ppt/theme/theme1.xml><?xml version="1.0" encoding="utf-8"?>
<a:theme xmlns:a="http://schemas.openxmlformats.org/drawingml/2006/main" name="Office 主题​​">
  <a:themeElements>
    <a:clrScheme name="VI标准">
      <a:dk1>
        <a:srgbClr val="000000"/>
      </a:dk1>
      <a:lt1>
        <a:sysClr val="window" lastClr="FFFFFF"/>
      </a:lt1>
      <a:dk2>
        <a:srgbClr val="000000"/>
      </a:dk2>
      <a:lt2>
        <a:srgbClr val="FFFFFF"/>
      </a:lt2>
      <a:accent1>
        <a:srgbClr val="152A8C"/>
      </a:accent1>
      <a:accent2>
        <a:srgbClr val="2796D4"/>
      </a:accent2>
      <a:accent3>
        <a:srgbClr val="EDEDED"/>
      </a:accent3>
      <a:accent4>
        <a:srgbClr val="B10011"/>
      </a:accent4>
      <a:accent5>
        <a:srgbClr val="FFFFFF"/>
      </a:accent5>
      <a:accent6>
        <a:srgbClr val="FFFFFF"/>
      </a:accent6>
      <a:hlink>
        <a:srgbClr val="FFFFFF"/>
      </a:hlink>
      <a:folHlink>
        <a:srgbClr val="FFFFFF"/>
      </a:folHlink>
    </a:clrScheme>
    <a:fontScheme name="默认">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36000" tIns="36000" rIns="36000" bIns="36000" rtlCol="0">
        <a:noAutofit/>
      </a:bodyPr>
      <a:lstStyle>
        <a:defPPr algn="l">
          <a:spcBef>
            <a:spcPts val="600"/>
          </a:spcBef>
          <a:defRPr dirty="0" err="1" smtClean="0">
            <a:solidFill>
              <a:srgbClr val="003B90"/>
            </a:solidFill>
            <a:latin typeface="+mj-l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3375</Words>
  <Application>WPS 演示</Application>
  <PresentationFormat>宽屏</PresentationFormat>
  <Paragraphs>379</Paragraphs>
  <Slides>7</Slides>
  <Notes>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7</vt:i4>
      </vt:variant>
    </vt:vector>
  </HeadingPairs>
  <TitlesOfParts>
    <vt:vector size="21" baseType="lpstr">
      <vt:lpstr>Arial</vt:lpstr>
      <vt:lpstr>宋体</vt:lpstr>
      <vt:lpstr>Wingdings</vt:lpstr>
      <vt:lpstr>微软雅黑</vt:lpstr>
      <vt:lpstr>Wingdings</vt:lpstr>
      <vt:lpstr>Arial Unicode MS</vt:lpstr>
      <vt:lpstr>等线</vt:lpstr>
      <vt:lpstr>Consolas</vt:lpstr>
      <vt:lpstr>Arial</vt:lpstr>
      <vt:lpstr>微软雅黑 Light</vt:lpstr>
      <vt:lpstr>Office 主题​​</vt:lpstr>
      <vt:lpstr>Excel.Sheet.12</vt:lpstr>
      <vt:lpstr>Package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一汽解放PPT模板</dc:title>
  <dc:creator>一汽解放</dc:creator>
  <cp:lastModifiedBy>WPS_1632448344</cp:lastModifiedBy>
  <cp:revision>1033</cp:revision>
  <cp:lastPrinted>2023-05-19T05:02:00Z</cp:lastPrinted>
  <dcterms:created xsi:type="dcterms:W3CDTF">2015-12-28T03:19:00Z</dcterms:created>
  <dcterms:modified xsi:type="dcterms:W3CDTF">2026-06-16T02:20:15Z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28A6EA0C4D6C4EF8837BEE58C6C80F74_13</vt:lpwstr>
  </property>
  <property fmtid="{D5CDD505-2E9C-101B-9397-08002B2CF9AE}" pid="3" name="KSOProductBuildVer">
    <vt:lpwstr>2052-12.1.0.26895</vt:lpwstr>
  </property>
</Properties>
</file>
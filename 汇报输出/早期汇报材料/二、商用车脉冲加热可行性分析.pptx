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77" r:id="rId3"/>
  </p:sldIdLst>
  <p:sldSz cx="12192000" cy="6858000"/>
  <p:notesSz cx="6797675" cy="992632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  <p:cmAuthor id="2" name="吴俊樑" initials="吴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2A8C"/>
    <a:srgbClr val="00B050"/>
    <a:srgbClr val="F1F1F1"/>
    <a:srgbClr val="F2F2F2"/>
    <a:srgbClr val="FF374A"/>
    <a:srgbClr val="4964E4"/>
    <a:srgbClr val="84EB7A"/>
    <a:srgbClr val="B10011"/>
    <a:srgbClr val="F5B482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21" autoAdjust="0"/>
    <p:restoredTop sz="82896" autoAdjust="0"/>
  </p:normalViewPr>
  <p:slideViewPr>
    <p:cSldViewPr snapToObjects="1">
      <p:cViewPr varScale="1">
        <p:scale>
          <a:sx n="96" d="100"/>
          <a:sy n="96" d="100"/>
        </p:scale>
        <p:origin x="9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 showGuides="1">
      <p:cViewPr varScale="1">
        <p:scale>
          <a:sx n="42" d="100"/>
          <a:sy n="42" d="100"/>
        </p:scale>
        <p:origin x="-1757" y="-96"/>
      </p:cViewPr>
      <p:guideLst>
        <p:guide orient="horz" pos="3365"/>
        <p:guide pos="216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826" y="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0259903-FC65-400A-9E76-C4C330AD3D6E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08" tIns="46054" rIns="92108" bIns="4605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288" y="4777245"/>
            <a:ext cx="5439101" cy="3908363"/>
          </a:xfrm>
          <a:prstGeom prst="rect">
            <a:avLst/>
          </a:prstGeom>
        </p:spPr>
        <p:txBody>
          <a:bodyPr vert="horz" lIns="92108" tIns="46054" rIns="92108" bIns="46054" rtlCol="0"/>
          <a:lstStyle/>
          <a:p>
            <a:pPr lvl="0"/>
            <a:r>
              <a:rPr lang="zh-CN" altLang="en-US" noProof="0"/>
              <a:t>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31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826" y="942831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67DAE94-9449-4026-AC54-378A5A1A8636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1pPr>
    <a:lvl2pPr marL="485775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2pPr>
    <a:lvl3pPr marL="971550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3pPr>
    <a:lvl4pPr marL="1457325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4pPr>
    <a:lvl5pPr marL="1943100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5pPr>
    <a:lvl6pPr marL="2429510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6pPr>
    <a:lvl7pPr marL="2915285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7pPr>
    <a:lvl8pPr marL="3401060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8pPr>
    <a:lvl9pPr marL="3886835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这一页主要回答一个问题：基于3806整车平台参数，双电机同相脉冲加热在低温下是否可行。把3806的电池组、电机和控制频率放进零维模型里计算，所以结论更有针对性。</a:t>
            </a:r>
            <a:endParaRPr lang="en-US" altLang="zh-CN"/>
          </a:p>
          <a:p>
            <a:r>
              <a:rPr lang="zh-CN" altLang="en-US"/>
              <a:t>先看模型依据：</a:t>
            </a:r>
            <a:endParaRPr lang="zh-CN" altLang="en-US"/>
          </a:p>
          <a:p>
            <a:r>
              <a:rPr lang="zh-CN" altLang="en-US"/>
              <a:t>模型使用3806型解放卡车电池组和电机参数。电池组按整车192</a:t>
            </a:r>
            <a:r>
              <a:rPr lang="en-US" altLang="zh-CN"/>
              <a:t>S2P、</a:t>
            </a:r>
            <a:r>
              <a:rPr lang="zh-CN" altLang="en-US"/>
              <a:t>约400.6 </a:t>
            </a:r>
            <a:r>
              <a:rPr lang="en-US" altLang="zh-CN"/>
              <a:t>kWh</a:t>
            </a:r>
            <a:r>
              <a:rPr lang="zh-CN" altLang="en-US"/>
              <a:t>计算，电机为双电机同相参与，默认工况为-20°</a:t>
            </a:r>
            <a:r>
              <a:rPr lang="en-US" altLang="zh-CN"/>
              <a:t>C、50%SOC、1250 Hz。</a:t>
            </a:r>
            <a:r>
              <a:rPr lang="zh-CN" altLang="en-US"/>
              <a:t>这个工况代表比较严苛的低温启动场景。</a:t>
            </a:r>
            <a:endParaRPr lang="en-US" altLang="zh-CN"/>
          </a:p>
          <a:p>
            <a:r>
              <a:rPr lang="zh-CN" altLang="en-US"/>
              <a:t>再看总体结论：</a:t>
            </a:r>
            <a:endParaRPr lang="zh-CN" altLang="en-US"/>
          </a:p>
          <a:p>
            <a:r>
              <a:rPr lang="zh-CN" altLang="en-US"/>
              <a:t>结论是技术可行。模型结果显示，-20°</a:t>
            </a:r>
            <a:r>
              <a:rPr lang="en-US" altLang="zh-CN"/>
              <a:t>C</a:t>
            </a:r>
            <a:r>
              <a:rPr lang="zh-CN" altLang="en-US"/>
              <a:t>初始时温升速率约1.39°</a:t>
            </a:r>
            <a:r>
              <a:rPr lang="en-US" altLang="zh-CN"/>
              <a:t>C/min，</a:t>
            </a:r>
            <a:r>
              <a:rPr lang="zh-CN" altLang="en-US"/>
              <a:t>大约18.8 </a:t>
            </a:r>
            <a:r>
              <a:rPr lang="en-US" altLang="zh-CN"/>
              <a:t>min</a:t>
            </a:r>
            <a:r>
              <a:rPr lang="zh-CN" altLang="en-US"/>
              <a:t>可以升到0°</a:t>
            </a:r>
            <a:r>
              <a:rPr lang="en-US" altLang="zh-CN"/>
              <a:t>C；</a:t>
            </a:r>
            <a:r>
              <a:rPr lang="zh-CN" altLang="en-US"/>
              <a:t>连续加热30 </a:t>
            </a:r>
            <a:r>
              <a:rPr lang="en-US" altLang="zh-CN"/>
              <a:t>min，</a:t>
            </a:r>
            <a:r>
              <a:rPr lang="zh-CN" altLang="en-US"/>
              <a:t>温升约27.5°</a:t>
            </a:r>
            <a:r>
              <a:rPr lang="en-US" altLang="zh-CN"/>
              <a:t>C，</a:t>
            </a:r>
            <a:r>
              <a:rPr lang="zh-CN" altLang="en-US"/>
              <a:t>系统加热效率约82.9%，</a:t>
            </a:r>
            <a:r>
              <a:rPr lang="en-US" altLang="zh-CN"/>
              <a:t>SOC</a:t>
            </a:r>
            <a:r>
              <a:rPr lang="zh-CN" altLang="en-US"/>
              <a:t>消耗约5.7%。简单说，就是低温下能热起来，速度够用，电量代价也在可接受范围内。</a:t>
            </a:r>
            <a:endParaRPr lang="en-US" altLang="zh-CN"/>
          </a:p>
          <a:p>
            <a:r>
              <a:rPr lang="zh-CN" altLang="en-US"/>
              <a:t>图1，频率-电感-温升速率</a:t>
            </a:r>
            <a:r>
              <a:rPr lang="en-US" altLang="zh-CN"/>
              <a:t>map</a:t>
            </a:r>
            <a:r>
              <a:rPr lang="zh-CN" altLang="en-US"/>
              <a:t>图：</a:t>
            </a:r>
            <a:endParaRPr lang="zh-CN" altLang="en-US"/>
          </a:p>
          <a:p>
            <a:r>
              <a:rPr lang="zh-CN" altLang="en-US"/>
              <a:t>这张图主要看加热能力。横轴是开关频率，纵轴是电机</a:t>
            </a:r>
            <a:r>
              <a:rPr lang="en-US" altLang="zh-CN"/>
              <a:t>D</a:t>
            </a:r>
            <a:r>
              <a:rPr lang="zh-CN" altLang="en-US"/>
              <a:t>轴电感，颜色代表初始温升速率。颜色越偏黄，说明加热越快；越偏蓝，说明加热越慢。白色星号是当前模型工作点，也就是1250 </a:t>
            </a:r>
            <a:r>
              <a:rPr lang="en-US" altLang="zh-CN"/>
              <a:t>Hz、Ld</a:t>
            </a:r>
            <a:r>
              <a:rPr lang="zh-CN" altLang="en-US"/>
              <a:t>约260 </a:t>
            </a:r>
            <a:r>
              <a:rPr lang="en-US" altLang="zh-CN"/>
              <a:t>uH。</a:t>
            </a:r>
            <a:r>
              <a:rPr lang="zh-CN" altLang="en-US"/>
              <a:t>这个点对应约1.39°</a:t>
            </a:r>
            <a:r>
              <a:rPr lang="en-US" altLang="zh-CN"/>
              <a:t>C/min，</a:t>
            </a:r>
            <a:r>
              <a:rPr lang="zh-CN" altLang="en-US"/>
              <a:t>说明在当前电机参数和控制频率限制下，已经能形成有效加热。</a:t>
            </a:r>
            <a:endParaRPr lang="zh-CN" altLang="en-US"/>
          </a:p>
          <a:p>
            <a:r>
              <a:rPr lang="zh-CN" altLang="en-US"/>
              <a:t>图2，瞬态温升、功率和</a:t>
            </a:r>
            <a:r>
              <a:rPr lang="en-US" altLang="zh-CN"/>
              <a:t>SOC</a:t>
            </a:r>
            <a:r>
              <a:rPr lang="zh-CN" altLang="en-US"/>
              <a:t>变化：</a:t>
            </a:r>
            <a:endParaRPr lang="zh-CN" altLang="en-US"/>
          </a:p>
          <a:p>
            <a:r>
              <a:rPr lang="zh-CN" altLang="en-US"/>
              <a:t>这张图主要看加热过程是否稳定。温度曲线从-20°</a:t>
            </a:r>
            <a:r>
              <a:rPr lang="en-US" altLang="zh-CN"/>
              <a:t>C</a:t>
            </a:r>
            <a:r>
              <a:rPr lang="zh-CN" altLang="en-US"/>
              <a:t>持续上升，并在约18.8 </a:t>
            </a:r>
            <a:r>
              <a:rPr lang="en-US" altLang="zh-CN"/>
              <a:t>min</a:t>
            </a:r>
            <a:r>
              <a:rPr lang="zh-CN" altLang="en-US"/>
              <a:t>达到0°</a:t>
            </a:r>
            <a:r>
              <a:rPr lang="en-US" altLang="zh-CN"/>
              <a:t>C；</a:t>
            </a:r>
            <a:r>
              <a:rPr lang="zh-CN" altLang="en-US"/>
              <a:t>功率分解里，电池发热和净加热功率始终为正，说明热量是持续输入电池的；</a:t>
            </a:r>
            <a:r>
              <a:rPr lang="en-US" altLang="zh-CN"/>
              <a:t>SOC</a:t>
            </a:r>
            <a:r>
              <a:rPr lang="zh-CN" altLang="en-US"/>
              <a:t>曲线说明30 </a:t>
            </a:r>
            <a:r>
              <a:rPr lang="en-US" altLang="zh-CN"/>
              <a:t>min</a:t>
            </a:r>
            <a:r>
              <a:rPr lang="zh-CN" altLang="en-US"/>
              <a:t>消耗约5.7%，加热过程的电量代价可以量化。</a:t>
            </a:r>
            <a:endParaRPr lang="en-US" altLang="zh-CN"/>
          </a:p>
          <a:p>
            <a:r>
              <a:rPr lang="zh-CN" altLang="en-US"/>
              <a:t>图3，效率与单位温升电耗：</a:t>
            </a:r>
            <a:endParaRPr lang="zh-CN" altLang="en-US"/>
          </a:p>
          <a:p>
            <a:r>
              <a:rPr lang="zh-CN" altLang="en-US"/>
              <a:t>这张图主要看效率和成本。四个温度点已经标出：-20°</a:t>
            </a:r>
            <a:r>
              <a:rPr lang="en-US" altLang="zh-CN"/>
              <a:t>C</a:t>
            </a:r>
            <a:r>
              <a:rPr lang="zh-CN" altLang="en-US"/>
              <a:t>效率约93.5%、</a:t>
            </a:r>
            <a:r>
              <a:rPr lang="en-US" altLang="zh-CN"/>
              <a:t>SOC</a:t>
            </a:r>
            <a:r>
              <a:rPr lang="zh-CN" altLang="en-US"/>
              <a:t>约0.184%/°</a:t>
            </a:r>
            <a:r>
              <a:rPr lang="en-US" altLang="zh-CN"/>
              <a:t>C；-10°C</a:t>
            </a:r>
            <a:r>
              <a:rPr lang="zh-CN" altLang="en-US"/>
              <a:t>效率约92.2%、</a:t>
            </a:r>
            <a:r>
              <a:rPr lang="en-US" altLang="zh-CN"/>
              <a:t>SOC</a:t>
            </a:r>
            <a:r>
              <a:rPr lang="zh-CN" altLang="en-US"/>
              <a:t>约0.187%/°</a:t>
            </a:r>
            <a:r>
              <a:rPr lang="en-US" altLang="zh-CN"/>
              <a:t>C；0°C</a:t>
            </a:r>
            <a:r>
              <a:rPr lang="zh-CN" altLang="en-US"/>
              <a:t>效率约90.0%、</a:t>
            </a:r>
            <a:r>
              <a:rPr lang="en-US" altLang="zh-CN"/>
              <a:t>SOC</a:t>
            </a:r>
            <a:r>
              <a:rPr lang="zh-CN" altLang="en-US"/>
              <a:t>约0.192%/°</a:t>
            </a:r>
            <a:r>
              <a:rPr lang="en-US" altLang="zh-CN"/>
              <a:t>C；10°C</a:t>
            </a:r>
            <a:r>
              <a:rPr lang="zh-CN" altLang="en-US"/>
              <a:t>效率约86.4%、</a:t>
            </a:r>
            <a:r>
              <a:rPr lang="en-US" altLang="zh-CN"/>
              <a:t>SOC</a:t>
            </a:r>
            <a:r>
              <a:rPr lang="zh-CN" altLang="en-US"/>
              <a:t>约0.200%/°</a:t>
            </a:r>
            <a:r>
              <a:rPr lang="en-US" altLang="zh-CN"/>
              <a:t>C。</a:t>
            </a:r>
            <a:r>
              <a:rPr lang="zh-CN" altLang="en-US"/>
              <a:t>可以看到，单位温升电耗基本在0.2%</a:t>
            </a:r>
            <a:r>
              <a:rPr lang="en-US" altLang="zh-CN"/>
              <a:t>SOC/°C</a:t>
            </a:r>
            <a:r>
              <a:rPr lang="zh-CN" altLang="en-US"/>
              <a:t>以内，说明效率水平和电量代价是可以接受的。</a:t>
            </a:r>
            <a:endParaRPr lang="en-US" altLang="zh-CN"/>
          </a:p>
          <a:p>
            <a:r>
              <a:rPr lang="zh-CN" altLang="en-US"/>
              <a:t>最后补充边界：</a:t>
            </a:r>
            <a:endParaRPr lang="zh-CN" altLang="en-US"/>
          </a:p>
          <a:p>
            <a:r>
              <a:rPr lang="zh-CN" altLang="en-US"/>
              <a:t>以上结果来自零维平均热模型，适合做技术可行性判断和参数方向筛选。后续还需要通过台架和整车试验校准电池热边界、电机机械状态和高频析锂限流参数。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0" y="2564904"/>
            <a:ext cx="12192000" cy="1775292"/>
          </a:xfrm>
          <a:prstGeom prst="rect">
            <a:avLst/>
          </a:prstGeom>
        </p:spPr>
        <p:txBody>
          <a:bodyPr anchor="ctr" anchorCtr="0"/>
          <a:lstStyle>
            <a:lvl1pPr algn="ctr">
              <a:lnSpc>
                <a:spcPct val="100000"/>
              </a:lnSpc>
              <a:defRPr sz="5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76097"/>
            <a:ext cx="9921552" cy="165576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副标题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6942142"/>
            <a:ext cx="12192000" cy="614361"/>
            <a:chOff x="0" y="6942142"/>
            <a:chExt cx="12192000" cy="614361"/>
          </a:xfrm>
        </p:grpSpPr>
        <p:sp>
          <p:nvSpPr>
            <p:cNvPr id="6" name="同侧圆角矩形 3"/>
            <p:cNvSpPr/>
            <p:nvPr userDrawn="1"/>
          </p:nvSpPr>
          <p:spPr>
            <a:xfrm rot="10800000">
              <a:off x="0" y="6942142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5903385" y="7004052"/>
              <a:ext cx="1512000" cy="4683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解放蓝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21/42/140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7431809" y="7004052"/>
              <a:ext cx="1512000" cy="4683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辅助蓝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39/150/212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10488656" y="7004052"/>
              <a:ext cx="1512000" cy="4683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辅助红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177/0/17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封面页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8960233" y="7004052"/>
              <a:ext cx="1512000" cy="468311"/>
            </a:xfrm>
            <a:prstGeom prst="rect">
              <a:avLst/>
            </a:prstGeom>
            <a:solidFill>
              <a:srgbClr val="A7A9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辅助灰</a:t>
              </a:r>
              <a:endPara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167/169/172</a:t>
              </a:r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765" y="-14605"/>
            <a:ext cx="12230735" cy="1291590"/>
          </a:xfrm>
          <a:prstGeom prst="rect">
            <a:avLst/>
          </a:prstGeom>
        </p:spPr>
      </p:pic>
      <p:pic>
        <p:nvPicPr>
          <p:cNvPr id="16" name="图形 3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2897" y="327314"/>
            <a:ext cx="2881252" cy="63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同侧圆角矩形 3"/>
          <p:cNvSpPr/>
          <p:nvPr userDrawn="1"/>
        </p:nvSpPr>
        <p:spPr>
          <a:xfrm rot="10800000">
            <a:off x="0" y="6942143"/>
            <a:ext cx="12192000" cy="614361"/>
          </a:xfrm>
          <a:prstGeom prst="round2SameRect">
            <a:avLst>
              <a:gd name="adj1" fmla="val 210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19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  <p:sp>
        <p:nvSpPr>
          <p:cNvPr id="11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7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  <a:endParaRPr lang="zh-CN" altLang="en-US" dirty="0"/>
          </a:p>
        </p:txBody>
      </p:sp>
      <p:sp>
        <p:nvSpPr>
          <p:cNvPr id="20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477723" y="1063639"/>
            <a:ext cx="11231448" cy="468452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532091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  <a:endParaRPr lang="zh-CN" altLang="en-US" dirty="0"/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052513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  <a:sym typeface="+mn-ea"/>
              </a:rPr>
              <a:t>二、商用车脉冲</a:t>
            </a:r>
            <a:r>
              <a:rPr lang="zh-CN" altLang="en-US" dirty="0">
                <a:solidFill>
                  <a:schemeClr val="accent1"/>
                </a:solidFill>
                <a:latin typeface="+mj-lt"/>
                <a:sym typeface="+mn-ea"/>
              </a:rPr>
              <a:t>加热可行性分析</a:t>
            </a:r>
            <a:endParaRPr lang="zh-CN" altLang="en-US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9425" y="908685"/>
            <a:ext cx="11242675" cy="571157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400" b="1" dirty="0">
                <a:solidFill>
                  <a:schemeClr val="accent1"/>
                </a:solidFill>
                <a:latin typeface="+mj-lt"/>
              </a:rPr>
              <a:t>模型</a:t>
            </a:r>
            <a:r>
              <a:rPr lang="zh-CN" altLang="en-US" sz="1400" b="1" dirty="0">
                <a:solidFill>
                  <a:schemeClr val="accent1"/>
                </a:solidFill>
                <a:latin typeface="+mj-lt"/>
              </a:rPr>
              <a:t>依据：基于</a:t>
            </a:r>
            <a:r>
              <a:rPr lang="en-US" altLang="zh-CN" sz="1400" b="1" dirty="0">
                <a:solidFill>
                  <a:schemeClr val="accent1"/>
                </a:solidFill>
                <a:latin typeface="+mj-lt"/>
              </a:rPr>
              <a:t>3806</a:t>
            </a:r>
            <a:r>
              <a:rPr lang="zh-CN" altLang="en-US" sz="1400" b="1" dirty="0">
                <a:solidFill>
                  <a:schemeClr val="accent1"/>
                </a:solidFill>
                <a:latin typeface="+mj-lt"/>
              </a:rPr>
              <a:t>型解放卡车电池组和电机参数，建立脉冲加热系统模型。默认工况为：</a:t>
            </a:r>
            <a:r>
              <a:rPr lang="en-US" altLang="zh-CN" sz="1400" b="1" dirty="0">
                <a:solidFill>
                  <a:schemeClr val="accent1"/>
                </a:solidFill>
                <a:latin typeface="+mj-lt"/>
              </a:rPr>
              <a:t>-20°C、50%SOC、1250 Hz</a:t>
            </a:r>
            <a:r>
              <a:rPr lang="zh-CN" altLang="en-US" sz="1400" b="1" dirty="0">
                <a:solidFill>
                  <a:schemeClr val="accent1"/>
                </a:solidFill>
                <a:latin typeface="+mj-lt"/>
              </a:rPr>
              <a:t>。</a:t>
            </a:r>
            <a:endParaRPr lang="zh-CN" altLang="en-US" sz="1400" b="1" dirty="0">
              <a:solidFill>
                <a:schemeClr val="accent1"/>
              </a:solidFill>
              <a:latin typeface="+mj-lt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400" b="1" dirty="0">
                <a:solidFill>
                  <a:schemeClr val="accent1"/>
                </a:solidFill>
                <a:latin typeface="+mj-lt"/>
                <a:sym typeface="+mn-ea"/>
              </a:rPr>
              <a:t>结论：双电机同相高频脉冲下技术可行，且在低温环境中具</a:t>
            </a:r>
            <a:r>
              <a:rPr lang="zh-CN" altLang="en-US" sz="1400" b="1" dirty="0">
                <a:solidFill>
                  <a:schemeClr val="accent1"/>
                </a:solidFill>
                <a:latin typeface="+mj-lt"/>
                <a:sym typeface="+mn-ea"/>
              </a:rPr>
              <a:t>有更高</a:t>
            </a:r>
            <a:r>
              <a:rPr lang="zh-CN" altLang="en-US" sz="1400" b="1" dirty="0">
                <a:solidFill>
                  <a:schemeClr val="accent1"/>
                </a:solidFill>
                <a:latin typeface="+mj-lt"/>
                <a:sym typeface="+mn-ea"/>
              </a:rPr>
              <a:t>的加热速率与效率：</a:t>
            </a:r>
            <a:endParaRPr lang="zh-CN" altLang="en-US" sz="1400" b="1" dirty="0">
              <a:solidFill>
                <a:schemeClr val="accent1"/>
              </a:solidFill>
              <a:latin typeface="+mj-lt"/>
              <a:sym typeface="+mn-ea"/>
            </a:endParaRPr>
          </a:p>
          <a:p>
            <a:pPr indent="0">
              <a:spcBef>
                <a:spcPts val="600"/>
              </a:spcBef>
              <a:buFont typeface="Wingdings" panose="05000000000000000000" charset="0"/>
              <a:buNone/>
            </a:pPr>
            <a:r>
              <a:rPr lang="en-US" altLang="zh-CN" sz="1400" b="1" dirty="0">
                <a:solidFill>
                  <a:schemeClr val="accent1"/>
                </a:solidFill>
                <a:latin typeface="+mj-lt"/>
                <a:sym typeface="+mn-ea"/>
              </a:rPr>
              <a:t>     </a:t>
            </a:r>
            <a:r>
              <a:rPr lang="zh-CN" altLang="en-US" sz="1400" b="1" dirty="0">
                <a:solidFill>
                  <a:schemeClr val="accent1"/>
                </a:solidFill>
                <a:latin typeface="+mj-lt"/>
                <a:sym typeface="+mn-ea"/>
              </a:rPr>
              <a:t>-20°</a:t>
            </a:r>
            <a:r>
              <a:rPr lang="en-US" altLang="zh-CN" sz="1400" b="1" dirty="0">
                <a:solidFill>
                  <a:schemeClr val="accent1"/>
                </a:solidFill>
                <a:latin typeface="+mj-lt"/>
                <a:sym typeface="+mn-ea"/>
              </a:rPr>
              <a:t>C</a:t>
            </a:r>
            <a:r>
              <a:rPr lang="zh-CN" altLang="en-US" sz="1400" b="1" dirty="0">
                <a:solidFill>
                  <a:schemeClr val="accent1"/>
                </a:solidFill>
                <a:latin typeface="+mj-lt"/>
                <a:sym typeface="+mn-ea"/>
              </a:rPr>
              <a:t>低温初始下可形成1.39°</a:t>
            </a:r>
            <a:r>
              <a:rPr lang="en-US" altLang="zh-CN" sz="1400" b="1" dirty="0">
                <a:solidFill>
                  <a:schemeClr val="accent1"/>
                </a:solidFill>
                <a:latin typeface="+mj-lt"/>
                <a:sym typeface="+mn-ea"/>
              </a:rPr>
              <a:t>C/min</a:t>
            </a:r>
            <a:r>
              <a:rPr lang="zh-CN" altLang="en-US" sz="1400" b="1" dirty="0">
                <a:solidFill>
                  <a:schemeClr val="accent1"/>
                </a:solidFill>
                <a:latin typeface="+mj-lt"/>
                <a:sym typeface="+mn-ea"/>
              </a:rPr>
              <a:t>初始温升速率, 约18.8 </a:t>
            </a:r>
            <a:r>
              <a:rPr lang="en-US" altLang="zh-CN" sz="1400" b="1" dirty="0">
                <a:solidFill>
                  <a:schemeClr val="accent1"/>
                </a:solidFill>
                <a:latin typeface="+mj-lt"/>
                <a:sym typeface="+mn-ea"/>
              </a:rPr>
              <a:t>min</a:t>
            </a:r>
            <a:r>
              <a:rPr lang="zh-CN" altLang="en-US" sz="1400" b="1" dirty="0">
                <a:solidFill>
                  <a:schemeClr val="accent1"/>
                </a:solidFill>
                <a:latin typeface="+mj-lt"/>
                <a:sym typeface="+mn-ea"/>
              </a:rPr>
              <a:t>升至0°</a:t>
            </a:r>
            <a:r>
              <a:rPr lang="en-US" altLang="zh-CN" sz="1400" b="1" dirty="0">
                <a:solidFill>
                  <a:schemeClr val="accent1"/>
                </a:solidFill>
                <a:latin typeface="+mj-lt"/>
                <a:sym typeface="+mn-ea"/>
              </a:rPr>
              <a:t>C; 30 min</a:t>
            </a:r>
            <a:r>
              <a:rPr lang="zh-CN" altLang="en-US" sz="1400" b="1" dirty="0">
                <a:solidFill>
                  <a:schemeClr val="accent1"/>
                </a:solidFill>
                <a:latin typeface="+mj-lt"/>
                <a:sym typeface="+mn-ea"/>
              </a:rPr>
              <a:t>温升27.5°</a:t>
            </a:r>
            <a:r>
              <a:rPr lang="en-US" altLang="zh-CN" sz="1400" b="1" dirty="0">
                <a:solidFill>
                  <a:schemeClr val="accent1"/>
                </a:solidFill>
                <a:latin typeface="+mj-lt"/>
                <a:sym typeface="+mn-ea"/>
              </a:rPr>
              <a:t>C, </a:t>
            </a:r>
            <a:r>
              <a:rPr lang="zh-CN" altLang="en-US" sz="1400" b="1" dirty="0">
                <a:solidFill>
                  <a:schemeClr val="accent1"/>
                </a:solidFill>
                <a:latin typeface="+mj-lt"/>
                <a:sym typeface="+mn-ea"/>
              </a:rPr>
              <a:t>系统加热效率约82.9%, </a:t>
            </a:r>
            <a:r>
              <a:rPr lang="en-US" altLang="zh-CN" sz="1400" b="1" dirty="0">
                <a:solidFill>
                  <a:schemeClr val="accent1"/>
                </a:solidFill>
                <a:latin typeface="+mj-lt"/>
                <a:sym typeface="+mn-ea"/>
              </a:rPr>
              <a:t>SOC</a:t>
            </a:r>
            <a:r>
              <a:rPr lang="zh-CN" altLang="en-US" sz="1400" b="1" dirty="0">
                <a:solidFill>
                  <a:schemeClr val="accent1"/>
                </a:solidFill>
                <a:latin typeface="+mj-lt"/>
                <a:sym typeface="+mn-ea"/>
              </a:rPr>
              <a:t>消耗约5.7%。</a:t>
            </a:r>
            <a:endParaRPr lang="zh-CN" altLang="en-US" sz="1400" b="1" dirty="0">
              <a:solidFill>
                <a:schemeClr val="accent1"/>
              </a:solidFill>
              <a:latin typeface="+mj-lt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charset="0"/>
              <a:buChar char="p"/>
            </a:pPr>
            <a:endParaRPr lang="zh-CN" altLang="en-US" sz="1400" b="1" dirty="0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479425" y="1844675"/>
            <a:ext cx="11231880" cy="4896483"/>
            <a:chOff x="772" y="2111"/>
            <a:chExt cx="17688" cy="7735"/>
          </a:xfrm>
        </p:grpSpPr>
        <p:pic>
          <p:nvPicPr>
            <p:cNvPr id="36" name="Picture 13" descr="fig3_time_response.png"/>
            <p:cNvPicPr>
              <a:picLocks noChangeAspect="1"/>
            </p:cNvPicPr>
            <p:nvPr/>
          </p:nvPicPr>
          <p:blipFill>
            <a:blip r:embed="rId1"/>
            <a:srcRect t="5652"/>
            <a:stretch>
              <a:fillRect/>
            </a:stretch>
          </p:blipFill>
          <p:spPr>
            <a:xfrm>
              <a:off x="9373" y="2953"/>
              <a:ext cx="8049" cy="3402"/>
            </a:xfrm>
            <a:prstGeom prst="rect">
              <a:avLst/>
            </a:prstGeom>
          </p:spPr>
        </p:pic>
        <p:grpSp>
          <p:nvGrpSpPr>
            <p:cNvPr id="35" name="组合 34"/>
            <p:cNvGrpSpPr/>
            <p:nvPr/>
          </p:nvGrpSpPr>
          <p:grpSpPr>
            <a:xfrm>
              <a:off x="772" y="2111"/>
              <a:ext cx="17688" cy="737"/>
              <a:chOff x="772" y="2225"/>
              <a:chExt cx="17688" cy="737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772" y="2225"/>
                <a:ext cx="2608" cy="737"/>
              </a:xfrm>
              <a:prstGeom prst="rect">
                <a:avLst/>
              </a:prstGeom>
              <a:solidFill>
                <a:schemeClr val="bg1"/>
              </a:solidFill>
              <a:ln w="10160">
                <a:solidFill>
                  <a:schemeClr val="bg1">
                    <a:lumMod val="75000"/>
                  </a:schemeClr>
                </a:solidFill>
              </a:ln>
              <a:effectLst>
                <a:outerShdw blurRad="50800" dist="127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64800" tIns="28800" rIns="64800" bIns="28800" rtlCol="0" anchor="ctr"/>
              <a:lstStyle/>
              <a:p>
                <a:pPr algn="ctr"/>
                <a:r>
                  <a:rPr b="1">
                    <a:solidFill>
                      <a:srgbClr val="B91C1C"/>
                    </a:solidFill>
                    <a:latin typeface="微软雅黑" panose="020B0503020204020204" pitchFamily="34" charset="-122"/>
                  </a:rPr>
                  <a:t>1.39°C/min</a:t>
                </a:r>
                <a:endParaRPr b="1">
                  <a:solidFill>
                    <a:srgbClr val="B91C1C"/>
                  </a:solidFill>
                  <a:latin typeface="微软雅黑" panose="020B0503020204020204" pitchFamily="34" charset="-122"/>
                </a:endParaRPr>
              </a:p>
              <a:p>
                <a:pPr algn="ctr"/>
                <a:r>
                  <a:rPr sz="850">
                    <a:solidFill>
                      <a:srgbClr val="4B5563"/>
                    </a:solidFill>
                    <a:latin typeface="微软雅黑" panose="020B0503020204020204" pitchFamily="34" charset="-122"/>
                  </a:rPr>
                  <a:t>初始温升速率 @ -20°C</a:t>
                </a:r>
                <a:endParaRPr sz="850">
                  <a:solidFill>
                    <a:srgbClr val="4B5563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3936" y="2225"/>
                <a:ext cx="2267" cy="737"/>
              </a:xfrm>
              <a:prstGeom prst="rect">
                <a:avLst/>
              </a:prstGeom>
              <a:solidFill>
                <a:schemeClr val="bg1"/>
              </a:solidFill>
              <a:ln w="10160">
                <a:solidFill>
                  <a:schemeClr val="bg1">
                    <a:lumMod val="75000"/>
                  </a:schemeClr>
                </a:solidFill>
              </a:ln>
              <a:effectLst>
                <a:outerShdw blurRad="50800" dist="127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64800" tIns="28800" rIns="64800" bIns="28800" rtlCol="0" anchor="ctr"/>
              <a:lstStyle/>
              <a:p>
                <a:pPr algn="ctr"/>
                <a:r>
                  <a:rPr b="1">
                    <a:solidFill>
                      <a:srgbClr val="B45309"/>
                    </a:solidFill>
                    <a:latin typeface="微软雅黑" panose="020B0503020204020204" pitchFamily="34" charset="-122"/>
                  </a:rPr>
                  <a:t>18.8 min</a:t>
                </a:r>
                <a:endParaRPr b="1">
                  <a:solidFill>
                    <a:srgbClr val="B45309"/>
                  </a:solidFill>
                  <a:latin typeface="微软雅黑" panose="020B0503020204020204" pitchFamily="34" charset="-122"/>
                </a:endParaRPr>
              </a:p>
              <a:p>
                <a:pPr algn="ctr"/>
                <a:r>
                  <a:rPr sz="850">
                    <a:solidFill>
                      <a:srgbClr val="4B5563"/>
                    </a:solidFill>
                    <a:latin typeface="微软雅黑" panose="020B0503020204020204" pitchFamily="34" charset="-122"/>
                  </a:rPr>
                  <a:t>升至0°C时间</a:t>
                </a:r>
                <a:endParaRPr sz="850">
                  <a:solidFill>
                    <a:srgbClr val="4B5563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2" name="Rectangle 7"/>
              <p:cNvSpPr/>
              <p:nvPr/>
            </p:nvSpPr>
            <p:spPr>
              <a:xfrm>
                <a:off x="6759" y="2225"/>
                <a:ext cx="2267" cy="737"/>
              </a:xfrm>
              <a:prstGeom prst="rect">
                <a:avLst/>
              </a:prstGeom>
              <a:solidFill>
                <a:schemeClr val="bg1"/>
              </a:solidFill>
              <a:ln w="10160">
                <a:solidFill>
                  <a:schemeClr val="bg1">
                    <a:lumMod val="75000"/>
                  </a:schemeClr>
                </a:solidFill>
              </a:ln>
              <a:effectLst>
                <a:outerShdw blurRad="50800" dist="127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64800" tIns="28800" rIns="64800" bIns="28800" rtlCol="0" anchor="ctr"/>
              <a:lstStyle/>
              <a:p>
                <a:pPr algn="ctr"/>
                <a:r>
                  <a:rPr b="1">
                    <a:solidFill>
                      <a:srgbClr val="047857"/>
                    </a:solidFill>
                    <a:latin typeface="微软雅黑" panose="020B0503020204020204" pitchFamily="34" charset="-122"/>
                  </a:rPr>
                  <a:t>82.9%</a:t>
                </a:r>
                <a:endParaRPr b="1">
                  <a:solidFill>
                    <a:srgbClr val="047857"/>
                  </a:solidFill>
                  <a:latin typeface="微软雅黑" panose="020B0503020204020204" pitchFamily="34" charset="-122"/>
                </a:endParaRPr>
              </a:p>
              <a:p>
                <a:pPr algn="ctr"/>
                <a:r>
                  <a:rPr sz="850">
                    <a:solidFill>
                      <a:srgbClr val="4B5563"/>
                    </a:solidFill>
                    <a:latin typeface="微软雅黑" panose="020B0503020204020204" pitchFamily="34" charset="-122"/>
                  </a:rPr>
                  <a:t>30 min系统加热效率</a:t>
                </a:r>
                <a:endParaRPr sz="850">
                  <a:solidFill>
                    <a:srgbClr val="4B5563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3" name="Rectangle 8"/>
              <p:cNvSpPr/>
              <p:nvPr/>
            </p:nvSpPr>
            <p:spPr>
              <a:xfrm>
                <a:off x="9582" y="2225"/>
                <a:ext cx="2267" cy="737"/>
              </a:xfrm>
              <a:prstGeom prst="rect">
                <a:avLst/>
              </a:prstGeom>
              <a:solidFill>
                <a:schemeClr val="bg1"/>
              </a:solidFill>
              <a:ln w="10160">
                <a:solidFill>
                  <a:schemeClr val="bg1">
                    <a:lumMod val="75000"/>
                  </a:schemeClr>
                </a:solidFill>
              </a:ln>
              <a:effectLst>
                <a:outerShdw blurRad="50800" dist="127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64800" tIns="28800" rIns="64800" bIns="28800" rtlCol="0" anchor="ctr"/>
              <a:lstStyle/>
              <a:p>
                <a:pPr algn="ctr"/>
                <a:r>
                  <a:rPr b="1">
                    <a:solidFill>
                      <a:srgbClr val="1D4ED8"/>
                    </a:solidFill>
                    <a:latin typeface="微软雅黑" panose="020B0503020204020204" pitchFamily="34" charset="-122"/>
                  </a:rPr>
                  <a:t>5.7%</a:t>
                </a:r>
                <a:endParaRPr b="1">
                  <a:solidFill>
                    <a:srgbClr val="1D4ED8"/>
                  </a:solidFill>
                  <a:latin typeface="微软雅黑" panose="020B0503020204020204" pitchFamily="34" charset="-122"/>
                </a:endParaRPr>
              </a:p>
              <a:p>
                <a:pPr algn="ctr"/>
                <a:r>
                  <a:rPr sz="850">
                    <a:solidFill>
                      <a:srgbClr val="4B5563"/>
                    </a:solidFill>
                    <a:latin typeface="微软雅黑" panose="020B0503020204020204" pitchFamily="34" charset="-122"/>
                  </a:rPr>
                  <a:t>30 min SOC消耗</a:t>
                </a:r>
                <a:endParaRPr sz="850">
                  <a:solidFill>
                    <a:srgbClr val="4B5563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4" name="Rectangle 9"/>
              <p:cNvSpPr/>
              <p:nvPr/>
            </p:nvSpPr>
            <p:spPr>
              <a:xfrm>
                <a:off x="12405" y="2225"/>
                <a:ext cx="2381" cy="737"/>
              </a:xfrm>
              <a:prstGeom prst="rect">
                <a:avLst/>
              </a:prstGeom>
              <a:solidFill>
                <a:schemeClr val="bg1"/>
              </a:solidFill>
              <a:ln w="10160">
                <a:solidFill>
                  <a:schemeClr val="bg1">
                    <a:lumMod val="75000"/>
                  </a:schemeClr>
                </a:solidFill>
              </a:ln>
              <a:effectLst>
                <a:outerShdw blurRad="50800" dist="127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64800" tIns="28800" rIns="64800" bIns="28800" rtlCol="0" anchor="ctr"/>
              <a:lstStyle/>
              <a:p>
                <a:pPr algn="ctr"/>
                <a:r>
                  <a:rPr b="1">
                    <a:solidFill>
                      <a:srgbClr val="BE123C"/>
                    </a:solidFill>
                    <a:latin typeface="微软雅黑" panose="020B0503020204020204" pitchFamily="34" charset="-122"/>
                  </a:rPr>
                  <a:t>57.6 kW</a:t>
                </a:r>
                <a:endParaRPr b="1">
                  <a:solidFill>
                    <a:srgbClr val="BE123C"/>
                  </a:solidFill>
                  <a:latin typeface="微软雅黑" panose="020B0503020204020204" pitchFamily="34" charset="-122"/>
                </a:endParaRPr>
              </a:p>
              <a:p>
                <a:pPr algn="ctr"/>
                <a:r>
                  <a:rPr sz="850">
                    <a:solidFill>
                      <a:srgbClr val="4B5563"/>
                    </a:solidFill>
                    <a:latin typeface="微软雅黑" panose="020B0503020204020204" pitchFamily="34" charset="-122"/>
                  </a:rPr>
                  <a:t>初始电池发热功率</a:t>
                </a:r>
                <a:endParaRPr sz="850">
                  <a:solidFill>
                    <a:srgbClr val="4B5563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0" name="Rectangle 10"/>
              <p:cNvSpPr/>
              <p:nvPr/>
            </p:nvSpPr>
            <p:spPr>
              <a:xfrm>
                <a:off x="15342" y="2225"/>
                <a:ext cx="3118" cy="737"/>
              </a:xfrm>
              <a:prstGeom prst="rect">
                <a:avLst/>
              </a:prstGeom>
              <a:solidFill>
                <a:schemeClr val="bg1"/>
              </a:solidFill>
              <a:ln w="10160">
                <a:solidFill>
                  <a:schemeClr val="bg1">
                    <a:lumMod val="75000"/>
                  </a:schemeClr>
                </a:solidFill>
              </a:ln>
              <a:effectLst>
                <a:outerShdw blurRad="50800" dist="127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64800" tIns="28800" rIns="64800" bIns="28800" rtlCol="0" anchor="ctr"/>
              <a:lstStyle/>
              <a:p>
                <a:pPr algn="ctr"/>
                <a:r>
                  <a:rPr b="1">
                    <a:solidFill>
                      <a:srgbClr val="374151"/>
                    </a:solidFill>
                    <a:latin typeface="微软雅黑" panose="020B0503020204020204" pitchFamily="34" charset="-122"/>
                  </a:rPr>
                  <a:t>539/921 A</a:t>
                </a:r>
                <a:endParaRPr b="1">
                  <a:solidFill>
                    <a:srgbClr val="374151"/>
                  </a:solidFill>
                  <a:latin typeface="微软雅黑" panose="020B0503020204020204" pitchFamily="34" charset="-122"/>
                </a:endParaRPr>
              </a:p>
              <a:p>
                <a:pPr algn="ctr"/>
                <a:r>
                  <a:rPr sz="850">
                    <a:solidFill>
                      <a:srgbClr val="4B5563"/>
                    </a:solidFill>
                    <a:latin typeface="微软雅黑" panose="020B0503020204020204" pitchFamily="34" charset="-122"/>
                  </a:rPr>
                  <a:t>电池组RMS/峰值电流</a:t>
                </a:r>
                <a:endParaRPr sz="850">
                  <a:solidFill>
                    <a:srgbClr val="4B5563"/>
                  </a:solidFill>
                  <a:latin typeface="微软雅黑" panose="020B0503020204020204" pitchFamily="34" charset="-122"/>
                </a:endParaRP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772" y="3245"/>
              <a:ext cx="7826" cy="5237"/>
              <a:chOff x="415" y="3473"/>
              <a:chExt cx="7826" cy="5237"/>
            </a:xfrm>
          </p:grpSpPr>
          <p:pic>
            <p:nvPicPr>
              <p:cNvPr id="21" name="图片 20" descr="Figure_66_253K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15" y="3473"/>
                <a:ext cx="7826" cy="5237"/>
              </a:xfrm>
              <a:prstGeom prst="rect">
                <a:avLst/>
              </a:prstGeom>
            </p:spPr>
          </p:pic>
          <p:sp>
            <p:nvSpPr>
              <p:cNvPr id="23" name="圆角矩形 22"/>
              <p:cNvSpPr/>
              <p:nvPr/>
            </p:nvSpPr>
            <p:spPr>
              <a:xfrm>
                <a:off x="3687" y="5298"/>
                <a:ext cx="1104" cy="47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0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初始点</a:t>
                </a:r>
                <a:endParaRPr lang="en-US" altLang="zh-CN" sz="10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  <p:sp>
          <p:nvSpPr>
            <p:cNvPr id="25" name="文本框 24"/>
            <p:cNvSpPr txBox="1"/>
            <p:nvPr/>
          </p:nvSpPr>
          <p:spPr>
            <a:xfrm>
              <a:off x="1191" y="8689"/>
              <a:ext cx="6848" cy="7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40000"/>
                </a:prstClr>
              </a:outerShdw>
            </a:effectLst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 anchorCtr="0">
              <a:noAutofit/>
            </a:bodyPr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chemeClr val="accent1"/>
                  </a:solidFill>
                  <a:latin typeface="微软雅黑" panose="020B0503020204020204" pitchFamily="34" charset="-122"/>
                  <a:sym typeface="+mn-ea"/>
                </a:rPr>
                <a:t>图1 频率-电感-温升速率</a:t>
              </a:r>
              <a:r>
                <a:rPr lang="en-US" sz="1000" b="1">
                  <a:solidFill>
                    <a:schemeClr val="accent1"/>
                  </a:solidFill>
                  <a:latin typeface="微软雅黑" panose="020B0503020204020204" pitchFamily="34" charset="-122"/>
                  <a:sym typeface="+mn-ea"/>
                </a:rPr>
                <a:t>map</a:t>
              </a:r>
              <a:r>
                <a:rPr sz="1000" b="1">
                  <a:solidFill>
                    <a:schemeClr val="accent1"/>
                  </a:solidFill>
                  <a:latin typeface="微软雅黑" panose="020B0503020204020204" pitchFamily="34" charset="-122"/>
                  <a:sym typeface="+mn-ea"/>
                </a:rPr>
                <a:t>图</a:t>
              </a:r>
              <a:endParaRPr sz="1000" b="1">
                <a:solidFill>
                  <a:schemeClr val="accent1"/>
                </a:solidFill>
                <a:latin typeface="微软雅黑" panose="020B0503020204020204" pitchFamily="34" charset="-122"/>
                <a:sym typeface="+mn-ea"/>
              </a:endParaRPr>
            </a:p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sym typeface="+mn-ea"/>
                </a:rPr>
                <a:t>1250 Hz</a:t>
              </a:r>
              <a:r>
                <a:rPr lang="zh-CN" altLang="en-US" sz="900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sym typeface="+mn-ea"/>
                </a:rPr>
                <a:t>下，具备</a:t>
              </a:r>
              <a:r>
                <a:rPr lang="en-US" altLang="zh-CN" sz="900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sym typeface="+mn-ea"/>
                </a:rPr>
                <a:t>1.39℃/min</a:t>
              </a:r>
              <a:r>
                <a:rPr lang="zh-CN" altLang="en-US" sz="900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sym typeface="+mn-ea"/>
                </a:rPr>
                <a:t>初始温升能力</a:t>
              </a:r>
              <a:endParaRPr lang="zh-CN" altLang="en-US" sz="9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pic>
          <p:nvPicPr>
            <p:cNvPr id="31" name="图片 30" descr="untitled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91" y="7318"/>
              <a:ext cx="3742" cy="1721"/>
            </a:xfrm>
            <a:prstGeom prst="rect">
              <a:avLst/>
            </a:prstGeom>
          </p:spPr>
        </p:pic>
        <p:pic>
          <p:nvPicPr>
            <p:cNvPr id="32" name="图片 31" descr="untitled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82" y="7318"/>
              <a:ext cx="3742" cy="1767"/>
            </a:xfrm>
            <a:prstGeom prst="rect">
              <a:avLst/>
            </a:prstGeom>
          </p:spPr>
        </p:pic>
        <p:sp>
          <p:nvSpPr>
            <p:cNvPr id="34" name="文本框 33"/>
            <p:cNvSpPr txBox="1"/>
            <p:nvPr/>
          </p:nvSpPr>
          <p:spPr>
            <a:xfrm>
              <a:off x="9582" y="6462"/>
              <a:ext cx="7646" cy="6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40000"/>
                </a:prstClr>
              </a:outerShdw>
            </a:effectLst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 anchorCtr="0">
              <a:spAutoFit/>
            </a:bodyPr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chemeClr val="accent1"/>
                  </a:solidFill>
                  <a:latin typeface="微软雅黑" panose="020B0503020204020204" pitchFamily="34" charset="-122"/>
                  <a:sym typeface="+mn-ea"/>
                </a:rPr>
                <a:t>图</a:t>
              </a:r>
              <a:r>
                <a:rPr lang="en-US" sz="1000" b="1">
                  <a:solidFill>
                    <a:schemeClr val="accent1"/>
                  </a:solidFill>
                  <a:latin typeface="微软雅黑" panose="020B0503020204020204" pitchFamily="34" charset="-122"/>
                  <a:sym typeface="+mn-ea"/>
                </a:rPr>
                <a:t>2</a:t>
              </a:r>
              <a:r>
                <a:rPr sz="1000" b="1">
                  <a:solidFill>
                    <a:schemeClr val="accent1"/>
                  </a:solidFill>
                  <a:latin typeface="微软雅黑" panose="020B0503020204020204" pitchFamily="34" charset="-122"/>
                  <a:sym typeface="+mn-ea"/>
                </a:rPr>
                <a:t> </a:t>
              </a:r>
              <a:r>
                <a:rPr lang="en-US" altLang="zh-CN" sz="1000" b="1" dirty="0">
                  <a:solidFill>
                    <a:schemeClr val="accent1"/>
                  </a:solidFill>
                  <a:latin typeface="+mj-lt"/>
                  <a:sym typeface="+mn-ea"/>
                </a:rPr>
                <a:t>-20°C</a:t>
              </a:r>
              <a:r>
                <a:rPr lang="zh-CN" altLang="en-US" sz="1000" b="1" dirty="0">
                  <a:solidFill>
                    <a:schemeClr val="accent1"/>
                  </a:solidFill>
                  <a:latin typeface="+mj-lt"/>
                  <a:sym typeface="+mn-ea"/>
                </a:rPr>
                <a:t>下</a:t>
              </a:r>
              <a:r>
                <a:rPr lang="zh-CN" sz="1000" b="1">
                  <a:solidFill>
                    <a:schemeClr val="accent1"/>
                  </a:solidFill>
                  <a:latin typeface="微软雅黑" panose="020B0503020204020204" pitchFamily="34" charset="-122"/>
                  <a:sym typeface="+mn-ea"/>
                </a:rPr>
                <a:t>瞬态温升</a:t>
              </a:r>
              <a:r>
                <a:rPr lang="en-US" altLang="zh-CN" sz="1000" b="1">
                  <a:solidFill>
                    <a:schemeClr val="accent1"/>
                  </a:solidFill>
                  <a:latin typeface="微软雅黑" panose="020B0503020204020204" pitchFamily="34" charset="-122"/>
                  <a:sym typeface="+mn-ea"/>
                </a:rPr>
                <a:t>/</a:t>
              </a:r>
              <a:r>
                <a:rPr lang="zh-CN" altLang="en-US" sz="1000" b="1">
                  <a:solidFill>
                    <a:schemeClr val="accent1"/>
                  </a:solidFill>
                  <a:latin typeface="微软雅黑" panose="020B0503020204020204" pitchFamily="34" charset="-122"/>
                  <a:sym typeface="+mn-ea"/>
                </a:rPr>
                <a:t>功率</a:t>
              </a:r>
              <a:r>
                <a:rPr lang="en-US" altLang="zh-CN" sz="1000" b="1">
                  <a:solidFill>
                    <a:schemeClr val="accent1"/>
                  </a:solidFill>
                  <a:latin typeface="微软雅黑" panose="020B0503020204020204" pitchFamily="34" charset="-122"/>
                  <a:sym typeface="+mn-ea"/>
                </a:rPr>
                <a:t>/SOC</a:t>
              </a:r>
              <a:r>
                <a:rPr lang="zh-CN" altLang="en-US" sz="1000" b="1">
                  <a:solidFill>
                    <a:schemeClr val="accent1"/>
                  </a:solidFill>
                  <a:latin typeface="微软雅黑" panose="020B0503020204020204" pitchFamily="34" charset="-122"/>
                  <a:sym typeface="+mn-ea"/>
                </a:rPr>
                <a:t>变化</a:t>
              </a:r>
              <a:endParaRPr sz="1000" b="1">
                <a:solidFill>
                  <a:schemeClr val="accent1"/>
                </a:solidFill>
                <a:latin typeface="微软雅黑" panose="020B0503020204020204" pitchFamily="34" charset="-122"/>
                <a:sym typeface="+mn-ea"/>
              </a:endParaRPr>
            </a:p>
            <a:p>
              <a:pPr algn="ctr">
                <a:spcBef>
                  <a:spcPts val="0"/>
                </a:spcBef>
              </a:pPr>
              <a:r>
                <a:rPr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sym typeface="+mn-ea"/>
                </a:rPr>
                <a:t>低温启动后温度持续上升, 净加热功率为正, SOC消耗与温升过程可量化。</a:t>
              </a:r>
              <a:endParaRPr lang="zh-CN" altLang="en-US" sz="9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9600" y="9211"/>
              <a:ext cx="7646" cy="6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40000"/>
                </a:prstClr>
              </a:outerShdw>
            </a:effectLst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 anchorCtr="0">
              <a:spAutoFit/>
            </a:bodyPr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chemeClr val="accent1"/>
                  </a:solidFill>
                  <a:latin typeface="微软雅黑" panose="020B0503020204020204" pitchFamily="34" charset="-122"/>
                  <a:sym typeface="+mn-ea"/>
                </a:rPr>
                <a:t>图</a:t>
              </a:r>
              <a:r>
                <a:rPr lang="en-US" sz="1000" b="1">
                  <a:solidFill>
                    <a:schemeClr val="accent1"/>
                  </a:solidFill>
                  <a:latin typeface="微软雅黑" panose="020B0503020204020204" pitchFamily="34" charset="-122"/>
                  <a:sym typeface="+mn-ea"/>
                </a:rPr>
                <a:t>3</a:t>
              </a:r>
              <a:r>
                <a:rPr lang="zh-CN" altLang="en-US" sz="1000" b="1">
                  <a:solidFill>
                    <a:schemeClr val="accent1"/>
                  </a:solidFill>
                  <a:latin typeface="微软雅黑" panose="020B0503020204020204" pitchFamily="34" charset="-122"/>
                  <a:sym typeface="+mn-ea"/>
                </a:rPr>
                <a:t> 不同温度</a:t>
              </a:r>
              <a:r>
                <a:rPr lang="zh-CN" altLang="en-US" sz="1000" b="1">
                  <a:solidFill>
                    <a:schemeClr val="accent1"/>
                  </a:solidFill>
                  <a:latin typeface="微软雅黑" panose="020B0503020204020204" pitchFamily="34" charset="-122"/>
                  <a:sym typeface="+mn-ea"/>
                </a:rPr>
                <a:t>下效率与单位温升电耗</a:t>
              </a:r>
              <a:endParaRPr lang="zh-CN" altLang="en-US" sz="1000" b="1">
                <a:solidFill>
                  <a:schemeClr val="accent1"/>
                </a:solidFill>
                <a:latin typeface="微软雅黑" panose="020B0503020204020204" pitchFamily="34" charset="-122"/>
                <a:sym typeface="+mn-ea"/>
              </a:endParaRPr>
            </a:p>
            <a:p>
              <a:pPr algn="ctr">
                <a:spcBef>
                  <a:spcPts val="0"/>
                </a:spcBef>
              </a:pP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sym typeface="+mn-ea"/>
                </a:rPr>
                <a:t>0℃</a:t>
              </a:r>
              <a:r>
                <a:rPr lang="zh-CN" alt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sym typeface="+mn-ea"/>
                </a:rPr>
                <a:t>以上</a:t>
              </a:r>
              <a:r>
                <a:rPr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sym typeface="+mn-ea"/>
                </a:rPr>
                <a:t>效率</a:t>
              </a: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sym typeface="+mn-ea"/>
                </a:rPr>
                <a:t>&gt;90</a:t>
              </a:r>
              <a:r>
                <a:rPr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sym typeface="+mn-ea"/>
                </a:rPr>
                <a:t>%, 每升温1°C的电量代价</a:t>
              </a: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sym typeface="+mn-ea"/>
                </a:rPr>
                <a:t>&lt;0.2%SOC</a:t>
              </a:r>
              <a:r>
                <a:rPr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sym typeface="+mn-ea"/>
                </a:rPr>
                <a:t>。</a:t>
              </a:r>
              <a:endParaRPr lang="zh-CN" altLang="en-US" sz="9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39" name="TextBox 19"/>
          <p:cNvSpPr txBox="1"/>
          <p:nvPr/>
        </p:nvSpPr>
        <p:spPr>
          <a:xfrm>
            <a:off x="259200" y="6645368"/>
            <a:ext cx="4401820" cy="167005"/>
          </a:xfrm>
          <a:prstGeom prst="rect">
            <a:avLst/>
          </a:prstGeom>
          <a:noFill/>
          <a:ln>
            <a:noFill/>
          </a:ln>
        </p:spPr>
        <p:txBody>
          <a:bodyPr wrap="none" lIns="28800" tIns="28800" rIns="28800" bIns="28800" anchor="ctr">
            <a:spAutoFit/>
          </a:bodyPr>
          <a:lstStyle/>
          <a:p>
            <a:pPr algn="l"/>
            <a:r>
              <a:rPr sz="720" b="0">
                <a:solidFill>
                  <a:srgbClr val="6B7280"/>
                </a:solidFill>
                <a:latin typeface="微软雅黑" panose="020B0503020204020204" pitchFamily="34" charset="-122"/>
              </a:rPr>
              <a:t>注: 当前为零维平均热模型结果, 电池热边界、电机</a:t>
            </a:r>
            <a:r>
              <a:rPr lang="zh-CN" sz="720" b="0">
                <a:solidFill>
                  <a:srgbClr val="6B7280"/>
                </a:solidFill>
                <a:latin typeface="微软雅黑" panose="020B0503020204020204" pitchFamily="34" charset="-122"/>
              </a:rPr>
              <a:t>机械状态</a:t>
            </a:r>
            <a:r>
              <a:rPr sz="720" b="0">
                <a:solidFill>
                  <a:srgbClr val="6B7280"/>
                </a:solidFill>
                <a:latin typeface="微软雅黑" panose="020B0503020204020204" pitchFamily="34" charset="-122"/>
              </a:rPr>
              <a:t>和高频析锂限流参数需后续台架/整车试验校准。</a:t>
            </a:r>
            <a:endParaRPr sz="720" b="0">
              <a:solidFill>
                <a:srgbClr val="6B728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VI标准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152A8C"/>
      </a:accent1>
      <a:accent2>
        <a:srgbClr val="2796D4"/>
      </a:accent2>
      <a:accent3>
        <a:srgbClr val="EDEDED"/>
      </a:accent3>
      <a:accent4>
        <a:srgbClr val="B10011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默认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36000" tIns="36000" rIns="36000" bIns="36000" rtlCol="0">
        <a:noAutofit/>
      </a:bodyPr>
      <a:lstStyle>
        <a:defPPr algn="l">
          <a:spcBef>
            <a:spcPts val="600"/>
          </a:spcBef>
          <a:defRPr dirty="0" err="1" smtClean="0">
            <a:solidFill>
              <a:srgbClr val="003B90"/>
            </a:solidFill>
            <a:latin typeface="+mj-lt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519</Words>
  <Application>WPS 演示</Application>
  <PresentationFormat>宽屏</PresentationFormat>
  <Paragraphs>38</Paragraphs>
  <Slides>1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Wingdings</vt:lpstr>
      <vt:lpstr>Arial Unicode MS</vt:lpstr>
      <vt:lpstr>等线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一汽解放PPT模板</dc:title>
  <dc:creator>一汽解放</dc:creator>
  <cp:lastModifiedBy>WPS_1632448344</cp:lastModifiedBy>
  <cp:revision>997</cp:revision>
  <cp:lastPrinted>2023-05-19T05:02:00Z</cp:lastPrinted>
  <dcterms:created xsi:type="dcterms:W3CDTF">2015-12-28T03:19:00Z</dcterms:created>
  <dcterms:modified xsi:type="dcterms:W3CDTF">2026-05-12T10:39:03Z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AC3B4880324C490CBB40077B2CF69D87_13</vt:lpwstr>
  </property>
  <property fmtid="{D5CDD505-2E9C-101B-9397-08002B2CF9AE}" pid="3" name="KSOProductBuildVer">
    <vt:lpwstr>2052-12.1.0.25865</vt:lpwstr>
  </property>
</Properties>
</file>
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4000" y="100800"/>
            <a:ext cx="5472000" cy="259200"/>
          </a:xfrm>
          <a:prstGeom prst="rect">
            <a:avLst/>
          </a:prstGeom>
          <a:noFill/>
          <a:ln>
            <a:noFill/>
          </a:ln>
        </p:spPr>
        <p:txBody>
          <a:bodyPr wrap="none" lIns="28800" rIns="28800" tIns="28800" bIns="28800" anchor="ctr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Microsoft YaHei"/>
              </a:rPr>
              <a:t>脉冲加热技术可行性分析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6000" y="136800"/>
            <a:ext cx="6048000" cy="172800"/>
          </a:xfrm>
          <a:prstGeom prst="rect">
            <a:avLst/>
          </a:prstGeom>
          <a:noFill/>
          <a:ln>
            <a:noFill/>
          </a:ln>
        </p:spPr>
        <p:txBody>
          <a:bodyPr wrap="none" lIns="28800" rIns="28800" tIns="28800" bIns="28800" anchor="ctr">
            <a:spAutoFit/>
          </a:bodyPr>
          <a:lstStyle/>
          <a:p>
            <a:pPr algn="r"/>
            <a:r>
              <a:rPr sz="950" b="0">
                <a:solidFill>
                  <a:srgbClr val="4B5563"/>
                </a:solidFill>
                <a:latin typeface="Microsoft YaHei"/>
              </a:rPr>
              <a:t>3806整车平台 | 双电机同相零维模型 | 高频析锂自适应限流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200" y="406799"/>
            <a:ext cx="11664000" cy="2232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txBody>
          <a:bodyPr wrap="none" lIns="39600" rIns="39600" tIns="39600" bIns="3960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Microsoft YaHei"/>
              </a:rPr>
              <a:t>1. 模型依据: 基于3806型整车电池组与电机参数建立, 电池为192S2P、约400.6 kWh, 电机为CAM255PT52双电机同相支路, 默认工况为-20°C、50%SOC、1250 Hz、Ld=260 uH。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200" y="669600"/>
            <a:ext cx="11664000" cy="237600"/>
          </a:xfrm>
          <a:prstGeom prst="rect">
            <a:avLst/>
          </a:prstGeom>
          <a:solidFill>
            <a:srgbClr val="FFF1F2"/>
          </a:solidFill>
          <a:ln>
            <a:solidFill>
              <a:srgbClr val="FFF1F2"/>
            </a:solidFill>
          </a:ln>
        </p:spPr>
        <p:txBody>
          <a:bodyPr wrap="none" lIns="43200" rIns="43200" tIns="43200" bIns="43200" anchor="ctr">
            <a:spAutoFit/>
          </a:bodyPr>
          <a:lstStyle/>
          <a:p>
            <a:pPr algn="l"/>
            <a:r>
              <a:rPr sz="1060" b="1">
                <a:solidFill>
                  <a:srgbClr val="7F1D1D"/>
                </a:solidFill>
                <a:latin typeface="Microsoft YaHei"/>
              </a:rPr>
              <a:t>2. 结论: 技术可行。-20°C低温初始下可形成约1.39°C/min初始温升速率, 约18.8 min升至0°C; 30 min温升27.5°C, 系统加热效率约82.9%, SOC消耗约5.7%。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59200" y="979200"/>
            <a:ext cx="1728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B91C1C"/>
                </a:solidFill>
                <a:latin typeface="Microsoft YaHei"/>
              </a:rPr>
              <a:t>1.39°C/min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初始温升速率 @ -20°C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9200" y="979200"/>
            <a:ext cx="1728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B45309"/>
                </a:solidFill>
                <a:latin typeface="Microsoft YaHei"/>
              </a:rPr>
              <a:t>18.8 min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升至0°C时间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9200" y="979200"/>
            <a:ext cx="1728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047857"/>
                </a:solidFill>
                <a:latin typeface="Microsoft YaHei"/>
              </a:rPr>
              <a:t>82.9%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30 min系统加热效率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9200" y="979200"/>
            <a:ext cx="1728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1D4ED8"/>
                </a:solidFill>
                <a:latin typeface="Microsoft YaHei"/>
              </a:rPr>
              <a:t>5.7%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30 min SOC消耗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9200" y="979200"/>
            <a:ext cx="1980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BE123C"/>
                </a:solidFill>
                <a:latin typeface="Microsoft YaHei"/>
              </a:rPr>
              <a:t>57.6 kW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初始电池发热功率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11200" y="979200"/>
            <a:ext cx="2394000" cy="424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8800" bIns="28800"/>
          <a:lstStyle/>
          <a:p>
            <a:pPr algn="ctr"/>
            <a:r>
              <a:rPr sz="1900" b="1">
                <a:solidFill>
                  <a:srgbClr val="374151"/>
                </a:solidFill>
                <a:latin typeface="Microsoft YaHei"/>
              </a:rPr>
              <a:t>539/921 A</a:t>
            </a:r>
          </a:p>
          <a:p>
            <a:pPr algn="ctr"/>
            <a:r>
              <a:rPr sz="850">
                <a:solidFill>
                  <a:srgbClr val="4B5563"/>
                </a:solidFill>
                <a:latin typeface="Microsoft YaHei"/>
              </a:rPr>
              <a:t>电池组RMS/峰值电流</a:t>
            </a:r>
          </a:p>
        </p:txBody>
      </p:sp>
      <p:pic>
        <p:nvPicPr>
          <p:cNvPr id="12" name="Picture 11" descr="fig2_ra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0" y="1504800"/>
            <a:ext cx="5688000" cy="329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59200" y="4842000"/>
            <a:ext cx="5688000" cy="37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600" rIns="57600" tIns="18000" bIns="14400"/>
          <a:lstStyle/>
          <a:p>
            <a:pPr algn="ctr"/>
            <a:r>
              <a:rPr sz="830" b="1">
                <a:solidFill>
                  <a:srgbClr val="111827"/>
                </a:solidFill>
                <a:latin typeface="Microsoft YaHei"/>
              </a:rPr>
              <a:t>图1 频率-电感-温升速率图</a:t>
            </a:r>
          </a:p>
          <a:p>
            <a:pPr>
              <a:spcBef>
                <a:spcPts val="0"/>
              </a:spcBef>
            </a:pPr>
            <a:r>
              <a:rPr sz="720">
                <a:solidFill>
                  <a:srgbClr val="4B5563"/>
                </a:solidFill>
                <a:latin typeface="Microsoft YaHei"/>
              </a:rPr>
              <a:t>说明当前1250 Hz、260 uH附近具备约1.39°C/min初始温升能力, 从加热速率角度支撑可行性。</a:t>
            </a:r>
          </a:p>
        </p:txBody>
      </p:sp>
      <p:pic>
        <p:nvPicPr>
          <p:cNvPr id="14" name="Picture 13" descr="fig3_time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000" y="1504800"/>
            <a:ext cx="5742000" cy="2196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38000" y="3744000"/>
            <a:ext cx="5742000" cy="34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600" rIns="57600" tIns="18000" bIns="14400"/>
          <a:lstStyle/>
          <a:p>
            <a:pPr algn="ctr"/>
            <a:r>
              <a:rPr sz="830" b="1">
                <a:solidFill>
                  <a:srgbClr val="111827"/>
                </a:solidFill>
                <a:latin typeface="Microsoft YaHei"/>
              </a:rPr>
              <a:t>图2 瞬态温升/功率/SOC变化</a:t>
            </a:r>
          </a:p>
          <a:p>
            <a:pPr>
              <a:spcBef>
                <a:spcPts val="0"/>
              </a:spcBef>
            </a:pPr>
            <a:r>
              <a:rPr sz="720">
                <a:solidFill>
                  <a:srgbClr val="4B5563"/>
                </a:solidFill>
                <a:latin typeface="Microsoft YaHei"/>
              </a:rPr>
              <a:t>说明低温启动后温度持续上升, 净加热功率为正, SOC消耗与温升过程可量化。</a:t>
            </a:r>
          </a:p>
        </p:txBody>
      </p:sp>
      <p:pic>
        <p:nvPicPr>
          <p:cNvPr id="16" name="Picture 15" descr="fig4_efficiency_s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000" y="4204800"/>
            <a:ext cx="2790000" cy="171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38000" y="5958000"/>
            <a:ext cx="2790000" cy="316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600" rIns="57600" tIns="18000" bIns="14400"/>
          <a:lstStyle/>
          <a:p>
            <a:pPr algn="ctr"/>
            <a:r>
              <a:rPr sz="830" b="1">
                <a:solidFill>
                  <a:srgbClr val="111827"/>
                </a:solidFill>
                <a:latin typeface="Microsoft YaHei"/>
              </a:rPr>
              <a:t>图3 效率与单位温升电耗</a:t>
            </a:r>
          </a:p>
          <a:p>
            <a:pPr>
              <a:spcBef>
                <a:spcPts val="0"/>
              </a:spcBef>
            </a:pPr>
            <a:r>
              <a:rPr sz="720">
                <a:solidFill>
                  <a:srgbClr val="4B5563"/>
                </a:solidFill>
                <a:latin typeface="Microsoft YaHei"/>
              </a:rPr>
              <a:t>说明效率约83%量级, 每升温1°C的电量代价处于可接受水平。</a:t>
            </a:r>
          </a:p>
        </p:txBody>
      </p:sp>
      <p:pic>
        <p:nvPicPr>
          <p:cNvPr id="18" name="Picture 17" descr="fig1_pack_current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000" y="4204800"/>
            <a:ext cx="2790000" cy="171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090000" y="5958000"/>
            <a:ext cx="2790000" cy="316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7600" rIns="57600" tIns="18000" bIns="14400"/>
          <a:lstStyle/>
          <a:p>
            <a:pPr algn="ctr"/>
            <a:r>
              <a:rPr sz="830" b="1">
                <a:solidFill>
                  <a:srgbClr val="111827"/>
                </a:solidFill>
                <a:latin typeface="Microsoft YaHei"/>
              </a:rPr>
              <a:t>图4 电池组脉冲电流波形</a:t>
            </a:r>
          </a:p>
          <a:p>
            <a:pPr>
              <a:spcBef>
                <a:spcPts val="0"/>
              </a:spcBef>
            </a:pPr>
            <a:r>
              <a:rPr sz="720">
                <a:solidFill>
                  <a:srgbClr val="4B5563"/>
                </a:solidFill>
                <a:latin typeface="Microsoft YaHei"/>
              </a:rPr>
              <a:t>说明同相双支路叠加后的电池总电流, 对应内阻发热来源与限流校核。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" y="6541200"/>
            <a:ext cx="11664000" cy="118800"/>
          </a:xfrm>
          <a:prstGeom prst="rect">
            <a:avLst/>
          </a:prstGeom>
          <a:noFill/>
          <a:ln>
            <a:noFill/>
          </a:ln>
        </p:spPr>
        <p:txBody>
          <a:bodyPr wrap="none" lIns="28800" rIns="28800" tIns="28800" bIns="28800" anchor="ctr">
            <a:spAutoFit/>
          </a:bodyPr>
          <a:lstStyle/>
          <a:p>
            <a:pPr algn="r"/>
            <a:r>
              <a:rPr sz="720" b="0">
                <a:solidFill>
                  <a:srgbClr val="6B7280"/>
                </a:solidFill>
                <a:latin typeface="Microsoft YaHei"/>
              </a:rPr>
              <a:t>注: 当前为零维平均热模型结果, 电池热边界、电机参数和高频析锂限流参数需后续台架/整车试验校准。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
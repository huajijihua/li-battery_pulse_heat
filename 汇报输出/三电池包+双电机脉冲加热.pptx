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80" r:id="rId3"/>
    <p:sldId id="381" r:id="rId4"/>
    <p:sldId id="382" r:id="rId5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EC72"/>
    <a:srgbClr val="EBD3A3"/>
    <a:srgbClr val="4964E4"/>
    <a:srgbClr val="00B050"/>
    <a:srgbClr val="152A8C"/>
    <a:srgbClr val="F1F1F1"/>
    <a:srgbClr val="F2F2F2"/>
    <a:srgbClr val="FF374A"/>
    <a:srgbClr val="84EB7A"/>
    <a:srgbClr val="B100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21" autoAdjust="0"/>
    <p:restoredTop sz="82896" autoAdjust="0"/>
  </p:normalViewPr>
  <p:slideViewPr>
    <p:cSldViewPr snapToObjects="1">
      <p:cViewPr varScale="1">
        <p:scale>
          <a:sx n="96" d="100"/>
          <a:sy n="96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414"/>
        <p:guide pos="218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emf"/><Relationship Id="rId3" Type="http://schemas.openxmlformats.org/officeDocument/2006/relationships/image" Target="../media/image4.emf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7.emf"/><Relationship Id="rId4" Type="http://schemas.openxmlformats.org/officeDocument/2006/relationships/tags" Target="../tags/tag6.xml"/><Relationship Id="rId3" Type="http://schemas.openxmlformats.org/officeDocument/2006/relationships/image" Target="../media/image6.emf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占位符 8"/>
          <p:cNvSpPr/>
          <p:nvPr>
            <p:ph type="body" sz="quarter" idx="12"/>
          </p:nvPr>
        </p:nvSpPr>
        <p:spPr/>
        <p:txBody>
          <a:bodyPr/>
          <a:p>
            <a:r>
              <a:rPr lang="zh-CN" altLang="en-US">
                <a:sym typeface="+mn-ea"/>
              </a:rPr>
              <a:t>脉冲加热方案</a:t>
            </a:r>
            <a:endParaRPr lang="en-US" altLang="zh-CN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9425" y="836930"/>
            <a:ext cx="11246485" cy="44767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342900" indent="-342900" algn="l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基础架构：三个电池包接入直流母线，两套电机</a:t>
            </a:r>
            <a:r>
              <a:rPr lang="en-US" altLang="zh-CN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-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控制器并联接入母线，电机中性点引出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参与脉冲加热回路。</a:t>
            </a:r>
            <a:endParaRPr lang="zh-CN" altLang="en-US" sz="1600" dirty="0" err="1" smtClean="0">
              <a:solidFill>
                <a:srgbClr val="003B90"/>
              </a:solidFill>
              <a:latin typeface="+mj-lt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551180" y="3500755"/>
          <a:ext cx="4156075" cy="31743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56075"/>
              </a:tblGrid>
              <a:tr h="4622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152A8C"/>
                          </a:solidFill>
                        </a:rPr>
                        <a:t>方案选择列表</a:t>
                      </a:r>
                      <a:endParaRPr lang="zh-CN" altLang="en-US" sz="1200" b="1">
                        <a:solidFill>
                          <a:srgbClr val="152A8C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(</a:t>
                      </a:r>
                      <a:r>
                        <a:rPr lang="zh-CN" altLang="en-US" sz="12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方案</a:t>
                      </a:r>
                      <a:r>
                        <a:rPr lang="en-US" altLang="zh-CN" sz="12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1,2,3</a:t>
                      </a:r>
                      <a:r>
                        <a:rPr lang="zh-CN" altLang="en-US" sz="12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可选双电机</a:t>
                      </a:r>
                      <a:r>
                        <a:rPr lang="zh-CN" altLang="en-US" sz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sym typeface="+mn-ea"/>
                        </a:rPr>
                        <a:t>同频同相</a:t>
                      </a:r>
                      <a:r>
                        <a:rPr lang="zh-CN" altLang="en-US" sz="12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参与；</a:t>
                      </a:r>
                      <a:r>
                        <a:rPr lang="en-US" altLang="zh-CN" sz="12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4,5,6</a:t>
                      </a:r>
                      <a:r>
                        <a:rPr lang="zh-CN" altLang="en-US" sz="12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对照工况</a:t>
                      </a:r>
                      <a:r>
                        <a:rPr lang="en-US" altLang="zh-CN" sz="12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)</a:t>
                      </a:r>
                      <a:endParaRPr lang="en-US" altLang="zh-CN" sz="1200" b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0068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1.</a:t>
                      </a:r>
                      <a:r>
                        <a:rPr lang="zh-CN" altLang="en-US" sz="1000"/>
                        <a:t>电机与电池</a:t>
                      </a:r>
                      <a:r>
                        <a:rPr lang="en-US" altLang="zh-CN" sz="1000"/>
                        <a:t>1</a:t>
                      </a:r>
                      <a:r>
                        <a:rPr lang="zh-CN" altLang="en-US" sz="1000"/>
                        <a:t>、</a:t>
                      </a:r>
                      <a:r>
                        <a:rPr lang="en-US" altLang="zh-CN" sz="1000"/>
                        <a:t>2</a:t>
                      </a:r>
                      <a:r>
                        <a:rPr lang="zh-CN" altLang="en-US" sz="1000"/>
                        <a:t>、</a:t>
                      </a:r>
                      <a:r>
                        <a:rPr lang="en-US" altLang="zh-CN" sz="1000"/>
                        <a:t>3</a:t>
                      </a:r>
                      <a:r>
                        <a:rPr lang="zh-CN" altLang="en-US" sz="1000"/>
                        <a:t>同时脉冲加热</a:t>
                      </a:r>
                      <a:endParaRPr lang="zh-CN" altLang="en-US" sz="100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例：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放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/2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放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/3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放、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充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/2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充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/3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充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……</a:t>
                      </a:r>
                      <a:endParaRPr lang="en-US" altLang="zh-CN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55499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2.</a:t>
                      </a:r>
                      <a:r>
                        <a:rPr lang="zh-CN" altLang="en-US" sz="1000">
                          <a:sym typeface="+mn-ea"/>
                        </a:rPr>
                        <a:t>电机与电池</a:t>
                      </a:r>
                      <a:r>
                        <a:rPr lang="en-US" altLang="zh-CN" sz="1000">
                          <a:sym typeface="+mn-ea"/>
                        </a:rPr>
                        <a:t>1</a:t>
                      </a:r>
                      <a:r>
                        <a:rPr lang="zh-CN" altLang="en-US" sz="1000">
                          <a:sym typeface="+mn-ea"/>
                        </a:rPr>
                        <a:t>、</a:t>
                      </a:r>
                      <a:r>
                        <a:rPr lang="en-US" altLang="zh-CN" sz="1000"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ym typeface="+mn-ea"/>
                        </a:rPr>
                        <a:t>、</a:t>
                      </a:r>
                      <a:r>
                        <a:rPr lang="en-US" altLang="zh-CN" sz="1000">
                          <a:sym typeface="+mn-ea"/>
                        </a:rPr>
                        <a:t>3</a:t>
                      </a:r>
                      <a:r>
                        <a:rPr lang="zh-CN" altLang="en-US" sz="1000">
                          <a:sym typeface="+mn-ea"/>
                        </a:rPr>
                        <a:t>依次脉冲加热，每次由同一电池进行完整充放电，循环进行，需增加开关</a:t>
                      </a:r>
                      <a:endParaRPr lang="zh-CN" altLang="en-US" sz="100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例：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放，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充，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放，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充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……</a:t>
                      </a:r>
                      <a:endParaRPr lang="en-US" altLang="zh-CN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55435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3.</a:t>
                      </a:r>
                      <a:r>
                        <a:rPr lang="zh-CN" altLang="en-US" sz="1000">
                          <a:sym typeface="+mn-ea"/>
                        </a:rPr>
                        <a:t>电机与电池</a:t>
                      </a:r>
                      <a:r>
                        <a:rPr lang="en-US" altLang="zh-CN" sz="1000">
                          <a:sym typeface="+mn-ea"/>
                        </a:rPr>
                        <a:t>1</a:t>
                      </a:r>
                      <a:r>
                        <a:rPr lang="zh-CN" altLang="en-US" sz="1000">
                          <a:sym typeface="+mn-ea"/>
                        </a:rPr>
                        <a:t>、</a:t>
                      </a:r>
                      <a:r>
                        <a:rPr lang="en-US" altLang="zh-CN" sz="1000"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ym typeface="+mn-ea"/>
                        </a:rPr>
                        <a:t>、</a:t>
                      </a:r>
                      <a:r>
                        <a:rPr lang="en-US" altLang="zh-CN" sz="1000">
                          <a:sym typeface="+mn-ea"/>
                        </a:rPr>
                        <a:t>3</a:t>
                      </a:r>
                      <a:r>
                        <a:rPr lang="zh-CN" altLang="en-US" sz="1000">
                          <a:sym typeface="+mn-ea"/>
                        </a:rPr>
                        <a:t>依次脉冲加热，每次同一电池仅进行充电或者放电，交替进行，需增加开关</a:t>
                      </a:r>
                      <a:endParaRPr lang="zh-CN" altLang="en-US" sz="100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例：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1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放，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充，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3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放，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1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充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……</a:t>
                      </a:r>
                      <a:endParaRPr lang="en-US" altLang="zh-CN" sz="1000">
                        <a:solidFill>
                          <a:schemeClr val="bg2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0068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4.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sym typeface="+mn-ea"/>
                        </a:rPr>
                        <a:t>单相绕组脉冲工况</a:t>
                      </a:r>
                      <a:endParaRPr lang="zh-CN" alt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例：储能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Q4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通，续流</a:t>
                      </a:r>
                      <a:r>
                        <a:rPr lang="en-US" altLang="zh-CN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Q1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通</a:t>
                      </a:r>
                      <a:endParaRPr lang="zh-CN" altLang="en-US" sz="1000">
                        <a:solidFill>
                          <a:schemeClr val="bg2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0068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5.</a:t>
                      </a:r>
                      <a:r>
                        <a:rPr lang="zh-CN" altLang="en-US" sz="1000">
                          <a:sym typeface="+mn-ea"/>
                        </a:rPr>
                        <a:t>风险工况</a:t>
                      </a:r>
                      <a:r>
                        <a:rPr lang="en-US" altLang="zh-CN" sz="1000">
                          <a:sym typeface="+mn-ea"/>
                        </a:rPr>
                        <a:t>-</a:t>
                      </a:r>
                      <a:r>
                        <a:rPr lang="zh-CN" altLang="en-US" sz="1000">
                          <a:sym typeface="+mn-ea"/>
                        </a:rPr>
                        <a:t>双电机同频但错相</a:t>
                      </a:r>
                      <a:endParaRPr lang="zh-CN" altLang="en-US" sz="100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例：电机1储能时，电机2可能在续流，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电池脉冲电流变小</a:t>
                      </a:r>
                      <a:endParaRPr lang="zh-CN" altLang="en-US" sz="1000">
                        <a:solidFill>
                          <a:schemeClr val="bg2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0068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6.</a:t>
                      </a:r>
                      <a:r>
                        <a:rPr lang="zh-CN" altLang="en-US" sz="1000">
                          <a:sym typeface="+mn-ea"/>
                        </a:rPr>
                        <a:t>风险工况</a:t>
                      </a:r>
                      <a:r>
                        <a:rPr lang="en-US" altLang="zh-CN" sz="1000">
                          <a:sym typeface="+mn-ea"/>
                        </a:rPr>
                        <a:t>-</a:t>
                      </a:r>
                      <a:r>
                        <a:rPr lang="zh-CN" altLang="en-US" sz="1000">
                          <a:sym typeface="+mn-ea"/>
                        </a:rPr>
                        <a:t>双电机频率不同</a:t>
                      </a:r>
                      <a:endParaRPr lang="zh-CN" altLang="en-US" sz="100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例：</a:t>
                      </a:r>
                      <a:r>
                        <a:rPr lang="zh-CN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  <a:sym typeface="+mn-ea"/>
                        </a:rPr>
                        <a:t>储能/续流状态会不断错开，电流峰值更难预测</a:t>
                      </a:r>
                      <a:endParaRPr lang="zh-CN" altLang="en-US" sz="1000">
                        <a:solidFill>
                          <a:schemeClr val="bg2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8420735" y="1334770"/>
          <a:ext cx="313309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33090"/>
              </a:tblGrid>
              <a:tr h="254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rgbClr val="152A8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组件介绍</a:t>
                      </a:r>
                      <a:endParaRPr lang="zh-CN" altLang="en-US" sz="1200" b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7432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BT1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BT2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BT3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：电池包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7432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S3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：电池支路接入开关；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7432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S4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：电机接入开关；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7432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S6~S9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：中性点接入开关；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5720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Q1~Q6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桥臂开关；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Q7~Q12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桥臂开关；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5720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U1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W1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三相定子线圈；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U2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W2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三相定子线圈；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262890" y="1336675"/>
            <a:ext cx="8039735" cy="2099310"/>
            <a:chOff x="414" y="2105"/>
            <a:chExt cx="12661" cy="3306"/>
          </a:xfrm>
        </p:grpSpPr>
        <p:pic>
          <p:nvPicPr>
            <p:cNvPr id="13" name="pic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27" y="2107"/>
              <a:ext cx="11701" cy="3260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1014" y="4937"/>
              <a:ext cx="11701" cy="47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p>
              <a:pPr algn="ctr">
                <a:spcBef>
                  <a:spcPts val="600"/>
                </a:spcBef>
              </a:pPr>
              <a:r>
                <a:rPr lang="zh-CN" altLang="en-US" sz="1400" b="1" dirty="0" err="1" smtClean="0">
                  <a:solidFill>
                    <a:srgbClr val="003B90"/>
                  </a:solidFill>
                  <a:latin typeface="+mj-lt"/>
                </a:rPr>
                <a:t>储能状态电流流向示意图</a:t>
              </a:r>
              <a:endParaRPr lang="zh-CN" altLang="en-US" sz="1400" b="1" dirty="0" err="1" smtClean="0">
                <a:solidFill>
                  <a:srgbClr val="003B90"/>
                </a:solidFill>
                <a:latin typeface="+mj-lt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76" y="2105"/>
              <a:ext cx="895" cy="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/>
                <a:t>电机</a:t>
              </a:r>
              <a:r>
                <a:rPr lang="en-US" altLang="zh-CN" sz="1000" b="1"/>
                <a:t>A</a:t>
              </a:r>
              <a:endParaRPr lang="en-US" altLang="zh-CN" sz="10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8158" y="2105"/>
              <a:ext cx="895" cy="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/>
                <a:t>电机</a:t>
              </a:r>
              <a:r>
                <a:rPr lang="en-US" altLang="zh-CN" sz="1000" b="1"/>
                <a:t>B</a:t>
              </a:r>
              <a:endParaRPr lang="en-US" altLang="zh-CN" sz="1000" b="1"/>
            </a:p>
          </p:txBody>
        </p:sp>
        <p:sp>
          <p:nvSpPr>
            <p:cNvPr id="8" name="矩形 7"/>
            <p:cNvSpPr/>
            <p:nvPr/>
          </p:nvSpPr>
          <p:spPr>
            <a:xfrm>
              <a:off x="787" y="2105"/>
              <a:ext cx="1514" cy="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/>
                <a:t>电池</a:t>
              </a:r>
              <a:r>
                <a:rPr lang="en-US" altLang="zh-CN" sz="1000" b="1"/>
                <a:t>1</a:t>
              </a:r>
              <a:r>
                <a:rPr lang="zh-CN" altLang="en-US" sz="1000" b="1"/>
                <a:t>、</a:t>
              </a:r>
              <a:r>
                <a:rPr lang="en-US" altLang="zh-CN" sz="1000" b="1"/>
                <a:t>2</a:t>
              </a:r>
              <a:r>
                <a:rPr lang="zh-CN" altLang="en-US" sz="1000" b="1"/>
                <a:t>、</a:t>
              </a:r>
              <a:r>
                <a:rPr lang="en-US" altLang="zh-CN" sz="1000" b="1"/>
                <a:t>3</a:t>
              </a:r>
              <a:endParaRPr lang="en-US" altLang="zh-CN" sz="1000" b="1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93" y="4937"/>
              <a:ext cx="2092" cy="41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p>
              <a:pPr algn="l">
                <a:spcBef>
                  <a:spcPts val="600"/>
                </a:spcBef>
              </a:pPr>
              <a:r>
                <a:rPr lang="zh-CN" altLang="en-US" sz="1000" dirty="0" err="1" smtClean="0">
                  <a:solidFill>
                    <a:srgbClr val="00B050"/>
                  </a:solidFill>
                  <a:latin typeface="+mj-lt"/>
                </a:rPr>
                <a:t>绿色表示对应桥臂</a:t>
              </a:r>
              <a:r>
                <a:rPr lang="en-US" altLang="zh-CN" sz="1000" dirty="0" err="1" smtClean="0">
                  <a:solidFill>
                    <a:srgbClr val="00B050"/>
                  </a:solidFill>
                  <a:latin typeface="+mj-lt"/>
                </a:rPr>
                <a:t>/</a:t>
              </a:r>
              <a:r>
                <a:rPr lang="zh-CN" altLang="en-US" sz="1000" dirty="0" err="1" smtClean="0">
                  <a:solidFill>
                    <a:srgbClr val="00B050"/>
                  </a:solidFill>
                  <a:latin typeface="+mj-lt"/>
                </a:rPr>
                <a:t>中性点开关接通</a:t>
              </a:r>
              <a:endParaRPr lang="zh-CN" altLang="en-US" sz="1000" dirty="0" err="1" smtClean="0">
                <a:solidFill>
                  <a:srgbClr val="00B050"/>
                </a:solidFill>
                <a:latin typeface="+mj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14" y="4833"/>
              <a:ext cx="1888" cy="57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p>
              <a:pPr algn="ctr">
                <a:spcBef>
                  <a:spcPts val="600"/>
                </a:spcBef>
              </a:pPr>
              <a:r>
                <a:rPr lang="zh-CN" altLang="en-US" sz="1000" dirty="0" err="1" smtClean="0">
                  <a:solidFill>
                    <a:srgbClr val="C00000"/>
                  </a:solidFill>
                  <a:latin typeface="+mj-lt"/>
                </a:rPr>
                <a:t>公共正母线</a:t>
              </a:r>
              <a:r>
                <a:rPr lang="en-US" altLang="zh-CN" sz="1000" dirty="0" err="1" smtClean="0">
                  <a:solidFill>
                    <a:srgbClr val="C00000"/>
                  </a:solidFill>
                  <a:latin typeface="+mj-lt"/>
                </a:rPr>
                <a:t>(HV+)</a:t>
              </a:r>
              <a:endParaRPr lang="en-US" altLang="zh-CN" sz="1000" dirty="0" err="1" smtClean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1187" y="2338"/>
              <a:ext cx="1888" cy="57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p>
              <a:pPr algn="ctr">
                <a:spcBef>
                  <a:spcPts val="600"/>
                </a:spcBef>
              </a:pPr>
              <a:r>
                <a:rPr lang="zh-CN" altLang="en-US" sz="1000" dirty="0" err="1" smtClean="0">
                  <a:solidFill>
                    <a:srgbClr val="C00000"/>
                  </a:solidFill>
                  <a:latin typeface="+mj-lt"/>
                </a:rPr>
                <a:t>公共</a:t>
              </a:r>
              <a:r>
                <a:rPr lang="zh-CN" altLang="en-US" sz="1000" dirty="0" err="1" smtClean="0">
                  <a:solidFill>
                    <a:srgbClr val="C00000"/>
                  </a:solidFill>
                  <a:latin typeface="+mj-lt"/>
                </a:rPr>
                <a:t>负母线</a:t>
              </a:r>
              <a:r>
                <a:rPr lang="en-US" altLang="zh-CN" sz="1000" dirty="0" err="1" smtClean="0">
                  <a:solidFill>
                    <a:srgbClr val="C00000"/>
                  </a:solidFill>
                  <a:latin typeface="+mj-lt"/>
                </a:rPr>
                <a:t>(HV-)</a:t>
              </a:r>
              <a:endParaRPr lang="en-US" altLang="zh-CN" sz="1000" dirty="0" err="1" smtClean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445" y="2915"/>
              <a:ext cx="250" cy="352"/>
            </a:xfrm>
            <a:prstGeom prst="rect">
              <a:avLst/>
            </a:prstGeom>
            <a:ln w="9525">
              <a:solidFill>
                <a:srgbClr val="92D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2006" y="2915"/>
              <a:ext cx="250" cy="352"/>
            </a:xfrm>
            <a:prstGeom prst="rect">
              <a:avLst/>
            </a:prstGeom>
            <a:ln w="9525">
              <a:solidFill>
                <a:srgbClr val="92D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7090" y="4149090"/>
            <a:ext cx="7637145" cy="2101215"/>
            <a:chOff x="7334" y="6534"/>
            <a:chExt cx="12027" cy="3309"/>
          </a:xfrm>
        </p:grpSpPr>
        <p:sp>
          <p:nvSpPr>
            <p:cNvPr id="21" name="文本框 20"/>
            <p:cNvSpPr txBox="1"/>
            <p:nvPr/>
          </p:nvSpPr>
          <p:spPr>
            <a:xfrm>
              <a:off x="7334" y="9369"/>
              <a:ext cx="11866" cy="47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p>
              <a:pPr algn="ctr">
                <a:spcBef>
                  <a:spcPts val="600"/>
                </a:spcBef>
              </a:pPr>
              <a:r>
                <a:rPr lang="zh-CN" altLang="en-US" sz="1400" b="1" dirty="0" err="1" smtClean="0">
                  <a:solidFill>
                    <a:srgbClr val="003B90"/>
                  </a:solidFill>
                  <a:latin typeface="+mj-lt"/>
                </a:rPr>
                <a:t>续流状态电流流向示意图</a:t>
              </a:r>
              <a:endParaRPr lang="zh-CN" altLang="en-US" sz="1400" b="1" dirty="0" err="1" smtClean="0">
                <a:solidFill>
                  <a:srgbClr val="003B90"/>
                </a:solidFill>
                <a:latin typeface="+mj-lt"/>
              </a:endParaRPr>
            </a:p>
          </p:txBody>
        </p:sp>
        <p:pic>
          <p:nvPicPr>
            <p:cNvPr id="4" name="pic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445" y="6534"/>
              <a:ext cx="11916" cy="3260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13848" y="8498"/>
              <a:ext cx="250" cy="352"/>
            </a:xfrm>
            <a:prstGeom prst="rect">
              <a:avLst/>
            </a:prstGeom>
            <a:ln w="9525">
              <a:solidFill>
                <a:srgbClr val="92D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8409" y="8498"/>
              <a:ext cx="250" cy="352"/>
            </a:xfrm>
            <a:prstGeom prst="rect">
              <a:avLst/>
            </a:prstGeom>
            <a:ln w="9525">
              <a:solidFill>
                <a:srgbClr val="92D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/>
              <a:t>电路模型参数</a:t>
            </a:r>
            <a:r>
              <a:rPr lang="zh-CN" altLang="en-US"/>
              <a:t>需求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07035" y="1916430"/>
          <a:ext cx="11303000" cy="43256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69290"/>
                <a:gridCol w="1772285"/>
                <a:gridCol w="1772285"/>
                <a:gridCol w="1783080"/>
                <a:gridCol w="1761490"/>
                <a:gridCol w="1772285"/>
                <a:gridCol w="1772285"/>
              </a:tblGrid>
              <a:tr h="6337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系统拓扑与开关</a:t>
                      </a:r>
                      <a:endParaRPr lang="zh-CN" altLang="en-US" sz="1400" b="0" dirty="0" err="1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电池包</a:t>
                      </a:r>
                      <a:endParaRPr lang="zh-CN" altLang="en-US" sz="1400" b="0" dirty="0" err="1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直流母线</a:t>
                      </a:r>
                      <a:r>
                        <a:rPr lang="en-US" altLang="zh-CN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高压连接</a:t>
                      </a:r>
                      <a:endParaRPr lang="zh-CN" altLang="en-US" sz="1400" b="0" dirty="0" err="1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电机与中性点</a:t>
                      </a:r>
                      <a:endParaRPr lang="zh-CN" altLang="en-US" sz="1400" b="0" dirty="0" err="1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电机控制器/</a:t>
                      </a:r>
                      <a:r>
                        <a:rPr lang="en-US" altLang="zh-CN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IGBT</a:t>
                      </a:r>
                      <a:endParaRPr lang="en-US" altLang="zh-CN" sz="1400" b="0" dirty="0" err="1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仿真工况</a:t>
                      </a:r>
                      <a:endParaRPr lang="zh-CN" altLang="en-US" sz="1400" b="0" dirty="0" err="1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30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必须参数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三个电池包接入方式；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S1~S9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是否可增加及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其电气位置；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储能/续流阶段开关状态；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双电机是否同频同相。</a:t>
                      </a:r>
                      <a:endParaRPr lang="zh-CN" altLang="en-US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电芯规格书；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每个电池包额定电压、容量、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SOC、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初始温度、内阻、低温充放电电流限制。</a:t>
                      </a:r>
                      <a:endParaRPr lang="zh-CN" altLang="en-US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公共正负母线连接关系；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母线电容；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母线电压范围。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两台电机绕组电阻；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电机电感或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Ld；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峰值/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RMS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电流限制；中性点是否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可真实引出。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IGBT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耐压；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额定/峰值电流；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开关频率范围；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PWM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占空比范围；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死区时间。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方案1~3的电池充放电顺序；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储能/续流时序；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双电机同步要求；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初始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SOC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和温度。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</a:tr>
              <a:tr h="1230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重要参数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BD3A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开关导通电阻；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开关动作延迟；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死区时间；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中性点开关互锁逻辑。</a:t>
                      </a:r>
                      <a:endParaRPr lang="zh-CN" altLang="en-US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BD3A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OCV-SOC-T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曲线；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低温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HPPC/EIS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测试数据；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低温脉冲充放电测试数据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；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热容和换热参数。</a:t>
                      </a:r>
                      <a:endParaRPr lang="zh-CN" altLang="en-US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BD3A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母线电容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ESR/ESL；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高压线束电阻；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接插件电阻。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BD3A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电感随电流变化；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绕组电阻随温度变化；中性点支路阻抗；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零序电感。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BD3A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导通压降；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二极管压降；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开关损耗；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控制器限流策略。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BD3A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电流目标；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频率扫描范围；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占空比扫描范围；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过流/过压/过温保护阈值。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BD3A3">
                        <a:alpha val="50000"/>
                      </a:srgbClr>
                    </a:solidFill>
                  </a:tcPr>
                </a:tc>
              </a:tr>
              <a:tr h="1230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补充参数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EEC7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开关寄生电感；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触点温升；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开关故障粘连模型。</a:t>
                      </a:r>
                      <a:endParaRPr lang="zh-CN" altLang="en-US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EEC7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单体一致性；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支路线束压降；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熵热系数；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老化后参数。</a:t>
                      </a:r>
                      <a:endParaRPr lang="zh-CN" altLang="en-US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EEC7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母线寄生参数；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高频振荡/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EMC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相关参数。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EEC7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详细磁饱和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Map；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转矩扰动；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转子位置影响；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绕组热网络。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EEC7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结温模型；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驱动延迟；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损耗随温度/电流/电压变化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Map。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EEC7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闭环</a:t>
                      </a:r>
                      <a:r>
                        <a:rPr lang="en-US" altLang="zh-CN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PI</a:t>
                      </a: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参数；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自适应控制策略；</a:t>
                      </a:r>
                      <a:endParaRPr lang="zh-CN" altLang="en-US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 err="1" smtClean="0">
                          <a:solidFill>
                            <a:srgbClr val="003B9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故障注入工况。</a:t>
                      </a:r>
                      <a:endParaRPr lang="en-US" altLang="zh-CN" sz="120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0" dirty="0" err="1" smtClean="0">
                        <a:solidFill>
                          <a:srgbClr val="003B9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EEC72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79425" y="836930"/>
            <a:ext cx="11246485" cy="44767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342900" indent="-342900" algn="l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</a:rPr>
              <a:t>模型定位：电路级系统模型用于支撑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方案筛选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</a:rPr>
              <a:t>，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优先保证电流路径、支路电流、母线电压和能量流向正确，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</a:rPr>
              <a:t>能表达三电池包支路选择、双控制器桥臂动作、双电机中性点参与、储能/续流切换，以及双电机同步/错相/频率不同带来的电流差异。</a:t>
            </a:r>
            <a:endParaRPr lang="zh-CN" altLang="en-US" sz="1600" b="1" dirty="0" err="1" smtClean="0">
              <a:solidFill>
                <a:srgbClr val="003B9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7" name="文本占位符 6"/>
          <p:cNvSpPr/>
          <p:nvPr>
            <p:ph type="body" sz="quarter" idx="12"/>
          </p:nvPr>
        </p:nvSpPr>
        <p:spPr/>
        <p:txBody>
          <a:bodyPr/>
          <a:p>
            <a:r>
              <a:rPr lang="zh-CN" altLang="en-US"/>
              <a:t>无中性点引出</a:t>
            </a:r>
            <a:r>
              <a:rPr lang="zh-CN" altLang="en-US"/>
              <a:t>架构</a:t>
            </a:r>
            <a:endParaRPr lang="zh-CN" altLang="en-US"/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56540" y="1484600"/>
            <a:ext cx="6684645" cy="5121940"/>
            <a:chOff x="404" y="2338"/>
            <a:chExt cx="10527" cy="8066"/>
          </a:xfrm>
        </p:grpSpPr>
        <p:pic>
          <p:nvPicPr>
            <p:cNvPr id="18" name="pic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96" y="2338"/>
              <a:ext cx="9354" cy="3118"/>
            </a:xfrm>
            <a:prstGeom prst="rect">
              <a:avLst/>
            </a:prstGeom>
          </p:spPr>
        </p:pic>
        <p:pic>
          <p:nvPicPr>
            <p:cNvPr id="19" name="pic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97" y="6527"/>
              <a:ext cx="9354" cy="3118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472" y="5696"/>
              <a:ext cx="10172" cy="47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p>
              <a:pPr algn="ctr">
                <a:spcBef>
                  <a:spcPts val="600"/>
                </a:spcBef>
              </a:pPr>
              <a:r>
                <a:rPr lang="zh-CN" altLang="en-US" sz="1400" b="1" dirty="0" err="1" smtClean="0">
                  <a:solidFill>
                    <a:srgbClr val="003B90"/>
                  </a:solidFill>
                  <a:latin typeface="+mj-lt"/>
                </a:rPr>
                <a:t>图</a:t>
              </a:r>
              <a:r>
                <a:rPr lang="en-US" altLang="zh-CN" sz="1400" b="1" dirty="0" err="1" smtClean="0">
                  <a:solidFill>
                    <a:srgbClr val="003B90"/>
                  </a:solidFill>
                  <a:latin typeface="+mj-lt"/>
                </a:rPr>
                <a:t>1</a:t>
              </a:r>
              <a:r>
                <a:rPr lang="zh-CN" altLang="en-US" sz="1400" b="1" dirty="0" err="1" smtClean="0">
                  <a:solidFill>
                    <a:srgbClr val="003B90"/>
                  </a:solidFill>
                  <a:latin typeface="+mj-lt"/>
                </a:rPr>
                <a:t>：储能状态电流流向示意图</a:t>
              </a:r>
              <a:endParaRPr lang="zh-CN" altLang="en-US" sz="1400" b="1" dirty="0" err="1" smtClean="0">
                <a:solidFill>
                  <a:srgbClr val="003B90"/>
                </a:solidFill>
                <a:latin typeface="+mj-lt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404" y="9930"/>
              <a:ext cx="10527" cy="47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p>
              <a:pPr algn="ctr">
                <a:spcBef>
                  <a:spcPts val="600"/>
                </a:spcBef>
              </a:pPr>
              <a:r>
                <a:rPr lang="zh-CN" altLang="en-US" sz="1400" b="1" dirty="0" err="1" smtClean="0">
                  <a:solidFill>
                    <a:srgbClr val="003B90"/>
                  </a:solidFill>
                  <a:latin typeface="+mj-lt"/>
                </a:rPr>
                <a:t>图</a:t>
              </a:r>
              <a:r>
                <a:rPr lang="en-US" altLang="zh-CN" sz="1400" b="1" dirty="0" err="1" smtClean="0">
                  <a:solidFill>
                    <a:srgbClr val="003B90"/>
                  </a:solidFill>
                  <a:latin typeface="+mj-lt"/>
                </a:rPr>
                <a:t>2</a:t>
              </a:r>
              <a:r>
                <a:rPr lang="zh-CN" altLang="en-US" sz="1400" b="1" dirty="0" err="1" smtClean="0">
                  <a:solidFill>
                    <a:srgbClr val="003B90"/>
                  </a:solidFill>
                  <a:latin typeface="+mj-lt"/>
                </a:rPr>
                <a:t>：续流状态电流流向示意图</a:t>
              </a:r>
              <a:endParaRPr lang="zh-CN" altLang="en-US" sz="1400" b="1" dirty="0" err="1" smtClean="0">
                <a:solidFill>
                  <a:srgbClr val="003B90"/>
                </a:solidFill>
                <a:latin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9425" y="836930"/>
            <a:ext cx="11246485" cy="44767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342900" indent="-342900" algn="l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基础架构：三个电池包接入直流母线，两套电机</a:t>
            </a:r>
            <a:r>
              <a:rPr lang="en-US" altLang="zh-CN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-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电机控制器并联接入母线，参与脉冲加热回路。</a:t>
            </a:r>
            <a:endParaRPr lang="zh-CN" altLang="en-US" sz="1600" dirty="0" err="1" smtClean="0">
              <a:solidFill>
                <a:srgbClr val="003B90"/>
              </a:solidFill>
              <a:latin typeface="+mj-lt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8"/>
            </p:custDataLst>
          </p:nvPr>
        </p:nvGraphicFramePr>
        <p:xfrm>
          <a:off x="7823835" y="2852420"/>
          <a:ext cx="313309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33090"/>
              </a:tblGrid>
              <a:tr h="254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rgbClr val="152A8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组件介绍</a:t>
                      </a:r>
                      <a:endParaRPr lang="zh-CN" altLang="en-US" sz="1200" b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7432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BT1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BT2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BT3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：电池包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7432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S3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：电池支路接入开关；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7432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S4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：电机接入开关；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5720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Q1~Q6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桥臂开关；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Q7~Q12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桥臂开关；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5720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U1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W1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三相定子线圈；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U2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W2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：电机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三相定子线圈；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327*249"/>
  <p:tag name="TABLE_ENDDRAG_RECT" val="43*278*327*249"/>
</p:tagLst>
</file>

<file path=ppt/tags/tag2.xml><?xml version="1.0" encoding="utf-8"?>
<p:tagLst xmlns:p="http://schemas.openxmlformats.org/presentationml/2006/main">
  <p:tag name="TABLE_ENDDRAG_ORIGIN_RECT" val="246*178"/>
  <p:tag name="TABLE_ENDDRAG_RECT" val="627*101*246*178"/>
</p:tagLst>
</file>

<file path=ppt/tags/tag3.xml><?xml version="1.0" encoding="utf-8"?>
<p:tagLst xmlns:p="http://schemas.openxmlformats.org/presentationml/2006/main">
  <p:tag name="TABLE_ENDDRAG_ORIGIN_RECT" val="889*340"/>
  <p:tag name="TABLE_ENDDRAG_RECT" val="44*155*890*340"/>
</p:tagLst>
</file>

<file path=ppt/tags/tag4.xml><?xml version="1.0" encoding="utf-8"?>
<p:tagLst xmlns:p="http://schemas.openxmlformats.org/presentationml/2006/main">
  <p:tag name="KSO_WM_DIAGRAM_VIRTUALLY_FRAME" val="{&quot;height&quot;:408.9523622047244,&quot;left&quot;:20.2,&quot;top&quot;:111.2476377952756,&quot;width&quot;:568.1}"/>
</p:tagLst>
</file>

<file path=ppt/tags/tag5.xml><?xml version="1.0" encoding="utf-8"?>
<p:tagLst xmlns:p="http://schemas.openxmlformats.org/presentationml/2006/main">
  <p:tag name="KSO_WM_DIAGRAM_VIRTUALLY_FRAME" val="{&quot;height&quot;:408.9523622047244,&quot;left&quot;:20.2,&quot;top&quot;:111.2476377952756,&quot;width&quot;:568.1}"/>
</p:tagLst>
</file>

<file path=ppt/tags/tag6.xml><?xml version="1.0" encoding="utf-8"?>
<p:tagLst xmlns:p="http://schemas.openxmlformats.org/presentationml/2006/main">
  <p:tag name="KSO_WM_DIAGRAM_VIRTUALLY_FRAME" val="{&quot;height&quot;:408.9523622047244,&quot;left&quot;:20.2,&quot;top&quot;:111.2476377952756,&quot;width&quot;:568.1}"/>
</p:tagLst>
</file>

<file path=ppt/tags/tag7.xml><?xml version="1.0" encoding="utf-8"?>
<p:tagLst xmlns:p="http://schemas.openxmlformats.org/presentationml/2006/main">
  <p:tag name="KSO_WM_DIAGRAM_VIRTUALLY_FRAME" val="{&quot;height&quot;:408.9523622047244,&quot;left&quot;:20.2,&quot;top&quot;:111.2476377952756,&quot;width&quot;:568.1}"/>
</p:tagLst>
</file>

<file path=ppt/tags/tag8.xml><?xml version="1.0" encoding="utf-8"?>
<p:tagLst xmlns:p="http://schemas.openxmlformats.org/presentationml/2006/main">
  <p:tag name="KSO_WM_DIAGRAM_VIRTUALLY_FRAME" val="{&quot;height&quot;:408.9523622047244,&quot;left&quot;:20.2,&quot;top&quot;:111.2476377952756,&quot;width&quot;:568.1}"/>
</p:tagLst>
</file>

<file path=ppt/tags/tag9.xml><?xml version="1.0" encoding="utf-8"?>
<p:tagLst xmlns:p="http://schemas.openxmlformats.org/presentationml/2006/main">
  <p:tag name="TABLE_ENDDRAG_ORIGIN_RECT" val="246*178"/>
  <p:tag name="TABLE_ENDDRAG_RECT" val="627*101*246*178"/>
</p:tagLst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1483</Words>
  <Application>WPS 演示</Application>
  <PresentationFormat>宽屏</PresentationFormat>
  <Paragraphs>192</Paragraphs>
  <Slides>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1026</cp:revision>
  <cp:lastPrinted>2023-05-19T05:02:00Z</cp:lastPrinted>
  <dcterms:created xsi:type="dcterms:W3CDTF">2015-12-28T03:19:00Z</dcterms:created>
  <dcterms:modified xsi:type="dcterms:W3CDTF">2026-05-27T23:59:01Z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E8546BD8C4BB47E6B890E1D1EAC2F39A_13</vt:lpwstr>
  </property>
  <property fmtid="{D5CDD505-2E9C-101B-9397-08002B2CF9AE}" pid="3" name="KSOProductBuildVer">
    <vt:lpwstr>2052-12.1.0.26375</vt:lpwstr>
  </property>
</Properties>
</file>
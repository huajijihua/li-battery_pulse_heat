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84" r:id="rId3"/>
    <p:sldId id="385" r:id="rId4"/>
    <p:sldId id="380" r:id="rId5"/>
    <p:sldId id="382" r:id="rId6"/>
  </p:sldIdLst>
  <p:sldSz cx="12192000" cy="6858000"/>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吴俊樑" initials="吴"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EEC72"/>
    <a:srgbClr val="EBD3A3"/>
    <a:srgbClr val="4964E4"/>
    <a:srgbClr val="00B050"/>
    <a:srgbClr val="152A8C"/>
    <a:srgbClr val="F1F1F1"/>
    <a:srgbClr val="F2F2F2"/>
    <a:srgbClr val="FF374A"/>
    <a:srgbClr val="84EB7A"/>
    <a:srgbClr val="B100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1" autoAdjust="0"/>
    <p:restoredTop sz="82896" autoAdjust="0"/>
  </p:normalViewPr>
  <p:slideViewPr>
    <p:cSldViewPr snapToObjects="1">
      <p:cViewPr varScale="1">
        <p:scale>
          <a:sx n="96" d="100"/>
          <a:sy n="96" d="100"/>
        </p:scale>
        <p:origin x="936"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Objects="1" showGuides="1">
      <p:cViewPr varScale="1">
        <p:scale>
          <a:sx n="42" d="100"/>
          <a:sy n="42" d="100"/>
        </p:scale>
        <p:origin x="-1757" y="-96"/>
      </p:cViewPr>
      <p:guideLst>
        <p:guide orient="horz" pos="3454"/>
        <p:guide pos="218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47" cy="498328"/>
          </a:xfrm>
          <a:prstGeom prst="rect">
            <a:avLst/>
          </a:prstGeom>
        </p:spPr>
        <p:txBody>
          <a:bodyPr vert="horz" lIns="92108" tIns="46054" rIns="92108" bIns="46054"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26" y="0"/>
            <a:ext cx="2946246" cy="498328"/>
          </a:xfrm>
          <a:prstGeom prst="rect">
            <a:avLst/>
          </a:prstGeom>
        </p:spPr>
        <p:txBody>
          <a:bodyPr vert="horz" lIns="92108" tIns="46054" rIns="92108" bIns="46054" rtlCol="0"/>
          <a:lstStyle>
            <a:lvl1pPr algn="r" fontAlgn="auto">
              <a:spcBef>
                <a:spcPts val="0"/>
              </a:spcBef>
              <a:spcAft>
                <a:spcPts val="0"/>
              </a:spcAft>
              <a:defRPr sz="1200">
                <a:latin typeface="+mn-lt"/>
                <a:ea typeface="+mn-ea"/>
              </a:defRPr>
            </a:lvl1pPr>
          </a:lstStyle>
          <a:p>
            <a:pPr>
              <a:defRPr/>
            </a:pPr>
            <a:fld id="{F0259903-FC65-400A-9E76-C4C330AD3D6E}" type="datetimeFigureOut">
              <a:rPr lang="zh-CN" altLang="en-US"/>
            </a:fld>
            <a:endParaRPr lang="zh-CN" altLang="en-US"/>
          </a:p>
        </p:txBody>
      </p:sp>
      <p:sp>
        <p:nvSpPr>
          <p:cNvPr id="4" name="幻灯片图像占位符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2108" tIns="46054" rIns="92108" bIns="46054" rtlCol="0" anchor="ctr"/>
          <a:lstStyle/>
          <a:p>
            <a:pPr lvl="0"/>
            <a:endParaRPr lang="zh-CN" altLang="en-US" noProof="0"/>
          </a:p>
        </p:txBody>
      </p:sp>
      <p:sp>
        <p:nvSpPr>
          <p:cNvPr id="5" name="备注占位符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zh-CN" altLang="en-US" noProof="0"/>
              <a:t>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fontAlgn="auto">
              <a:spcBef>
                <a:spcPts val="0"/>
              </a:spcBef>
              <a:spcAft>
                <a:spcPts val="0"/>
              </a:spcAft>
              <a:defRPr sz="1200">
                <a:latin typeface="+mn-lt"/>
                <a:ea typeface="+mn-ea"/>
              </a:defRPr>
            </a:lvl1pPr>
          </a:lstStyle>
          <a:p>
            <a:pPr>
              <a:defRPr/>
            </a:pPr>
            <a:fld id="{A67DAE94-9449-4026-AC54-378A5A1A863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35" kern="1200">
        <a:solidFill>
          <a:schemeClr val="tx1"/>
        </a:solidFill>
        <a:latin typeface="+mn-lt"/>
        <a:ea typeface="+mn-ea"/>
        <a:cs typeface="+mn-cs"/>
      </a:defRPr>
    </a:lvl1pPr>
    <a:lvl2pPr marL="485775" algn="l" rtl="0" eaLnBrk="0" fontAlgn="base" hangingPunct="0">
      <a:spcBef>
        <a:spcPct val="30000"/>
      </a:spcBef>
      <a:spcAft>
        <a:spcPct val="0"/>
      </a:spcAft>
      <a:defRPr sz="1335" kern="1200">
        <a:solidFill>
          <a:schemeClr val="tx1"/>
        </a:solidFill>
        <a:latin typeface="+mn-lt"/>
        <a:ea typeface="+mn-ea"/>
        <a:cs typeface="+mn-cs"/>
      </a:defRPr>
    </a:lvl2pPr>
    <a:lvl3pPr marL="971550" algn="l" rtl="0" eaLnBrk="0" fontAlgn="base" hangingPunct="0">
      <a:spcBef>
        <a:spcPct val="30000"/>
      </a:spcBef>
      <a:spcAft>
        <a:spcPct val="0"/>
      </a:spcAft>
      <a:defRPr sz="1335" kern="1200">
        <a:solidFill>
          <a:schemeClr val="tx1"/>
        </a:solidFill>
        <a:latin typeface="+mn-lt"/>
        <a:ea typeface="+mn-ea"/>
        <a:cs typeface="+mn-cs"/>
      </a:defRPr>
    </a:lvl3pPr>
    <a:lvl4pPr marL="1457325" algn="l" rtl="0" eaLnBrk="0" fontAlgn="base" hangingPunct="0">
      <a:spcBef>
        <a:spcPct val="30000"/>
      </a:spcBef>
      <a:spcAft>
        <a:spcPct val="0"/>
      </a:spcAft>
      <a:defRPr sz="1335" kern="1200">
        <a:solidFill>
          <a:schemeClr val="tx1"/>
        </a:solidFill>
        <a:latin typeface="+mn-lt"/>
        <a:ea typeface="+mn-ea"/>
        <a:cs typeface="+mn-cs"/>
      </a:defRPr>
    </a:lvl4pPr>
    <a:lvl5pPr marL="1943100" algn="l" rtl="0" eaLnBrk="0" fontAlgn="base" hangingPunct="0">
      <a:spcBef>
        <a:spcPct val="30000"/>
      </a:spcBef>
      <a:spcAft>
        <a:spcPct val="0"/>
      </a:spcAft>
      <a:defRPr sz="1335" kern="1200">
        <a:solidFill>
          <a:schemeClr val="tx1"/>
        </a:solidFill>
        <a:latin typeface="+mn-lt"/>
        <a:ea typeface="+mn-ea"/>
        <a:cs typeface="+mn-cs"/>
      </a:defRPr>
    </a:lvl5pPr>
    <a:lvl6pPr marL="2429510" algn="l" defTabSz="971550" rtl="0" eaLnBrk="1" latinLnBrk="0" hangingPunct="1">
      <a:defRPr sz="1335" kern="1200">
        <a:solidFill>
          <a:schemeClr val="tx1"/>
        </a:solidFill>
        <a:latin typeface="+mn-lt"/>
        <a:ea typeface="+mn-ea"/>
        <a:cs typeface="+mn-cs"/>
      </a:defRPr>
    </a:lvl6pPr>
    <a:lvl7pPr marL="2915285" algn="l" defTabSz="971550" rtl="0" eaLnBrk="1" latinLnBrk="0" hangingPunct="1">
      <a:defRPr sz="1335" kern="1200">
        <a:solidFill>
          <a:schemeClr val="tx1"/>
        </a:solidFill>
        <a:latin typeface="+mn-lt"/>
        <a:ea typeface="+mn-ea"/>
        <a:cs typeface="+mn-cs"/>
      </a:defRPr>
    </a:lvl7pPr>
    <a:lvl8pPr marL="3401060" algn="l" defTabSz="971550" rtl="0" eaLnBrk="1" latinLnBrk="0" hangingPunct="1">
      <a:defRPr sz="1335" kern="1200">
        <a:solidFill>
          <a:schemeClr val="tx1"/>
        </a:solidFill>
        <a:latin typeface="+mn-lt"/>
        <a:ea typeface="+mn-ea"/>
        <a:cs typeface="+mn-cs"/>
      </a:defRPr>
    </a:lvl8pPr>
    <a:lvl9pPr marL="3886835" algn="l" defTabSz="971550" rtl="0" eaLnBrk="1" latinLnBrk="0" hangingPunct="1">
      <a:defRPr sz="133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23解放封面页">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0" y="2564904"/>
            <a:ext cx="12192000" cy="1775292"/>
          </a:xfrm>
          <a:prstGeom prst="rect">
            <a:avLst/>
          </a:prstGeom>
        </p:spPr>
        <p:txBody>
          <a:bodyPr anchor="ctr" anchorCtr="0"/>
          <a:lstStyle>
            <a:lvl1pPr algn="ctr">
              <a:lnSpc>
                <a:spcPct val="100000"/>
              </a:lnSpc>
              <a:defRPr sz="5400" b="1">
                <a:solidFill>
                  <a:srgbClr val="152A8C"/>
                </a:solidFill>
                <a:latin typeface="微软雅黑" panose="020B0503020204020204" pitchFamily="34" charset="-122"/>
                <a:ea typeface="微软雅黑" panose="020B0503020204020204" pitchFamily="34" charset="-122"/>
              </a:defRPr>
            </a:lvl1pPr>
          </a:lstStyle>
          <a:p>
            <a:r>
              <a:rPr lang="zh-CN" altLang="en-US" dirty="0"/>
              <a:t>标题</a:t>
            </a:r>
            <a:endParaRPr lang="en-US" dirty="0"/>
          </a:p>
        </p:txBody>
      </p:sp>
      <p:sp>
        <p:nvSpPr>
          <p:cNvPr id="9" name="Subtitle 2"/>
          <p:cNvSpPr>
            <a:spLocks noGrp="1"/>
          </p:cNvSpPr>
          <p:nvPr>
            <p:ph type="subTitle" idx="1" hasCustomPrompt="1"/>
          </p:nvPr>
        </p:nvSpPr>
        <p:spPr>
          <a:xfrm>
            <a:off x="1143000" y="4476097"/>
            <a:ext cx="9921552" cy="1655762"/>
          </a:xfrm>
          <a:prstGeom prst="rect">
            <a:avLst/>
          </a:prstGeom>
        </p:spPr>
        <p:txBody>
          <a:bodyPr anchor="ctr" anchorCtr="0"/>
          <a:lstStyle>
            <a:lvl1pPr marL="0" indent="0" algn="ctr">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a:t>
            </a:r>
            <a:endParaRPr lang="en-US" altLang="zh-CN" dirty="0"/>
          </a:p>
          <a:p>
            <a:endParaRPr lang="zh-CN" altLang="en-US" dirty="0"/>
          </a:p>
        </p:txBody>
      </p:sp>
      <p:grpSp>
        <p:nvGrpSpPr>
          <p:cNvPr id="2" name="组合 1"/>
          <p:cNvGrpSpPr/>
          <p:nvPr userDrawn="1"/>
        </p:nvGrpSpPr>
        <p:grpSpPr>
          <a:xfrm>
            <a:off x="0" y="6942142"/>
            <a:ext cx="12192000" cy="614361"/>
            <a:chOff x="0" y="6942142"/>
            <a:chExt cx="12192000" cy="614361"/>
          </a:xfrm>
        </p:grpSpPr>
        <p:sp>
          <p:nvSpPr>
            <p:cNvPr id="6" name="同侧圆角矩形 3"/>
            <p:cNvSpPr/>
            <p:nvPr userDrawn="1"/>
          </p:nvSpPr>
          <p:spPr>
            <a:xfrm rot="10800000">
              <a:off x="0" y="6942142"/>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7" name="矩形 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0" name="矩形 9"/>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11" name="矩形 10"/>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13" name="矩形 12"/>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封面页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765" y="-14605"/>
            <a:ext cx="12230735" cy="1291590"/>
          </a:xfrm>
          <a:prstGeom prst="rect">
            <a:avLst/>
          </a:prstGeom>
        </p:spPr>
      </p:pic>
      <p:pic>
        <p:nvPicPr>
          <p:cNvPr id="16" name="图形 39"/>
          <p:cNvPicPr>
            <a:picLocks noChangeAspect="1"/>
          </p:cNvPicPr>
          <p:nvPr userDrawn="1"/>
        </p:nvPicPr>
        <p:blipFill>
          <a:blip r:embed="rId3"/>
          <a:stretch>
            <a:fillRect/>
          </a:stretch>
        </p:blipFill>
        <p:spPr>
          <a:xfrm>
            <a:off x="982897" y="327314"/>
            <a:ext cx="2881252" cy="6372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23解放目录">
    <p:bg>
      <p:bgPr>
        <a:solidFill>
          <a:schemeClr val="bg1"/>
        </a:solidFill>
        <a:effectLst/>
      </p:bgPr>
    </p:bg>
    <p:spTree>
      <p:nvGrpSpPr>
        <p:cNvPr id="1" name=""/>
        <p:cNvGrpSpPr/>
        <p:nvPr/>
      </p:nvGrpSpPr>
      <p:grpSpPr>
        <a:xfrm>
          <a:off x="0" y="0"/>
          <a:ext cx="0" cy="0"/>
          <a:chOff x="0" y="0"/>
          <a:chExt cx="0" cy="0"/>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grpSp>
        <p:nvGrpSpPr>
          <p:cNvPr id="18" name="组合 17"/>
          <p:cNvGrpSpPr/>
          <p:nvPr userDrawn="1"/>
        </p:nvGrpSpPr>
        <p:grpSpPr>
          <a:xfrm>
            <a:off x="0" y="6942143"/>
            <a:ext cx="12192000" cy="614361"/>
            <a:chOff x="0" y="6942143"/>
            <a:chExt cx="12192000" cy="614361"/>
          </a:xfrm>
        </p:grpSpPr>
        <p:sp>
          <p:nvSpPr>
            <p:cNvPr id="19"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20" name="矩形 19"/>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目录页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22" name="矩形 21"/>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5" name="矩形 2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2" name="图形 25"/>
          <p:cNvPicPr>
            <a:picLocks noChangeAspect="1"/>
          </p:cNvPicPr>
          <p:nvPr userDrawn="1"/>
        </p:nvPicPr>
        <p:blipFill>
          <a:blip r:embed="rId2"/>
          <a:stretch>
            <a:fillRect/>
          </a:stretch>
        </p:blipFill>
        <p:spPr>
          <a:xfrm>
            <a:off x="9961704" y="264695"/>
            <a:ext cx="1750871" cy="381600"/>
          </a:xfrm>
          <a:prstGeom prst="rect">
            <a:avLst/>
          </a:prstGeom>
        </p:spPr>
      </p:pic>
      <p:sp>
        <p:nvSpPr>
          <p:cNvPr id="11" name="文本占位符 6"/>
          <p:cNvSpPr>
            <a:spLocks noGrp="1"/>
          </p:cNvSpPr>
          <p:nvPr>
            <p:ph type="body" sz="quarter" idx="12" hasCustomPrompt="1"/>
          </p:nvPr>
        </p:nvSpPr>
        <p:spPr>
          <a:xfrm>
            <a:off x="477723" y="175966"/>
            <a:ext cx="9218727"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目录</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023解放正文页-1">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0" name="文本占位符 6"/>
          <p:cNvSpPr>
            <a:spLocks noGrp="1"/>
          </p:cNvSpPr>
          <p:nvPr>
            <p:ph type="body" sz="quarter" idx="13" hasCustomPrompt="1"/>
          </p:nvPr>
        </p:nvSpPr>
        <p:spPr>
          <a:xfrm>
            <a:off x="477723" y="1063639"/>
            <a:ext cx="11231448" cy="468452"/>
          </a:xfrm>
          <a:prstGeom prst="rect">
            <a:avLst/>
          </a:prstGeom>
        </p:spPr>
        <p:txBody>
          <a:bodyPr lIns="72886" tIns="36443" rIns="72886" bIns="36443" anchor="t" anchorCtr="0"/>
          <a:lstStyle>
            <a:lvl1pPr marL="0" indent="0">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单击此处编辑标题</a:t>
            </a:r>
            <a:endParaRPr lang="zh-CN" altLang="en-US" dirty="0"/>
          </a:p>
        </p:txBody>
      </p:sp>
      <p:sp>
        <p:nvSpPr>
          <p:cNvPr id="21" name="文本占位符 6"/>
          <p:cNvSpPr>
            <a:spLocks noGrp="1"/>
          </p:cNvSpPr>
          <p:nvPr>
            <p:ph type="body" sz="quarter" idx="14" hasCustomPrompt="1"/>
          </p:nvPr>
        </p:nvSpPr>
        <p:spPr>
          <a:xfrm>
            <a:off x="477723" y="1532091"/>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8" name="直接连接符 7"/>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2" name="矩形 2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6"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023解放正文页-2">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1" name="文本占位符 6"/>
          <p:cNvSpPr>
            <a:spLocks noGrp="1"/>
          </p:cNvSpPr>
          <p:nvPr>
            <p:ph type="body" sz="quarter" idx="14" hasCustomPrompt="1"/>
          </p:nvPr>
        </p:nvSpPr>
        <p:spPr>
          <a:xfrm>
            <a:off x="477723" y="1052513"/>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6" name="直接连接符 5"/>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0" name="矩形 19"/>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5"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15.emf"/><Relationship Id="rId4" Type="http://schemas.openxmlformats.org/officeDocument/2006/relationships/tags" Target="../tags/tag4.xml"/><Relationship Id="rId3" Type="http://schemas.openxmlformats.org/officeDocument/2006/relationships/image" Target="../media/image14.emf"/><Relationship Id="rId2" Type="http://schemas.openxmlformats.org/officeDocument/2006/relationships/tags" Target="../tags/tag3.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2"/>
          </p:nvPr>
        </p:nvSpPr>
        <p:spPr/>
        <p:txBody>
          <a:bodyPr/>
          <a:p>
            <a:r>
              <a:rPr lang="zh-CN" altLang="en-US"/>
              <a:t>请补充、</a:t>
            </a:r>
            <a:r>
              <a:rPr lang="zh-CN" altLang="en-US"/>
              <a:t>确认以下</a:t>
            </a:r>
            <a:r>
              <a:rPr lang="zh-CN" altLang="en-US"/>
              <a:t>问题</a:t>
            </a:r>
            <a:endParaRPr lang="zh-CN" altLang="en-US"/>
          </a:p>
        </p:txBody>
      </p:sp>
      <p:sp>
        <p:nvSpPr>
          <p:cNvPr id="5" name="文本占位符 4"/>
          <p:cNvSpPr>
            <a:spLocks noGrp="1"/>
          </p:cNvSpPr>
          <p:nvPr>
            <p:ph type="body" sz="quarter" idx="14"/>
          </p:nvPr>
        </p:nvSpPr>
        <p:spPr>
          <a:xfrm>
            <a:off x="479425" y="1052830"/>
            <a:ext cx="11233150" cy="2306955"/>
          </a:xfrm>
        </p:spPr>
        <p:txBody>
          <a:bodyPr/>
          <a:p>
            <a:pPr>
              <a:lnSpc>
                <a:spcPct val="150000"/>
              </a:lnSpc>
            </a:pPr>
            <a:r>
              <a:rPr lang="zh-CN" altLang="en-US" sz="1600"/>
              <a:t>1.电池电压与多合一电压范围冲突，需确认是否为同一车型、同一高压回路的数据。</a:t>
            </a:r>
            <a:endParaRPr lang="zh-CN" altLang="en-US" sz="1600"/>
          </a:p>
          <a:p>
            <a:pPr>
              <a:lnSpc>
                <a:spcPct val="150000"/>
              </a:lnSpc>
            </a:pPr>
            <a:r>
              <a:rPr lang="zh-CN" altLang="en-US" sz="1600"/>
              <a:t>2.总布置页未填写，整车宏观配置写一下，同时确认是双支路还是三支路，每支路是否独立输出。同时</a:t>
            </a:r>
            <a:r>
              <a:rPr lang="zh-CN" altLang="en-US" sz="1600">
                <a:sym typeface="+mn-ea"/>
              </a:rPr>
              <a:t>整车电池包的环境换热边界待补充，电池包是风冷，液冷还是浸没式。</a:t>
            </a:r>
            <a:endParaRPr lang="zh-CN" altLang="en-US" sz="1600"/>
          </a:p>
          <a:p>
            <a:pPr>
              <a:lnSpc>
                <a:spcPct val="150000"/>
              </a:lnSpc>
            </a:pPr>
            <a:r>
              <a:rPr lang="zh-CN" altLang="en-US" sz="1600"/>
              <a:t>3.电机和逆变器电流口径冲突：电机页写峰值电流550</a:t>
            </a:r>
            <a:r>
              <a:rPr lang="en-US" altLang="zh-CN" sz="1600"/>
              <a:t>A，</a:t>
            </a:r>
            <a:r>
              <a:rPr lang="zh-CN" altLang="en-US" sz="1600"/>
              <a:t>多合一页写峰值550</a:t>
            </a:r>
            <a:r>
              <a:rPr lang="en-US" altLang="zh-CN" sz="1600"/>
              <a:t>Arms。</a:t>
            </a:r>
            <a:endParaRPr lang="en-US" altLang="zh-CN" sz="1600"/>
          </a:p>
          <a:p>
            <a:pPr>
              <a:lnSpc>
                <a:spcPct val="150000"/>
              </a:lnSpc>
            </a:pPr>
            <a:r>
              <a:rPr lang="zh-CN" altLang="en-US" sz="1600"/>
              <a:t>4.确认当前控制器能否支持驻车状态下的零速高频</a:t>
            </a:r>
            <a:r>
              <a:rPr lang="en-US" altLang="zh-CN" sz="1600"/>
              <a:t>PWM/</a:t>
            </a:r>
            <a:r>
              <a:rPr lang="zh-CN" altLang="en-US" sz="1600"/>
              <a:t>电流控制：电机写堵转电流550</a:t>
            </a:r>
            <a:r>
              <a:rPr lang="en-US" altLang="zh-CN" sz="1600"/>
              <a:t>A＜2s，</a:t>
            </a:r>
            <a:r>
              <a:rPr lang="zh-CN" altLang="en-US" sz="1600"/>
              <a:t>多合一写不适用。</a:t>
            </a:r>
            <a:endParaRPr lang="zh-CN" altLang="en-US" sz="1600"/>
          </a:p>
          <a:p>
            <a:pPr>
              <a:lnSpc>
                <a:spcPct val="150000"/>
              </a:lnSpc>
            </a:pPr>
            <a:endParaRPr lang="zh-CN" altLang="en-US" sz="1600"/>
          </a:p>
        </p:txBody>
      </p:sp>
      <p:pic>
        <p:nvPicPr>
          <p:cNvPr id="6" name="图片 5"/>
          <p:cNvPicPr>
            <a:picLocks noChangeAspect="1"/>
          </p:cNvPicPr>
          <p:nvPr/>
        </p:nvPicPr>
        <p:blipFill>
          <a:blip r:embed="rId1"/>
          <a:stretch>
            <a:fillRect/>
          </a:stretch>
        </p:blipFill>
        <p:spPr>
          <a:xfrm>
            <a:off x="551180" y="4940935"/>
            <a:ext cx="1607820" cy="365760"/>
          </a:xfrm>
          <a:prstGeom prst="rect">
            <a:avLst/>
          </a:prstGeom>
        </p:spPr>
      </p:pic>
      <p:pic>
        <p:nvPicPr>
          <p:cNvPr id="7" name="图片 6"/>
          <p:cNvPicPr>
            <a:picLocks noChangeAspect="1"/>
          </p:cNvPicPr>
          <p:nvPr/>
        </p:nvPicPr>
        <p:blipFill>
          <a:blip r:embed="rId2"/>
          <a:stretch>
            <a:fillRect/>
          </a:stretch>
        </p:blipFill>
        <p:spPr>
          <a:xfrm>
            <a:off x="767715" y="4580890"/>
            <a:ext cx="1082040" cy="213360"/>
          </a:xfrm>
          <a:prstGeom prst="rect">
            <a:avLst/>
          </a:prstGeom>
        </p:spPr>
      </p:pic>
      <p:cxnSp>
        <p:nvCxnSpPr>
          <p:cNvPr id="8" name="直接连接符 7"/>
          <p:cNvCxnSpPr/>
          <p:nvPr/>
        </p:nvCxnSpPr>
        <p:spPr>
          <a:xfrm flipH="1">
            <a:off x="2495550" y="3716655"/>
            <a:ext cx="0" cy="288000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pic>
        <p:nvPicPr>
          <p:cNvPr id="9" name="图片 8"/>
          <p:cNvPicPr>
            <a:picLocks noChangeAspect="1"/>
          </p:cNvPicPr>
          <p:nvPr/>
        </p:nvPicPr>
        <p:blipFill>
          <a:blip r:embed="rId3"/>
          <a:stretch>
            <a:fillRect/>
          </a:stretch>
        </p:blipFill>
        <p:spPr>
          <a:xfrm>
            <a:off x="2685415" y="3618865"/>
            <a:ext cx="4755515" cy="1203960"/>
          </a:xfrm>
          <a:prstGeom prst="rect">
            <a:avLst/>
          </a:prstGeom>
        </p:spPr>
      </p:pic>
      <p:pic>
        <p:nvPicPr>
          <p:cNvPr id="10" name="图片 9"/>
          <p:cNvPicPr>
            <a:picLocks noChangeAspect="1"/>
          </p:cNvPicPr>
          <p:nvPr/>
        </p:nvPicPr>
        <p:blipFill>
          <a:blip r:embed="rId4"/>
          <a:stretch>
            <a:fillRect/>
          </a:stretch>
        </p:blipFill>
        <p:spPr>
          <a:xfrm>
            <a:off x="2999740" y="5516880"/>
            <a:ext cx="2164080" cy="739140"/>
          </a:xfrm>
          <a:prstGeom prst="rect">
            <a:avLst/>
          </a:prstGeom>
        </p:spPr>
      </p:pic>
      <p:pic>
        <p:nvPicPr>
          <p:cNvPr id="11" name="图片 10"/>
          <p:cNvPicPr>
            <a:picLocks noChangeAspect="1"/>
          </p:cNvPicPr>
          <p:nvPr/>
        </p:nvPicPr>
        <p:blipFill>
          <a:blip r:embed="rId5"/>
          <a:stretch>
            <a:fillRect/>
          </a:stretch>
        </p:blipFill>
        <p:spPr>
          <a:xfrm>
            <a:off x="5592445" y="5661025"/>
            <a:ext cx="1668780" cy="358140"/>
          </a:xfrm>
          <a:prstGeom prst="rect">
            <a:avLst/>
          </a:prstGeom>
        </p:spPr>
      </p:pic>
      <p:cxnSp>
        <p:nvCxnSpPr>
          <p:cNvPr id="12" name="直接连接符 11"/>
          <p:cNvCxnSpPr/>
          <p:nvPr/>
        </p:nvCxnSpPr>
        <p:spPr>
          <a:xfrm flipH="1">
            <a:off x="7650480" y="3789045"/>
            <a:ext cx="0" cy="288000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pic>
        <p:nvPicPr>
          <p:cNvPr id="13" name="图片 12"/>
          <p:cNvPicPr>
            <a:picLocks noChangeAspect="1"/>
          </p:cNvPicPr>
          <p:nvPr/>
        </p:nvPicPr>
        <p:blipFill>
          <a:blip r:embed="rId6"/>
          <a:srcRect r="40282"/>
          <a:stretch>
            <a:fillRect/>
          </a:stretch>
        </p:blipFill>
        <p:spPr>
          <a:xfrm>
            <a:off x="8184515" y="4076700"/>
            <a:ext cx="3312795" cy="312420"/>
          </a:xfrm>
          <a:prstGeom prst="rect">
            <a:avLst/>
          </a:prstGeom>
        </p:spPr>
      </p:pic>
      <p:pic>
        <p:nvPicPr>
          <p:cNvPr id="14" name="图片 13"/>
          <p:cNvPicPr>
            <a:picLocks noChangeAspect="1"/>
          </p:cNvPicPr>
          <p:nvPr/>
        </p:nvPicPr>
        <p:blipFill>
          <a:blip r:embed="rId6"/>
          <a:srcRect l="61000" r="9135"/>
          <a:stretch>
            <a:fillRect/>
          </a:stretch>
        </p:blipFill>
        <p:spPr>
          <a:xfrm>
            <a:off x="8905240" y="4538980"/>
            <a:ext cx="1656715" cy="312420"/>
          </a:xfrm>
          <a:prstGeom prst="rect">
            <a:avLst/>
          </a:prstGeom>
        </p:spPr>
      </p:pic>
      <p:pic>
        <p:nvPicPr>
          <p:cNvPr id="15" name="图片 14"/>
          <p:cNvPicPr>
            <a:picLocks noChangeAspect="1"/>
          </p:cNvPicPr>
          <p:nvPr/>
        </p:nvPicPr>
        <p:blipFill>
          <a:blip r:embed="rId7"/>
          <a:srcRect r="20685"/>
          <a:stretch>
            <a:fillRect/>
          </a:stretch>
        </p:blipFill>
        <p:spPr>
          <a:xfrm>
            <a:off x="8112760" y="5156835"/>
            <a:ext cx="3384550" cy="350520"/>
          </a:xfrm>
          <a:prstGeom prst="rect">
            <a:avLst/>
          </a:prstGeom>
        </p:spPr>
      </p:pic>
      <p:pic>
        <p:nvPicPr>
          <p:cNvPr id="16" name="图片 15"/>
          <p:cNvPicPr>
            <a:picLocks noChangeAspect="1"/>
          </p:cNvPicPr>
          <p:nvPr/>
        </p:nvPicPr>
        <p:blipFill>
          <a:blip r:embed="rId7"/>
          <a:srcRect l="79315"/>
          <a:stretch>
            <a:fillRect/>
          </a:stretch>
        </p:blipFill>
        <p:spPr>
          <a:xfrm>
            <a:off x="9292590" y="5598795"/>
            <a:ext cx="882650" cy="350520"/>
          </a:xfrm>
          <a:prstGeom prst="rect">
            <a:avLst/>
          </a:prstGeom>
        </p:spPr>
      </p:pic>
      <p:sp>
        <p:nvSpPr>
          <p:cNvPr id="17" name="文本框 16"/>
          <p:cNvSpPr txBox="1"/>
          <p:nvPr/>
        </p:nvSpPr>
        <p:spPr>
          <a:xfrm>
            <a:off x="1151890" y="5373370"/>
            <a:ext cx="406400" cy="316865"/>
          </a:xfrm>
          <a:prstGeom prst="rect">
            <a:avLst/>
          </a:prstGeom>
          <a:noFill/>
        </p:spPr>
        <p:txBody>
          <a:bodyPr wrap="square" lIns="36000" tIns="36000" rIns="36000" bIns="36000" rtlCol="0" anchor="t">
            <a:spAutoFit/>
          </a:bodyPr>
          <a:p>
            <a:pPr algn="ctr">
              <a:spcBef>
                <a:spcPts val="600"/>
              </a:spcBef>
            </a:pPr>
            <a:r>
              <a:rPr lang="zh-CN" altLang="en-US" sz="1600">
                <a:sym typeface="+mn-ea"/>
              </a:rPr>
              <a:t>1</a:t>
            </a:r>
            <a:endParaRPr lang="zh-CN" altLang="en-US" sz="1600" dirty="0" err="1" smtClean="0">
              <a:solidFill>
                <a:srgbClr val="003B90"/>
              </a:solidFill>
              <a:latin typeface="+mj-lt"/>
              <a:sym typeface="+mn-ea"/>
            </a:endParaRPr>
          </a:p>
        </p:txBody>
      </p:sp>
      <p:sp>
        <p:nvSpPr>
          <p:cNvPr id="18" name="文本框 17"/>
          <p:cNvSpPr txBox="1"/>
          <p:nvPr/>
        </p:nvSpPr>
        <p:spPr>
          <a:xfrm>
            <a:off x="4954905" y="4869180"/>
            <a:ext cx="406400" cy="316865"/>
          </a:xfrm>
          <a:prstGeom prst="rect">
            <a:avLst/>
          </a:prstGeom>
          <a:noFill/>
        </p:spPr>
        <p:txBody>
          <a:bodyPr wrap="square" lIns="36000" tIns="36000" rIns="36000" bIns="36000" rtlCol="0" anchor="t">
            <a:spAutoFit/>
          </a:bodyPr>
          <a:p>
            <a:pPr algn="ctr">
              <a:spcBef>
                <a:spcPts val="600"/>
              </a:spcBef>
            </a:pPr>
            <a:r>
              <a:rPr lang="en-US" altLang="zh-CN" sz="1600">
                <a:sym typeface="+mn-ea"/>
              </a:rPr>
              <a:t>2</a:t>
            </a:r>
            <a:endParaRPr lang="en-US" altLang="zh-CN" sz="1600" dirty="0" err="1" smtClean="0">
              <a:solidFill>
                <a:srgbClr val="003B90"/>
              </a:solidFill>
              <a:latin typeface="+mj-lt"/>
              <a:sym typeface="+mn-ea"/>
            </a:endParaRPr>
          </a:p>
        </p:txBody>
      </p:sp>
      <p:sp>
        <p:nvSpPr>
          <p:cNvPr id="19" name="文本框 18"/>
          <p:cNvSpPr txBox="1"/>
          <p:nvPr/>
        </p:nvSpPr>
        <p:spPr>
          <a:xfrm>
            <a:off x="4954905" y="6328410"/>
            <a:ext cx="406400" cy="340360"/>
          </a:xfrm>
          <a:prstGeom prst="rect">
            <a:avLst/>
          </a:prstGeom>
          <a:noFill/>
        </p:spPr>
        <p:txBody>
          <a:bodyPr wrap="square" lIns="36000" tIns="36000" rIns="36000" bIns="36000" rtlCol="0" anchor="t">
            <a:noAutofit/>
          </a:bodyPr>
          <a:p>
            <a:pPr algn="ctr">
              <a:spcBef>
                <a:spcPts val="600"/>
              </a:spcBef>
            </a:pPr>
            <a:r>
              <a:rPr lang="en-US" altLang="zh-CN" sz="1600">
                <a:sym typeface="+mn-ea"/>
              </a:rPr>
              <a:t>3</a:t>
            </a:r>
            <a:endParaRPr lang="en-US" altLang="zh-CN" sz="1600" dirty="0" err="1" smtClean="0">
              <a:solidFill>
                <a:srgbClr val="003B90"/>
              </a:solidFill>
              <a:latin typeface="+mj-lt"/>
              <a:sym typeface="+mn-ea"/>
            </a:endParaRPr>
          </a:p>
        </p:txBody>
      </p:sp>
      <p:sp>
        <p:nvSpPr>
          <p:cNvPr id="20" name="文本框 19"/>
          <p:cNvSpPr txBox="1"/>
          <p:nvPr/>
        </p:nvSpPr>
        <p:spPr>
          <a:xfrm>
            <a:off x="9480550" y="6115050"/>
            <a:ext cx="406400" cy="340360"/>
          </a:xfrm>
          <a:prstGeom prst="rect">
            <a:avLst/>
          </a:prstGeom>
          <a:noFill/>
        </p:spPr>
        <p:txBody>
          <a:bodyPr wrap="square" lIns="36000" tIns="36000" rIns="36000" bIns="36000" rtlCol="0" anchor="t">
            <a:noAutofit/>
          </a:bodyPr>
          <a:p>
            <a:pPr algn="ctr">
              <a:spcBef>
                <a:spcPts val="600"/>
              </a:spcBef>
            </a:pPr>
            <a:r>
              <a:rPr lang="en-US" altLang="zh-CN" sz="1600">
                <a:sym typeface="+mn-ea"/>
              </a:rPr>
              <a:t>4</a:t>
            </a:r>
            <a:endParaRPr lang="en-US" altLang="zh-CN" sz="1600" dirty="0" err="1" smtClean="0">
              <a:solidFill>
                <a:srgbClr val="003B90"/>
              </a:solidFill>
              <a:latin typeface="+mj-lt"/>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技术回复</a:t>
            </a:r>
            <a:endParaRPr lang="zh-CN" altLang="en-US"/>
          </a:p>
        </p:txBody>
      </p:sp>
      <p:sp>
        <p:nvSpPr>
          <p:cNvPr id="4" name="文本占位符 3"/>
          <p:cNvSpPr>
            <a:spLocks noGrp="1"/>
          </p:cNvSpPr>
          <p:nvPr>
            <p:ph type="body" sz="quarter" idx="14"/>
          </p:nvPr>
        </p:nvSpPr>
        <p:spPr>
          <a:xfrm>
            <a:off x="477520" y="908685"/>
            <a:ext cx="7109460" cy="5107305"/>
          </a:xfrm>
        </p:spPr>
        <p:txBody>
          <a:bodyPr/>
          <a:p>
            <a:pPr>
              <a:lnSpc>
                <a:spcPct val="150000"/>
              </a:lnSpc>
            </a:pPr>
            <a:r>
              <a:rPr lang="en-US" altLang="zh-CN" sz="1600"/>
              <a:t>1.</a:t>
            </a:r>
            <a:r>
              <a:rPr lang="zh-CN" altLang="en-US" sz="1600"/>
              <a:t>原理电路可见后面两张</a:t>
            </a:r>
            <a:r>
              <a:rPr lang="en-US" altLang="zh-CN" sz="1600"/>
              <a:t>PPT</a:t>
            </a:r>
            <a:r>
              <a:rPr lang="zh-CN" altLang="en-US" sz="1600"/>
              <a:t>。零维模型</a:t>
            </a:r>
            <a:r>
              <a:rPr lang="zh-CN" altLang="en-US" sz="1600"/>
              <a:t>中将电池等效为“</a:t>
            </a:r>
            <a:r>
              <a:rPr lang="en-US" altLang="zh-CN" sz="1600"/>
              <a:t>OCV+</a:t>
            </a:r>
            <a:r>
              <a:rPr lang="zh-CN" altLang="en-US" sz="1600"/>
              <a:t>内阻+集总热容”，将电机/逆变器等效为“电感、电阻和</a:t>
            </a:r>
            <a:r>
              <a:rPr lang="en-US" altLang="zh-CN" sz="1600"/>
              <a:t>PWM</a:t>
            </a:r>
            <a:r>
              <a:rPr lang="zh-CN" altLang="en-US" sz="1600"/>
              <a:t>脉冲激励回路”。</a:t>
            </a:r>
            <a:endParaRPr lang="zh-CN" altLang="en-US" sz="1600"/>
          </a:p>
          <a:p>
            <a:pPr>
              <a:lnSpc>
                <a:spcPct val="150000"/>
              </a:lnSpc>
            </a:pPr>
            <a:r>
              <a:rPr lang="zh-CN" altLang="en-US" sz="1600"/>
              <a:t>启动时要求电机堵转，驻车加热</a:t>
            </a:r>
            <a:r>
              <a:rPr lang="en-US" altLang="zh-CN" sz="1600"/>
              <a:t>。</a:t>
            </a:r>
            <a:endParaRPr lang="en-US" altLang="zh-CN" sz="1600"/>
          </a:p>
          <a:p>
            <a:pPr>
              <a:lnSpc>
                <a:spcPct val="150000"/>
              </a:lnSpc>
            </a:pPr>
            <a:r>
              <a:rPr lang="zh-CN" altLang="en-US" sz="1600"/>
              <a:t>逆变器在零速/驻车下施加高频双极性电压后，在电机等效电感支路中形成近似三角波或指数充放电型的高频脉冲电流</a:t>
            </a:r>
            <a:endParaRPr lang="zh-CN" altLang="en-US" sz="1600"/>
          </a:p>
          <a:p>
            <a:pPr>
              <a:lnSpc>
                <a:spcPct val="150000"/>
              </a:lnSpc>
            </a:pPr>
            <a:endParaRPr lang="zh-CN" altLang="en-US" sz="1600"/>
          </a:p>
          <a:p>
            <a:pPr>
              <a:lnSpc>
                <a:spcPct val="150000"/>
              </a:lnSpc>
            </a:pPr>
            <a:r>
              <a:rPr lang="en-US" altLang="zh-CN" sz="1600"/>
              <a:t>2.</a:t>
            </a:r>
            <a:r>
              <a:rPr lang="zh-CN" altLang="en-US" sz="1600"/>
              <a:t>当前车载方案研究，不是单纯电池热模型问题，其核心可行性取决于电机、逆变器硬件能力（比如</a:t>
            </a:r>
            <a:r>
              <a:rPr lang="zh-CN" altLang="en-US" sz="1600"/>
              <a:t>电感、电流、频率</a:t>
            </a:r>
            <a:r>
              <a:rPr lang="zh-CN" altLang="en-US" sz="1600"/>
              <a:t>上限）和控制策略。</a:t>
            </a:r>
            <a:endParaRPr lang="zh-CN" altLang="en-US" sz="1600"/>
          </a:p>
          <a:p>
            <a:pPr>
              <a:lnSpc>
                <a:spcPct val="150000"/>
              </a:lnSpc>
            </a:pPr>
            <a:r>
              <a:rPr lang="zh-CN" altLang="en-US" sz="1600"/>
              <a:t>现阶段按驻车做零维可行性粗筛，重点识别电池支路电流、温升收益、电控电流频率能力和安全约束</a:t>
            </a:r>
            <a:r>
              <a:rPr lang="zh-CN" altLang="en-US" sz="1600"/>
              <a:t>模拟。</a:t>
            </a:r>
            <a:endParaRPr lang="zh-CN" altLang="en-US" sz="1600"/>
          </a:p>
          <a:p>
            <a:pPr>
              <a:lnSpc>
                <a:spcPct val="150000"/>
              </a:lnSpc>
            </a:pPr>
            <a:r>
              <a:rPr lang="zh-CN" altLang="en-US" sz="1600"/>
              <a:t>行车加热、电机寿命、退磁、电热老化和</a:t>
            </a:r>
            <a:r>
              <a:rPr lang="en-US" altLang="zh-CN" sz="1600"/>
              <a:t>NVH</a:t>
            </a:r>
            <a:r>
              <a:rPr lang="zh-CN" altLang="en-US" sz="1600"/>
              <a:t>不在</a:t>
            </a:r>
            <a:r>
              <a:rPr lang="zh-CN" altLang="en-US" sz="1600"/>
              <a:t>本零维模型中研究，后续</a:t>
            </a:r>
            <a:r>
              <a:rPr lang="zh-CN" altLang="en-US" sz="1600"/>
              <a:t>需要电控、电机和整车联合评审。</a:t>
            </a:r>
            <a:endParaRPr lang="zh-CN" altLang="en-US" sz="1600"/>
          </a:p>
          <a:p>
            <a:pPr>
              <a:lnSpc>
                <a:spcPct val="150000"/>
              </a:lnSpc>
            </a:pPr>
            <a:endParaRPr lang="zh-CN" altLang="en-US" sz="1600"/>
          </a:p>
        </p:txBody>
      </p:sp>
      <p:pic>
        <p:nvPicPr>
          <p:cNvPr id="7" name="图片 6"/>
          <p:cNvPicPr>
            <a:picLocks noChangeAspect="1"/>
          </p:cNvPicPr>
          <p:nvPr/>
        </p:nvPicPr>
        <p:blipFill>
          <a:blip r:embed="rId1"/>
          <a:stretch>
            <a:fillRect/>
          </a:stretch>
        </p:blipFill>
        <p:spPr>
          <a:xfrm>
            <a:off x="7680325" y="1844675"/>
            <a:ext cx="4312285" cy="34315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占位符 8"/>
          <p:cNvSpPr/>
          <p:nvPr>
            <p:ph type="body" sz="quarter" idx="12"/>
          </p:nvPr>
        </p:nvSpPr>
        <p:spPr/>
        <p:txBody>
          <a:bodyPr/>
          <a:p>
            <a:r>
              <a:rPr lang="zh-CN" altLang="en-US">
                <a:sym typeface="+mn-ea"/>
              </a:rPr>
              <a:t>车载脉冲加热原理电路</a:t>
            </a:r>
            <a:r>
              <a:rPr lang="en-US" altLang="zh-CN">
                <a:sym typeface="+mn-ea"/>
              </a:rPr>
              <a:t>1</a:t>
            </a:r>
            <a:endParaRPr lang="en-US" altLang="zh-CN">
              <a:sym typeface="+mn-ea"/>
            </a:endParaRPr>
          </a:p>
        </p:txBody>
      </p:sp>
      <p:sp>
        <p:nvSpPr>
          <p:cNvPr id="16" name="文本框 15"/>
          <p:cNvSpPr txBox="1"/>
          <p:nvPr/>
        </p:nvSpPr>
        <p:spPr>
          <a:xfrm>
            <a:off x="479425" y="836930"/>
            <a:ext cx="11246485" cy="447675"/>
          </a:xfrm>
          <a:prstGeom prst="rect">
            <a:avLst/>
          </a:prstGeom>
          <a:noFill/>
        </p:spPr>
        <p:txBody>
          <a:bodyPr wrap="square" lIns="36000" tIns="36000" rIns="36000" bIns="36000" rtlCol="0">
            <a:noAutofit/>
          </a:bodyPr>
          <a:p>
            <a:pPr marL="342900" indent="-342900" algn="l">
              <a:lnSpc>
                <a:spcPct val="150000"/>
              </a:lnSpc>
              <a:spcBef>
                <a:spcPts val="600"/>
              </a:spcBef>
              <a:buFont typeface="Wingdings" panose="05000000000000000000" charset="0"/>
              <a:buChar char="p"/>
            </a:pPr>
            <a:r>
              <a:rPr lang="zh-CN" altLang="en-US" sz="1600" b="1" dirty="0" err="1" smtClean="0">
                <a:solidFill>
                  <a:srgbClr val="003B90"/>
                </a:solidFill>
                <a:latin typeface="+mj-lt"/>
                <a:sym typeface="+mn-ea"/>
              </a:rPr>
              <a:t>基础架构：三个电池包接入直流母线，两套电机</a:t>
            </a:r>
            <a:r>
              <a:rPr lang="en-US" altLang="zh-CN" sz="1600" b="1" dirty="0" err="1" smtClean="0">
                <a:solidFill>
                  <a:srgbClr val="003B90"/>
                </a:solidFill>
                <a:latin typeface="+mj-lt"/>
                <a:sym typeface="+mn-ea"/>
              </a:rPr>
              <a:t>-</a:t>
            </a:r>
            <a:r>
              <a:rPr lang="zh-CN" altLang="en-US" sz="1600" b="1" dirty="0" err="1" smtClean="0">
                <a:solidFill>
                  <a:srgbClr val="003B90"/>
                </a:solidFill>
                <a:latin typeface="+mj-lt"/>
                <a:sym typeface="+mn-ea"/>
              </a:rPr>
              <a:t>控制器并联接入母线，电机中性点引出</a:t>
            </a:r>
            <a:r>
              <a:rPr lang="zh-CN" altLang="en-US" sz="1600" b="1" dirty="0" err="1" smtClean="0">
                <a:solidFill>
                  <a:srgbClr val="003B90"/>
                </a:solidFill>
                <a:latin typeface="+mj-lt"/>
                <a:sym typeface="+mn-ea"/>
              </a:rPr>
              <a:t>参与脉冲加热回路。</a:t>
            </a:r>
            <a:endParaRPr lang="zh-CN" altLang="en-US" sz="1600" dirty="0" err="1" smtClean="0">
              <a:solidFill>
                <a:srgbClr val="003B90"/>
              </a:solidFill>
              <a:latin typeface="+mj-lt"/>
            </a:endParaRPr>
          </a:p>
        </p:txBody>
      </p:sp>
      <p:graphicFrame>
        <p:nvGraphicFramePr>
          <p:cNvPr id="11" name="表格 10"/>
          <p:cNvGraphicFramePr/>
          <p:nvPr>
            <p:custDataLst>
              <p:tags r:id="rId1"/>
            </p:custDataLst>
          </p:nvPr>
        </p:nvGraphicFramePr>
        <p:xfrm>
          <a:off x="8400415" y="2536190"/>
          <a:ext cx="3133090" cy="2286000"/>
        </p:xfrm>
        <a:graphic>
          <a:graphicData uri="http://schemas.openxmlformats.org/drawingml/2006/table">
            <a:tbl>
              <a:tblPr firstRow="1" bandRow="1">
                <a:tableStyleId>{F5AB1C69-6EDB-4FF4-983F-18BD219EF322}</a:tableStyleId>
              </a:tblPr>
              <a:tblGrid>
                <a:gridCol w="3133090"/>
              </a:tblGrid>
              <a:tr h="254000">
                <a:tc>
                  <a:txBody>
                    <a:bodyPr/>
                    <a:p>
                      <a:pPr algn="ctr">
                        <a:lnSpc>
                          <a:spcPct val="100000"/>
                        </a:lnSpc>
                        <a:buNone/>
                      </a:pPr>
                      <a:r>
                        <a:rPr lang="zh-CN" altLang="en-US" sz="1200">
                          <a:solidFill>
                            <a:srgbClr val="152A8C"/>
                          </a:solidFill>
                          <a:latin typeface="微软雅黑" panose="020B0503020204020204" pitchFamily="34" charset="-122"/>
                          <a:ea typeface="微软雅黑" panose="020B0503020204020204" pitchFamily="34" charset="-122"/>
                          <a:cs typeface="微软雅黑" panose="020B0503020204020204" pitchFamily="34" charset="-122"/>
                          <a:sym typeface="+mn-ea"/>
                        </a:rPr>
                        <a:t>组件介绍</a:t>
                      </a:r>
                      <a:endParaRPr lang="zh-CN" altLang="en-US" sz="1200" b="1">
                        <a:solidFill>
                          <a:schemeClr val="accent1">
                            <a:lumMod val="40000"/>
                            <a:lumOff val="60000"/>
                          </a:schemeClr>
                        </a:solidFill>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：电池包</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：电池支路接入开关；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S4</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S5</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：电机接入开关；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S6~S9</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：中性点接入开关；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45720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Q1~Q6</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桥臂开关；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Q7~Q12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桥臂开关；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457200">
                <a:tc>
                  <a:txBody>
                    <a:bodyPr/>
                    <a:p>
                      <a:pPr algn="just">
                        <a:lnSpc>
                          <a:spcPct val="100000"/>
                        </a:lnSpc>
                        <a:buNone/>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V1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W1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三相定子线圈；</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lnSpc>
                          <a:spcPct val="100000"/>
                        </a:lnSpc>
                        <a:buNone/>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V2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W2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三相定子线圈；</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bl>
          </a:graphicData>
        </a:graphic>
      </p:graphicFrame>
      <p:grpSp>
        <p:nvGrpSpPr>
          <p:cNvPr id="22" name="组合 21"/>
          <p:cNvGrpSpPr/>
          <p:nvPr/>
        </p:nvGrpSpPr>
        <p:grpSpPr>
          <a:xfrm>
            <a:off x="242570" y="1730375"/>
            <a:ext cx="8039735" cy="2099310"/>
            <a:chOff x="414" y="2105"/>
            <a:chExt cx="12661" cy="3306"/>
          </a:xfrm>
        </p:grpSpPr>
        <p:pic>
          <p:nvPicPr>
            <p:cNvPr id="13" name="pic"/>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127" y="2107"/>
              <a:ext cx="11701" cy="3260"/>
            </a:xfrm>
            <a:prstGeom prst="rect">
              <a:avLst/>
            </a:prstGeom>
          </p:spPr>
        </p:pic>
        <p:sp>
          <p:nvSpPr>
            <p:cNvPr id="20" name="文本框 19"/>
            <p:cNvSpPr txBox="1"/>
            <p:nvPr/>
          </p:nvSpPr>
          <p:spPr>
            <a:xfrm>
              <a:off x="1014" y="4937"/>
              <a:ext cx="11701" cy="474"/>
            </a:xfrm>
            <a:prstGeom prst="rect">
              <a:avLst/>
            </a:prstGeom>
            <a:noFill/>
          </p:spPr>
          <p:txBody>
            <a:bodyPr wrap="square" lIns="36000" tIns="36000" rIns="36000" bIns="36000" rtlCol="0">
              <a:noAutofit/>
            </a:bodyPr>
            <a:p>
              <a:pPr algn="ctr">
                <a:spcBef>
                  <a:spcPts val="600"/>
                </a:spcBef>
              </a:pPr>
              <a:r>
                <a:rPr lang="zh-CN" altLang="en-US" sz="1400" b="1" dirty="0" err="1" smtClean="0">
                  <a:solidFill>
                    <a:srgbClr val="003B90"/>
                  </a:solidFill>
                  <a:latin typeface="+mj-lt"/>
                </a:rPr>
                <a:t>储能状态电流流向示意图</a:t>
              </a:r>
              <a:endParaRPr lang="zh-CN" altLang="en-US" sz="1400" b="1" dirty="0" err="1" smtClean="0">
                <a:solidFill>
                  <a:srgbClr val="003B90"/>
                </a:solidFill>
                <a:latin typeface="+mj-lt"/>
              </a:endParaRPr>
            </a:p>
          </p:txBody>
        </p:sp>
        <p:sp>
          <p:nvSpPr>
            <p:cNvPr id="6" name="矩形 5"/>
            <p:cNvSpPr/>
            <p:nvPr/>
          </p:nvSpPr>
          <p:spPr>
            <a:xfrm>
              <a:off x="4076" y="2105"/>
              <a:ext cx="895" cy="401"/>
            </a:xfrm>
            <a:prstGeom prst="rect">
              <a:avLst/>
            </a:prstGeom>
            <a:solidFill>
              <a:schemeClr val="accent4">
                <a:lumMod val="40000"/>
                <a:lumOff val="60000"/>
              </a:scheme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t>电机</a:t>
              </a:r>
              <a:r>
                <a:rPr lang="en-US" altLang="zh-CN" sz="1000" b="1"/>
                <a:t>A</a:t>
              </a:r>
              <a:endParaRPr lang="en-US" altLang="zh-CN" sz="1000" b="1"/>
            </a:p>
          </p:txBody>
        </p:sp>
        <p:sp>
          <p:nvSpPr>
            <p:cNvPr id="7" name="矩形 6"/>
            <p:cNvSpPr/>
            <p:nvPr/>
          </p:nvSpPr>
          <p:spPr>
            <a:xfrm>
              <a:off x="8158" y="2105"/>
              <a:ext cx="895" cy="401"/>
            </a:xfrm>
            <a:prstGeom prst="rect">
              <a:avLst/>
            </a:prstGeom>
            <a:solidFill>
              <a:schemeClr val="accent4">
                <a:lumMod val="40000"/>
                <a:lumOff val="60000"/>
              </a:scheme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t>电机</a:t>
              </a:r>
              <a:r>
                <a:rPr lang="en-US" altLang="zh-CN" sz="1000" b="1"/>
                <a:t>B</a:t>
              </a:r>
              <a:endParaRPr lang="en-US" altLang="zh-CN" sz="1000" b="1"/>
            </a:p>
          </p:txBody>
        </p:sp>
        <p:sp>
          <p:nvSpPr>
            <p:cNvPr id="8" name="矩形 7"/>
            <p:cNvSpPr/>
            <p:nvPr/>
          </p:nvSpPr>
          <p:spPr>
            <a:xfrm>
              <a:off x="787" y="2105"/>
              <a:ext cx="1514" cy="401"/>
            </a:xfrm>
            <a:prstGeom prst="rect">
              <a:avLst/>
            </a:prstGeom>
            <a:solidFill>
              <a:schemeClr val="accent4">
                <a:lumMod val="40000"/>
                <a:lumOff val="60000"/>
              </a:schemeClr>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t>电池</a:t>
              </a:r>
              <a:r>
                <a:rPr lang="en-US" altLang="zh-CN" sz="1000" b="1"/>
                <a:t>1</a:t>
              </a:r>
              <a:r>
                <a:rPr lang="zh-CN" altLang="en-US" sz="1000" b="1"/>
                <a:t>、</a:t>
              </a:r>
              <a:r>
                <a:rPr lang="en-US" altLang="zh-CN" sz="1000" b="1"/>
                <a:t>2</a:t>
              </a:r>
              <a:r>
                <a:rPr lang="zh-CN" altLang="en-US" sz="1000" b="1"/>
                <a:t>、</a:t>
              </a:r>
              <a:r>
                <a:rPr lang="en-US" altLang="zh-CN" sz="1000" b="1"/>
                <a:t>3</a:t>
              </a:r>
              <a:endParaRPr lang="en-US" altLang="zh-CN" sz="1000" b="1"/>
            </a:p>
          </p:txBody>
        </p:sp>
        <p:sp>
          <p:nvSpPr>
            <p:cNvPr id="12" name="文本框 11"/>
            <p:cNvSpPr txBox="1"/>
            <p:nvPr/>
          </p:nvSpPr>
          <p:spPr>
            <a:xfrm>
              <a:off x="10393" y="4937"/>
              <a:ext cx="2092" cy="415"/>
            </a:xfrm>
            <a:prstGeom prst="rect">
              <a:avLst/>
            </a:prstGeom>
            <a:noFill/>
          </p:spPr>
          <p:txBody>
            <a:bodyPr wrap="square" lIns="36000" tIns="36000" rIns="36000" bIns="36000" rtlCol="0">
              <a:noAutofit/>
            </a:bodyPr>
            <a:p>
              <a:pPr algn="l">
                <a:spcBef>
                  <a:spcPts val="600"/>
                </a:spcBef>
              </a:pPr>
              <a:r>
                <a:rPr lang="zh-CN" altLang="en-US" sz="1000" dirty="0" err="1" smtClean="0">
                  <a:solidFill>
                    <a:srgbClr val="00B050"/>
                  </a:solidFill>
                  <a:latin typeface="+mj-lt"/>
                </a:rPr>
                <a:t>绿色表示对应桥臂</a:t>
              </a:r>
              <a:r>
                <a:rPr lang="en-US" altLang="zh-CN" sz="1000" dirty="0" err="1" smtClean="0">
                  <a:solidFill>
                    <a:srgbClr val="00B050"/>
                  </a:solidFill>
                  <a:latin typeface="+mj-lt"/>
                </a:rPr>
                <a:t>/</a:t>
              </a:r>
              <a:r>
                <a:rPr lang="zh-CN" altLang="en-US" sz="1000" dirty="0" err="1" smtClean="0">
                  <a:solidFill>
                    <a:srgbClr val="00B050"/>
                  </a:solidFill>
                  <a:latin typeface="+mj-lt"/>
                </a:rPr>
                <a:t>中性点开关接通</a:t>
              </a:r>
              <a:endParaRPr lang="zh-CN" altLang="en-US" sz="1000" dirty="0" err="1" smtClean="0">
                <a:solidFill>
                  <a:srgbClr val="00B050"/>
                </a:solidFill>
                <a:latin typeface="+mj-lt"/>
              </a:endParaRPr>
            </a:p>
          </p:txBody>
        </p:sp>
        <p:sp>
          <p:nvSpPr>
            <p:cNvPr id="2" name="文本框 1"/>
            <p:cNvSpPr txBox="1"/>
            <p:nvPr/>
          </p:nvSpPr>
          <p:spPr>
            <a:xfrm>
              <a:off x="414" y="4833"/>
              <a:ext cx="1888" cy="577"/>
            </a:xfrm>
            <a:prstGeom prst="rect">
              <a:avLst/>
            </a:prstGeom>
            <a:noFill/>
          </p:spPr>
          <p:txBody>
            <a:bodyPr wrap="square" lIns="36000" tIns="36000" rIns="36000" bIns="36000" rtlCol="0">
              <a:noAutofit/>
            </a:bodyPr>
            <a:p>
              <a:pPr algn="ctr">
                <a:spcBef>
                  <a:spcPts val="600"/>
                </a:spcBef>
              </a:pPr>
              <a:r>
                <a:rPr lang="zh-CN" altLang="en-US" sz="1000" dirty="0" err="1" smtClean="0">
                  <a:solidFill>
                    <a:srgbClr val="C00000"/>
                  </a:solidFill>
                  <a:latin typeface="+mj-lt"/>
                </a:rPr>
                <a:t>公共正母线</a:t>
              </a:r>
              <a:r>
                <a:rPr lang="en-US" altLang="zh-CN" sz="1000" dirty="0" err="1" smtClean="0">
                  <a:solidFill>
                    <a:srgbClr val="C00000"/>
                  </a:solidFill>
                  <a:latin typeface="+mj-lt"/>
                </a:rPr>
                <a:t>(HV+)</a:t>
              </a:r>
              <a:endParaRPr lang="en-US" altLang="zh-CN" sz="1000" dirty="0" err="1" smtClean="0">
                <a:solidFill>
                  <a:srgbClr val="C00000"/>
                </a:solidFill>
                <a:latin typeface="+mj-lt"/>
              </a:endParaRPr>
            </a:p>
          </p:txBody>
        </p:sp>
        <p:sp>
          <p:nvSpPr>
            <p:cNvPr id="3" name="文本框 2"/>
            <p:cNvSpPr txBox="1"/>
            <p:nvPr/>
          </p:nvSpPr>
          <p:spPr>
            <a:xfrm>
              <a:off x="11187" y="2338"/>
              <a:ext cx="1888" cy="577"/>
            </a:xfrm>
            <a:prstGeom prst="rect">
              <a:avLst/>
            </a:prstGeom>
            <a:noFill/>
          </p:spPr>
          <p:txBody>
            <a:bodyPr wrap="square" lIns="36000" tIns="36000" rIns="36000" bIns="36000" rtlCol="0">
              <a:noAutofit/>
            </a:bodyPr>
            <a:p>
              <a:pPr algn="ctr">
                <a:spcBef>
                  <a:spcPts val="600"/>
                </a:spcBef>
              </a:pPr>
              <a:r>
                <a:rPr lang="zh-CN" altLang="en-US" sz="1000" dirty="0" err="1" smtClean="0">
                  <a:solidFill>
                    <a:srgbClr val="C00000"/>
                  </a:solidFill>
                  <a:latin typeface="+mj-lt"/>
                </a:rPr>
                <a:t>公共</a:t>
              </a:r>
              <a:r>
                <a:rPr lang="zh-CN" altLang="en-US" sz="1000" dirty="0" err="1" smtClean="0">
                  <a:solidFill>
                    <a:srgbClr val="C00000"/>
                  </a:solidFill>
                  <a:latin typeface="+mj-lt"/>
                </a:rPr>
                <a:t>负母线</a:t>
              </a:r>
              <a:r>
                <a:rPr lang="en-US" altLang="zh-CN" sz="1000" dirty="0" err="1" smtClean="0">
                  <a:solidFill>
                    <a:srgbClr val="C00000"/>
                  </a:solidFill>
                  <a:latin typeface="+mj-lt"/>
                </a:rPr>
                <a:t>(HV-)</a:t>
              </a:r>
              <a:endParaRPr lang="en-US" altLang="zh-CN" sz="1000" dirty="0" err="1" smtClean="0">
                <a:solidFill>
                  <a:srgbClr val="C00000"/>
                </a:solidFill>
                <a:latin typeface="+mj-lt"/>
              </a:endParaRPr>
            </a:p>
          </p:txBody>
        </p:sp>
        <p:sp>
          <p:nvSpPr>
            <p:cNvPr id="5" name="矩形 4"/>
            <p:cNvSpPr/>
            <p:nvPr/>
          </p:nvSpPr>
          <p:spPr>
            <a:xfrm>
              <a:off x="7445" y="2915"/>
              <a:ext cx="250" cy="352"/>
            </a:xfrm>
            <a:prstGeom prst="rect">
              <a:avLst/>
            </a:prstGeom>
            <a:ln w="9525">
              <a:solidFill>
                <a:srgbClr val="92D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矩形 14"/>
            <p:cNvSpPr/>
            <p:nvPr/>
          </p:nvSpPr>
          <p:spPr>
            <a:xfrm>
              <a:off x="12006" y="2915"/>
              <a:ext cx="250" cy="352"/>
            </a:xfrm>
            <a:prstGeom prst="rect">
              <a:avLst/>
            </a:prstGeom>
            <a:ln w="9525">
              <a:solidFill>
                <a:srgbClr val="92D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nvGrpSpPr>
          <p:cNvPr id="19" name="组合 18"/>
          <p:cNvGrpSpPr/>
          <p:nvPr/>
        </p:nvGrpSpPr>
        <p:grpSpPr>
          <a:xfrm>
            <a:off x="551180" y="4220845"/>
            <a:ext cx="7637145" cy="2101215"/>
            <a:chOff x="7334" y="6534"/>
            <a:chExt cx="12027" cy="3309"/>
          </a:xfrm>
        </p:grpSpPr>
        <p:sp>
          <p:nvSpPr>
            <p:cNvPr id="21" name="文本框 20"/>
            <p:cNvSpPr txBox="1"/>
            <p:nvPr/>
          </p:nvSpPr>
          <p:spPr>
            <a:xfrm>
              <a:off x="7334" y="9369"/>
              <a:ext cx="11866" cy="474"/>
            </a:xfrm>
            <a:prstGeom prst="rect">
              <a:avLst/>
            </a:prstGeom>
            <a:noFill/>
          </p:spPr>
          <p:txBody>
            <a:bodyPr wrap="square" lIns="36000" tIns="36000" rIns="36000" bIns="36000" rtlCol="0">
              <a:noAutofit/>
            </a:bodyPr>
            <a:p>
              <a:pPr algn="ctr">
                <a:spcBef>
                  <a:spcPts val="600"/>
                </a:spcBef>
              </a:pPr>
              <a:r>
                <a:rPr lang="zh-CN" altLang="en-US" sz="1400" b="1" dirty="0" err="1" smtClean="0">
                  <a:solidFill>
                    <a:srgbClr val="003B90"/>
                  </a:solidFill>
                  <a:latin typeface="+mj-lt"/>
                </a:rPr>
                <a:t>续流状态电流流向示意图</a:t>
              </a:r>
              <a:endParaRPr lang="zh-CN" altLang="en-US" sz="1400" b="1" dirty="0" err="1" smtClean="0">
                <a:solidFill>
                  <a:srgbClr val="003B90"/>
                </a:solidFill>
                <a:latin typeface="+mj-lt"/>
              </a:endParaRPr>
            </a:p>
          </p:txBody>
        </p:sp>
        <p:pic>
          <p:nvPicPr>
            <p:cNvPr id="4" name="pic"/>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445" y="6534"/>
              <a:ext cx="11916" cy="3260"/>
            </a:xfrm>
            <a:prstGeom prst="rect">
              <a:avLst/>
            </a:prstGeom>
          </p:spPr>
        </p:pic>
        <p:sp>
          <p:nvSpPr>
            <p:cNvPr id="17" name="矩形 16"/>
            <p:cNvSpPr/>
            <p:nvPr/>
          </p:nvSpPr>
          <p:spPr>
            <a:xfrm>
              <a:off x="13848" y="8498"/>
              <a:ext cx="250" cy="352"/>
            </a:xfrm>
            <a:prstGeom prst="rect">
              <a:avLst/>
            </a:prstGeom>
            <a:ln w="9525">
              <a:solidFill>
                <a:srgbClr val="92D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矩形 17"/>
            <p:cNvSpPr/>
            <p:nvPr/>
          </p:nvSpPr>
          <p:spPr>
            <a:xfrm>
              <a:off x="18409" y="8498"/>
              <a:ext cx="250" cy="352"/>
            </a:xfrm>
            <a:prstGeom prst="rect">
              <a:avLst/>
            </a:prstGeom>
            <a:ln w="9525">
              <a:solidFill>
                <a:srgbClr val="92D05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占位符 6"/>
          <p:cNvSpPr/>
          <p:nvPr>
            <p:ph type="body" sz="quarter" idx="12"/>
          </p:nvPr>
        </p:nvSpPr>
        <p:spPr/>
        <p:txBody>
          <a:bodyPr/>
          <a:p>
            <a:r>
              <a:rPr lang="zh-CN" altLang="en-US">
                <a:sym typeface="+mn-ea"/>
              </a:rPr>
              <a:t>车载脉冲加热原理电路</a:t>
            </a:r>
            <a:r>
              <a:rPr lang="en-US" altLang="zh-CN">
                <a:sym typeface="+mn-ea"/>
              </a:rPr>
              <a:t>2</a:t>
            </a:r>
            <a:endParaRPr lang="zh-CN" altLang="en-US"/>
          </a:p>
        </p:txBody>
      </p:sp>
      <p:grpSp>
        <p:nvGrpSpPr>
          <p:cNvPr id="3" name="组合 2"/>
          <p:cNvGrpSpPr/>
          <p:nvPr>
            <p:custDataLst>
              <p:tags r:id="rId1"/>
            </p:custDataLst>
          </p:nvPr>
        </p:nvGrpSpPr>
        <p:grpSpPr>
          <a:xfrm>
            <a:off x="256540" y="1484600"/>
            <a:ext cx="6684645" cy="5121940"/>
            <a:chOff x="404" y="2338"/>
            <a:chExt cx="10527" cy="8066"/>
          </a:xfrm>
        </p:grpSpPr>
        <p:pic>
          <p:nvPicPr>
            <p:cNvPr id="18" name="pic"/>
            <p:cNvPicPr>
              <a:picLocks noChangeAspect="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1096" y="2338"/>
              <a:ext cx="9354" cy="3118"/>
            </a:xfrm>
            <a:prstGeom prst="rect">
              <a:avLst/>
            </a:prstGeom>
          </p:spPr>
        </p:pic>
        <p:pic>
          <p:nvPicPr>
            <p:cNvPr id="19" name="pic"/>
            <p:cNvPicPr>
              <a:picLocks noChangeAspect="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a:xfrm>
              <a:off x="1097" y="6527"/>
              <a:ext cx="9354" cy="3118"/>
            </a:xfrm>
            <a:prstGeom prst="rect">
              <a:avLst/>
            </a:prstGeom>
          </p:spPr>
        </p:pic>
        <p:sp>
          <p:nvSpPr>
            <p:cNvPr id="20" name="文本框 19"/>
            <p:cNvSpPr txBox="1"/>
            <p:nvPr>
              <p:custDataLst>
                <p:tags r:id="rId6"/>
              </p:custDataLst>
            </p:nvPr>
          </p:nvSpPr>
          <p:spPr>
            <a:xfrm>
              <a:off x="472" y="5696"/>
              <a:ext cx="10172" cy="474"/>
            </a:xfrm>
            <a:prstGeom prst="rect">
              <a:avLst/>
            </a:prstGeom>
            <a:noFill/>
          </p:spPr>
          <p:txBody>
            <a:bodyPr wrap="square" lIns="36000" tIns="36000" rIns="36000" bIns="36000" rtlCol="0">
              <a:noAutofit/>
            </a:bodyPr>
            <a:p>
              <a:pPr algn="ctr">
                <a:spcBef>
                  <a:spcPts val="600"/>
                </a:spcBef>
              </a:pPr>
              <a:r>
                <a:rPr lang="zh-CN" altLang="en-US" sz="1400" b="1" dirty="0" err="1" smtClean="0">
                  <a:solidFill>
                    <a:srgbClr val="003B90"/>
                  </a:solidFill>
                  <a:latin typeface="+mj-lt"/>
                </a:rPr>
                <a:t>储能状态电流流向示意图</a:t>
              </a:r>
              <a:endParaRPr lang="zh-CN" altLang="en-US" sz="1400" b="1" dirty="0" err="1" smtClean="0">
                <a:solidFill>
                  <a:srgbClr val="003B90"/>
                </a:solidFill>
                <a:latin typeface="+mj-lt"/>
              </a:endParaRPr>
            </a:p>
          </p:txBody>
        </p:sp>
        <p:sp>
          <p:nvSpPr>
            <p:cNvPr id="21" name="文本框 20"/>
            <p:cNvSpPr txBox="1"/>
            <p:nvPr>
              <p:custDataLst>
                <p:tags r:id="rId7"/>
              </p:custDataLst>
            </p:nvPr>
          </p:nvSpPr>
          <p:spPr>
            <a:xfrm>
              <a:off x="404" y="9930"/>
              <a:ext cx="10527" cy="474"/>
            </a:xfrm>
            <a:prstGeom prst="rect">
              <a:avLst/>
            </a:prstGeom>
            <a:noFill/>
          </p:spPr>
          <p:txBody>
            <a:bodyPr wrap="square" lIns="36000" tIns="36000" rIns="36000" bIns="36000" rtlCol="0">
              <a:noAutofit/>
            </a:bodyPr>
            <a:p>
              <a:pPr algn="ctr">
                <a:spcBef>
                  <a:spcPts val="600"/>
                </a:spcBef>
              </a:pPr>
              <a:r>
                <a:rPr lang="zh-CN" altLang="en-US" sz="1400" b="1" dirty="0" err="1" smtClean="0">
                  <a:solidFill>
                    <a:srgbClr val="003B90"/>
                  </a:solidFill>
                  <a:latin typeface="+mj-lt"/>
                </a:rPr>
                <a:t>续流状态电流流向示意图</a:t>
              </a:r>
              <a:endParaRPr lang="zh-CN" altLang="en-US" sz="1400" b="1" dirty="0" err="1" smtClean="0">
                <a:solidFill>
                  <a:srgbClr val="003B90"/>
                </a:solidFill>
                <a:latin typeface="+mj-lt"/>
              </a:endParaRPr>
            </a:p>
          </p:txBody>
        </p:sp>
      </p:grpSp>
      <p:sp>
        <p:nvSpPr>
          <p:cNvPr id="2" name="文本框 1"/>
          <p:cNvSpPr txBox="1"/>
          <p:nvPr/>
        </p:nvSpPr>
        <p:spPr>
          <a:xfrm>
            <a:off x="479425" y="836930"/>
            <a:ext cx="11246485" cy="447675"/>
          </a:xfrm>
          <a:prstGeom prst="rect">
            <a:avLst/>
          </a:prstGeom>
          <a:noFill/>
        </p:spPr>
        <p:txBody>
          <a:bodyPr wrap="square" lIns="36000" tIns="36000" rIns="36000" bIns="36000" rtlCol="0">
            <a:noAutofit/>
          </a:bodyPr>
          <a:p>
            <a:pPr marL="342900" indent="-342900" algn="l">
              <a:lnSpc>
                <a:spcPct val="150000"/>
              </a:lnSpc>
              <a:spcBef>
                <a:spcPts val="600"/>
              </a:spcBef>
              <a:buFont typeface="Wingdings" panose="05000000000000000000" charset="0"/>
              <a:buChar char="p"/>
            </a:pPr>
            <a:r>
              <a:rPr lang="zh-CN" altLang="en-US" sz="1600" b="1" dirty="0" err="1" smtClean="0">
                <a:solidFill>
                  <a:srgbClr val="003B90"/>
                </a:solidFill>
                <a:latin typeface="+mj-lt"/>
                <a:sym typeface="+mn-ea"/>
              </a:rPr>
              <a:t>基础架构：三个电池包接入直流母线，两套电机</a:t>
            </a:r>
            <a:r>
              <a:rPr lang="en-US" altLang="zh-CN" sz="1600" b="1" dirty="0" err="1" smtClean="0">
                <a:solidFill>
                  <a:srgbClr val="003B90"/>
                </a:solidFill>
                <a:latin typeface="+mj-lt"/>
                <a:sym typeface="+mn-ea"/>
              </a:rPr>
              <a:t>-</a:t>
            </a:r>
            <a:r>
              <a:rPr lang="zh-CN" altLang="en-US" sz="1600" b="1" dirty="0" err="1" smtClean="0">
                <a:solidFill>
                  <a:srgbClr val="003B90"/>
                </a:solidFill>
                <a:latin typeface="+mj-lt"/>
                <a:sym typeface="+mn-ea"/>
              </a:rPr>
              <a:t>电机控制器并联接入母线，参与脉冲加热回路。</a:t>
            </a:r>
            <a:endParaRPr lang="zh-CN" altLang="en-US" sz="1600" dirty="0" err="1" smtClean="0">
              <a:solidFill>
                <a:srgbClr val="003B90"/>
              </a:solidFill>
              <a:latin typeface="+mj-lt"/>
            </a:endParaRPr>
          </a:p>
        </p:txBody>
      </p:sp>
      <p:graphicFrame>
        <p:nvGraphicFramePr>
          <p:cNvPr id="11" name="表格 10"/>
          <p:cNvGraphicFramePr/>
          <p:nvPr>
            <p:custDataLst>
              <p:tags r:id="rId8"/>
            </p:custDataLst>
          </p:nvPr>
        </p:nvGraphicFramePr>
        <p:xfrm>
          <a:off x="7823835" y="2852420"/>
          <a:ext cx="3133090" cy="2286000"/>
        </p:xfrm>
        <a:graphic>
          <a:graphicData uri="http://schemas.openxmlformats.org/drawingml/2006/table">
            <a:tbl>
              <a:tblPr firstRow="1" bandRow="1">
                <a:tableStyleId>{F5AB1C69-6EDB-4FF4-983F-18BD219EF322}</a:tableStyleId>
              </a:tblPr>
              <a:tblGrid>
                <a:gridCol w="3133090"/>
              </a:tblGrid>
              <a:tr h="254000">
                <a:tc>
                  <a:txBody>
                    <a:bodyPr/>
                    <a:p>
                      <a:pPr algn="ctr">
                        <a:lnSpc>
                          <a:spcPct val="100000"/>
                        </a:lnSpc>
                        <a:buNone/>
                      </a:pPr>
                      <a:r>
                        <a:rPr lang="zh-CN" altLang="en-US" sz="1200">
                          <a:solidFill>
                            <a:srgbClr val="152A8C"/>
                          </a:solidFill>
                          <a:latin typeface="微软雅黑" panose="020B0503020204020204" pitchFamily="34" charset="-122"/>
                          <a:ea typeface="微软雅黑" panose="020B0503020204020204" pitchFamily="34" charset="-122"/>
                          <a:cs typeface="微软雅黑" panose="020B0503020204020204" pitchFamily="34" charset="-122"/>
                          <a:sym typeface="+mn-ea"/>
                        </a:rPr>
                        <a:t>组件介绍</a:t>
                      </a:r>
                      <a:endParaRPr lang="zh-CN" altLang="en-US" sz="1200" b="1">
                        <a:solidFill>
                          <a:schemeClr val="accent1">
                            <a:lumMod val="40000"/>
                            <a:lumOff val="60000"/>
                          </a:schemeClr>
                        </a:solidFill>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BT3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：电池包</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：电池支路接入开关；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27432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S4</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S5</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：电机接入开关；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457200">
                <a:tc>
                  <a:txBody>
                    <a:bodyPr/>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Q1~Q6</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桥臂开关；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lnSpc>
                          <a:spcPct val="100000"/>
                        </a:lnSpc>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Q7~Q12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桥臂开关；</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457200">
                <a:tc>
                  <a:txBody>
                    <a:bodyPr/>
                    <a:p>
                      <a:pPr algn="just">
                        <a:lnSpc>
                          <a:spcPct val="100000"/>
                        </a:lnSpc>
                        <a:buNone/>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V1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W1</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三相定子线圈；</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lnSpc>
                          <a:spcPct val="100000"/>
                        </a:lnSpc>
                        <a:buNone/>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V2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W2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：电机</a:t>
                      </a: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三相定子线圈；</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bl>
          </a:graphicData>
        </a:graphic>
      </p:graphicFrame>
    </p:spTree>
  </p:cSld>
  <p:clrMapOvr>
    <a:masterClrMapping/>
  </p:clrMapOvr>
  <p:transition/>
</p:sld>
</file>

<file path=ppt/tags/tag1.xml><?xml version="1.0" encoding="utf-8"?>
<p:tagLst xmlns:p="http://schemas.openxmlformats.org/presentationml/2006/main">
  <p:tag name="TABLE_ENDDRAG_ORIGIN_RECT" val="246*178"/>
  <p:tag name="TABLE_ENDDRAG_RECT" val="627*101*246*178"/>
</p:tagLst>
</file>

<file path=ppt/tags/tag2.xml><?xml version="1.0" encoding="utf-8"?>
<p:tagLst xmlns:p="http://schemas.openxmlformats.org/presentationml/2006/main">
  <p:tag name="KSO_WM_DIAGRAM_VIRTUALLY_FRAME" val="{&quot;height&quot;:408.9523622047244,&quot;left&quot;:20.2,&quot;top&quot;:111.2476377952756,&quot;width&quot;:568.1}"/>
</p:tagLst>
</file>

<file path=ppt/tags/tag3.xml><?xml version="1.0" encoding="utf-8"?>
<p:tagLst xmlns:p="http://schemas.openxmlformats.org/presentationml/2006/main">
  <p:tag name="KSO_WM_DIAGRAM_VIRTUALLY_FRAME" val="{&quot;height&quot;:408.9523622047244,&quot;left&quot;:20.2,&quot;top&quot;:111.2476377952756,&quot;width&quot;:568.1}"/>
</p:tagLst>
</file>

<file path=ppt/tags/tag4.xml><?xml version="1.0" encoding="utf-8"?>
<p:tagLst xmlns:p="http://schemas.openxmlformats.org/presentationml/2006/main">
  <p:tag name="KSO_WM_DIAGRAM_VIRTUALLY_FRAME" val="{&quot;height&quot;:408.9523622047244,&quot;left&quot;:20.2,&quot;top&quot;:111.2476377952756,&quot;width&quot;:568.1}"/>
</p:tagLst>
</file>

<file path=ppt/tags/tag5.xml><?xml version="1.0" encoding="utf-8"?>
<p:tagLst xmlns:p="http://schemas.openxmlformats.org/presentationml/2006/main">
  <p:tag name="KSO_WM_DIAGRAM_VIRTUALLY_FRAME" val="{&quot;height&quot;:408.9523622047244,&quot;left&quot;:20.2,&quot;top&quot;:111.2476377952756,&quot;width&quot;:568.1}"/>
</p:tagLst>
</file>

<file path=ppt/tags/tag6.xml><?xml version="1.0" encoding="utf-8"?>
<p:tagLst xmlns:p="http://schemas.openxmlformats.org/presentationml/2006/main">
  <p:tag name="KSO_WM_DIAGRAM_VIRTUALLY_FRAME" val="{&quot;height&quot;:408.9523622047244,&quot;left&quot;:20.2,&quot;top&quot;:111.2476377952756,&quot;width&quot;:568.1}"/>
</p:tagLst>
</file>

<file path=ppt/tags/tag7.xml><?xml version="1.0" encoding="utf-8"?>
<p:tagLst xmlns:p="http://schemas.openxmlformats.org/presentationml/2006/main">
  <p:tag name="TABLE_ENDDRAG_ORIGIN_RECT" val="246*178"/>
  <p:tag name="TABLE_ENDDRAG_RECT" val="627*101*246*178"/>
</p:tagLst>
</file>

<file path=ppt/theme/theme1.xml><?xml version="1.0" encoding="utf-8"?>
<a:theme xmlns:a="http://schemas.openxmlformats.org/drawingml/2006/main" name="Office 主题​​">
  <a:themeElements>
    <a:clrScheme name="VI标准">
      <a:dk1>
        <a:srgbClr val="000000"/>
      </a:dk1>
      <a:lt1>
        <a:sysClr val="window" lastClr="FFFFFF"/>
      </a:lt1>
      <a:dk2>
        <a:srgbClr val="000000"/>
      </a:dk2>
      <a:lt2>
        <a:srgbClr val="FFFFFF"/>
      </a:lt2>
      <a:accent1>
        <a:srgbClr val="152A8C"/>
      </a:accent1>
      <a:accent2>
        <a:srgbClr val="2796D4"/>
      </a:accent2>
      <a:accent3>
        <a:srgbClr val="EDEDED"/>
      </a:accent3>
      <a:accent4>
        <a:srgbClr val="B10011"/>
      </a:accent4>
      <a:accent5>
        <a:srgbClr val="FFFFFF"/>
      </a:accent5>
      <a:accent6>
        <a:srgbClr val="FFFFFF"/>
      </a:accent6>
      <a:hlink>
        <a:srgbClr val="FFFFFF"/>
      </a:hlink>
      <a:folHlink>
        <a:srgbClr val="FFFFFF"/>
      </a:folHlink>
    </a:clrScheme>
    <a:fontScheme name="默认">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36000" tIns="36000" rIns="36000" bIns="36000" rtlCol="0">
        <a:noAutofit/>
      </a:bodyPr>
      <a:lstStyle>
        <a:defPPr algn="l">
          <a:spcBef>
            <a:spcPts val="600"/>
          </a:spcBef>
          <a:defRPr dirty="0" err="1" smtClean="0">
            <a:solidFill>
              <a:srgbClr val="003B90"/>
            </a:solidFill>
            <a:latin typeface="+mj-l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991</Words>
  <Application>WPS 演示</Application>
  <PresentationFormat>宽屏</PresentationFormat>
  <Paragraphs>85</Paragraphs>
  <Slides>4</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宋体</vt:lpstr>
      <vt:lpstr>Wingdings</vt:lpstr>
      <vt:lpstr>微软雅黑</vt:lpstr>
      <vt:lpstr>Wingdings</vt:lpstr>
      <vt:lpstr>Arial Unicode MS</vt:lpstr>
      <vt:lpstr>等线</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一汽解放PPT模板</dc:title>
  <dc:creator>一汽解放</dc:creator>
  <cp:lastModifiedBy>WPS_1632448344</cp:lastModifiedBy>
  <cp:revision>1032</cp:revision>
  <cp:lastPrinted>2023-05-19T05:02:00Z</cp:lastPrinted>
  <dcterms:created xsi:type="dcterms:W3CDTF">2015-12-28T03:19:00Z</dcterms:created>
  <dcterms:modified xsi:type="dcterms:W3CDTF">2026-06-04T02:14:10Z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3D60615D945741358A6B83A790D72733_13</vt:lpwstr>
  </property>
  <property fmtid="{D5CDD505-2E9C-101B-9397-08002B2CF9AE}" pid="3" name="KSOProductBuildVer">
    <vt:lpwstr>2052-12.1.0.26375</vt:lpwstr>
  </property>
</Properties>
</file>